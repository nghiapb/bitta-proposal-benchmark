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51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confidence (reference)</c:v>
                </c:pt>
              </c:strCache>
            </c:strRef>
          </c:tx>
          <c:spPr>
            <a:ln w="15875">
              <a:solidFill>
                <a:srgbClr val="8F9CA8"/>
              </a:solidFill>
            </a:ln>
          </c:spPr>
          <c:marker>
            <c:spPr>
              <a:solidFill>
                <a:srgbClr val="8F9CA8"/>
              </a:solidFill>
              <a:ln>
                <a:solidFill>
                  <a:srgbClr val="8F9CA8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43-484A-B0F8-28B5D6C50D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Calibrated p(correct)</c:v>
                </c:pt>
              </c:strCache>
            </c:strRef>
          </c:tx>
          <c:spPr>
            <a:ln w="31750">
              <a:solidFill>
                <a:srgbClr val="0E8F82"/>
              </a:solidFill>
            </a:ln>
          </c:spPr>
          <c:marker>
            <c:spPr>
              <a:solidFill>
                <a:srgbClr val="0E8F82"/>
              </a:solidFill>
              <a:ln>
                <a:solidFill>
                  <a:srgbClr val="0E8F82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  <c:pt idx="5">
                  <c:v>17</c:v>
                </c:pt>
                <c:pt idx="6">
                  <c:v>45</c:v>
                </c:pt>
                <c:pt idx="7">
                  <c:v>86</c:v>
                </c:pt>
                <c:pt idx="8">
                  <c:v>97</c:v>
                </c:pt>
                <c:pt idx="9">
                  <c:v>100</c:v>
                </c:pt>
                <c:pt idx="10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343-484A-B0F8-28B5D6C50D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6E0E8"/>
            </a:solidFill>
          </a:ln>
        </c:spPr>
        <c:txPr>
          <a:bodyPr/>
          <a:lstStyle/>
          <a:p>
            <a:pPr>
              <a:defRPr sz="900"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D6E0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6E0E8"/>
            </a:solidFill>
          </a:ln>
        </c:spPr>
        <c:txPr>
          <a:bodyPr/>
          <a:lstStyle/>
          <a:p>
            <a:pPr>
              <a:defRPr sz="900"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latin typeface="Segoe U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0E8F82"/>
                </a:solidFill>
                <a:latin typeface="Consolas"/>
              </a:rPr>
              <a:t>GRADUATION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7899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16202B"/>
                </a:solidFill>
                <a:latin typeface="Segoe UI"/>
              </a:rPr>
              <a:t>Improving Sample Selection for</a:t>
            </a:r>
          </a:p>
          <a:p>
            <a:r>
              <a:rPr sz="4000" b="1" i="0">
                <a:solidFill>
                  <a:srgbClr val="0E8F82"/>
                </a:solidFill>
                <a:latin typeface="Segoe UI"/>
              </a:rPr>
              <a:t>Test-Time Adaptation with Binary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0" i="0">
                <a:solidFill>
                  <a:srgbClr val="5B6B7C"/>
                </a:solidFill>
                <a:latin typeface="Segoe UI"/>
              </a:rPr>
              <a:t>A calibration-based query strategy for query-efficient binary feedback in BiTTA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5074920"/>
            <a:ext cx="10820095" cy="0"/>
          </a:xfrm>
          <a:prstGeom prst="line">
            <a:avLst/>
          </a:prstGeom>
          <a:ln w="1270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530352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80">
                <a:solidFill>
                  <a:srgbClr val="5B6B7C"/>
                </a:solidFill>
                <a:latin typeface="Consolas"/>
              </a:rPr>
              <a:t>PAPER</a:t>
            </a:r>
          </a:p>
          <a:p>
            <a:pPr>
              <a:spcBef>
                <a:spcPts val="400"/>
              </a:spcBef>
            </a:pPr>
            <a:r>
              <a:rPr sz="1350" b="1" i="0">
                <a:solidFill>
                  <a:srgbClr val="16202B"/>
                </a:solidFill>
                <a:latin typeface="Segoe UI"/>
              </a:rPr>
              <a:t>BiTTA — Lee et al., ICML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530352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80">
                <a:solidFill>
                  <a:srgbClr val="5B6B7C"/>
                </a:solidFill>
                <a:latin typeface="Consolas"/>
              </a:rPr>
              <a:t>FEEDBACK BUDGET</a:t>
            </a:r>
          </a:p>
          <a:p>
            <a:pPr>
              <a:spcBef>
                <a:spcPts val="400"/>
              </a:spcBef>
            </a:pPr>
            <a:r>
              <a:rPr sz="1350" b="1" i="0">
                <a:solidFill>
                  <a:srgbClr val="16202B"/>
                </a:solidFill>
                <a:latin typeface="Segoe UI"/>
              </a:rPr>
              <a:t>3 / 64 images per batch (&lt;5%)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30352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80">
                <a:solidFill>
                  <a:srgbClr val="5B6B7C"/>
                </a:solidFill>
                <a:latin typeface="Consolas"/>
              </a:rPr>
              <a:t>KEY IMPROVEMENT</a:t>
            </a:r>
          </a:p>
          <a:p>
            <a:pPr>
              <a:spcBef>
                <a:spcPts val="400"/>
              </a:spcBef>
            </a:pPr>
            <a:r>
              <a:rPr sz="1350" b="1" i="0">
                <a:solidFill>
                  <a:srgbClr val="16202B"/>
                </a:solidFill>
                <a:latin typeface="Segoe UI"/>
              </a:rPr>
              <a:t>Which samples to ask for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0" spc="80">
                <a:solidFill>
                  <a:srgbClr val="5B6B7C"/>
                </a:solidFill>
                <a:latin typeface="Consolas"/>
              </a:rPr>
              <a:t>PHẠM BÌNH NGHĨA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0E8F82"/>
                </a:solidFill>
                <a:latin typeface="Consolas"/>
              </a:rPr>
              <a:t>01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6202B"/>
                </a:solidFill>
                <a:latin typeface="Segoe UI"/>
              </a:rPr>
              <a:t>The problem TTA — and BiTTA — set out to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51560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450" b="0" i="0">
                <a:solidFill>
                  <a:srgbClr val="16202B"/>
                </a:solidFill>
                <a:latin typeface="Segoe UI"/>
              </a:rPr>
              <a:t>In real-world deployment, a model constantly meets data unlike what it saw in training: blur, noise, style shift, weather changes.</a:t>
            </a:r>
          </a:p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450" b="0" i="0">
                <a:solidFill>
                  <a:srgbClr val="16202B"/>
                </a:solidFill>
                <a:latin typeface="Segoe UI"/>
              </a:rPr>
              <a:t>Left to adapt entirely on its own, a model can fall into a feedback loop of confidently reinforcing its own mistakes.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1480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16202B"/>
                </a:solidFill>
                <a:latin typeface="Segoe UI"/>
              </a:rPr>
              <a:t>UNSUPERVISED</a:t>
            </a:r>
          </a:p>
          <a:p>
            <a:pPr algn="ctr"/>
            <a:r>
              <a:rPr sz="1300" b="0" i="0">
                <a:solidFill>
                  <a:srgbClr val="16202B"/>
                </a:solidFill>
                <a:latin typeface="Segoe UI"/>
              </a:rPr>
              <a:t>Standard TTA — 0%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11480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BEBD2"/>
          </a:solidFill>
          <a:ln w="25400">
            <a:solidFill>
              <a:srgbClr val="A56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A5680B"/>
                </a:solidFill>
                <a:latin typeface="Segoe UI"/>
              </a:rPr>
              <a:t>BiTTA</a:t>
            </a:r>
          </a:p>
          <a:p>
            <a:pPr algn="ctr"/>
            <a:r>
              <a:rPr sz="1300" b="0" i="0">
                <a:solidFill>
                  <a:srgbClr val="A5680B"/>
                </a:solidFill>
                <a:latin typeface="Segoe UI"/>
              </a:rPr>
              <a:t>Binary feedback, &lt;5%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411480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16202B"/>
                </a:solidFill>
                <a:latin typeface="Segoe UI"/>
              </a:rPr>
              <a:t>FULLY SUPERVISED</a:t>
            </a:r>
          </a:p>
          <a:p>
            <a:pPr algn="ctr"/>
            <a:r>
              <a:rPr sz="1300" b="0" i="0">
                <a:solidFill>
                  <a:srgbClr val="16202B"/>
                </a:solidFill>
                <a:latin typeface="Segoe UI"/>
              </a:rPr>
              <a:t>100% labeled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60">
                <a:solidFill>
                  <a:srgbClr val="5B6B7C"/>
                </a:solidFill>
                <a:latin typeface="Consolas"/>
              </a:rPr>
              <a:t>02 /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0E8F82"/>
                </a:solidFill>
                <a:latin typeface="Consolas"/>
              </a:rPr>
              <a:t>02 · ORIGINAL BITTA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16202B"/>
                </a:solidFill>
                <a:latin typeface="Segoe UI"/>
              </a:rPr>
              <a:t>Two adaptation paths driven by one Monte Carlo estimate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2356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5B6B7C"/>
                </a:solidFill>
                <a:latin typeface="Segoe UI"/>
              </a:rPr>
              <a:t>Top — Binary Feedback-guided Adaptation (BFA): query the human on the most uncertain images. Bottom — Agreement-based self-Adaptation (ABA): self-train on remaining images where the model already agrees with itself, no oracle needed.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60">
                <a:solidFill>
                  <a:srgbClr val="5B6B7C"/>
                </a:solidFill>
                <a:latin typeface="Consolas"/>
              </a:rPr>
              <a:t>03 / 10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3154680"/>
            <a:ext cx="777240" cy="7772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20040" y="3986784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Test Batch</a:t>
            </a:r>
          </a:p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(64 images)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554480" y="3630168"/>
            <a:ext cx="310896" cy="137160"/>
          </a:xfrm>
          <a:prstGeom prst="rightArrow">
            <a:avLst>
              <a:gd name="adj1" fmla="val 55000"/>
              <a:gd name="adj2" fmla="val 62000"/>
            </a:avLst>
          </a:prstGeom>
          <a:solidFill>
            <a:srgbClr val="8F9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3154680"/>
            <a:ext cx="777240" cy="777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965960" y="3986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MC-Dropout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3154680" y="2331720"/>
            <a:ext cx="731520" cy="1371600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54680" y="3703320"/>
            <a:ext cx="731520" cy="1371600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bars_low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1783080"/>
            <a:ext cx="777240" cy="7772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657600" y="26151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Lowest Confidence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919472" y="2258568"/>
            <a:ext cx="310896" cy="137160"/>
          </a:xfrm>
          <a:prstGeom prst="rightArrow">
            <a:avLst>
              <a:gd name="adj1" fmla="val 55000"/>
              <a:gd name="adj2" fmla="val 62000"/>
            </a:avLst>
          </a:prstGeom>
          <a:solidFill>
            <a:srgbClr val="8F9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40" y="1783080"/>
            <a:ext cx="777240" cy="7772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49240" y="26151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Query Human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6537960" y="2039112"/>
            <a:ext cx="777240" cy="201168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537960" y="2423160"/>
            <a:ext cx="777240" cy="201168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badge_corr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780" y="1805940"/>
            <a:ext cx="502920" cy="5029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223760" y="233172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B6B7C"/>
                </a:solidFill>
                <a:latin typeface="Segoe UI"/>
              </a:rPr>
              <a:t>M_C</a:t>
            </a:r>
          </a:p>
        </p:txBody>
      </p:sp>
      <p:pic>
        <p:nvPicPr>
          <p:cNvPr id="44" name="Picture 43" descr="badge_incorre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780" y="2372868"/>
            <a:ext cx="502920" cy="5029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23760" y="2898648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B6B7C"/>
                </a:solidFill>
                <a:latin typeface="Segoe UI"/>
              </a:rPr>
              <a:t>M_I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09560" y="2057400"/>
            <a:ext cx="1097280" cy="1508760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909560" y="2624328"/>
            <a:ext cx="1097280" cy="1216152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agre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0" y="4526280"/>
            <a:ext cx="777240" cy="77724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657600" y="53583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Agreement Check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919472" y="5001768"/>
            <a:ext cx="310896" cy="137160"/>
          </a:xfrm>
          <a:prstGeom prst="rightArrow">
            <a:avLst>
              <a:gd name="adj1" fmla="val 55000"/>
              <a:gd name="adj2" fmla="val 62000"/>
            </a:avLst>
          </a:prstGeom>
          <a:solidFill>
            <a:srgbClr val="8F9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confid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2140" y="4526280"/>
            <a:ext cx="777240" cy="77724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349240" y="53583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Confident Set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6537960" y="4023360"/>
            <a:ext cx="2468880" cy="1051560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upda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5420" y="3154680"/>
            <a:ext cx="777240" cy="77724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732520" y="3986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Update 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0E8F82"/>
                </a:solidFill>
                <a:latin typeface="Consolas"/>
              </a:rPr>
              <a:t>03 · WHERE IT FALLS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16202B"/>
                </a:solidFill>
                <a:latin typeface="Segoe UI"/>
              </a:rPr>
              <a:t>Asking about the "least confident" sample isn't always the "most valuable"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512064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50" b="1" i="0">
                <a:solidFill>
                  <a:srgbClr val="16202B"/>
                </a:solidFill>
                <a:latin typeface="Segoe UI"/>
              </a:rPr>
              <a:t>Image A</a:t>
            </a:r>
          </a:p>
          <a:p>
            <a:pPr algn="l"/>
            <a:r>
              <a:rPr sz="1150" b="0" i="0">
                <a:solidFill>
                  <a:srgbClr val="5B6B7C"/>
                </a:solidFill>
                <a:latin typeface="Consolas"/>
              </a:rPr>
              <a:t>Confidence: 31%</a:t>
            </a:r>
          </a:p>
          <a:p>
            <a:pPr algn="l"/>
            <a:r>
              <a:rPr sz="1250" b="0" i="0">
                <a:solidFill>
                  <a:srgbClr val="16202B"/>
                </a:solidFill>
                <a:latin typeface="Segoe UI"/>
              </a:rPr>
              <a:t>This image was almost ALWAYS wrong in the past.</a:t>
            </a:r>
          </a:p>
          <a:p>
            <a:pPr algn="l"/>
            <a:r>
              <a:rPr sz="1250" b="1" i="0">
                <a:solidFill>
                  <a:srgbClr val="16202B"/>
                </a:solidFill>
                <a:latin typeface="Segoe UI"/>
              </a:rPr>
              <a:t>→ Asking barely tells us anything new — wastes a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2148840"/>
            <a:ext cx="5120640" cy="1737360"/>
          </a:xfrm>
          <a:prstGeom prst="roundRect">
            <a:avLst>
              <a:gd name="adj" fmla="val 10000"/>
            </a:avLst>
          </a:prstGeom>
          <a:solidFill>
            <a:srgbClr val="FBEBD2"/>
          </a:solidFill>
          <a:ln w="25400">
            <a:solidFill>
              <a:srgbClr val="A56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50" b="1" i="0">
                <a:solidFill>
                  <a:srgbClr val="16202B"/>
                </a:solidFill>
                <a:latin typeface="Segoe UI"/>
              </a:rPr>
              <a:t>Image B</a:t>
            </a:r>
          </a:p>
          <a:p>
            <a:pPr algn="l"/>
            <a:r>
              <a:rPr sz="1150" b="0" i="0">
                <a:solidFill>
                  <a:srgbClr val="5B6B7C"/>
                </a:solidFill>
                <a:latin typeface="Consolas"/>
              </a:rPr>
              <a:t>Confidence: 31%</a:t>
            </a:r>
          </a:p>
          <a:p>
            <a:pPr algn="l"/>
            <a:r>
              <a:rPr sz="1250" b="0" i="0">
                <a:solidFill>
                  <a:srgbClr val="16202B"/>
                </a:solidFill>
                <a:latin typeface="Segoe UI"/>
              </a:rPr>
              <a:t>This image was correct/incorrect 50-50 in the past.</a:t>
            </a:r>
          </a:p>
          <a:p>
            <a:pPr algn="l"/>
            <a:r>
              <a:rPr sz="1250" b="1" i="0">
                <a:solidFill>
                  <a:srgbClr val="16202B"/>
                </a:solidFill>
                <a:latin typeface="Segoe UI"/>
              </a:rPr>
              <a:t>→ This is the sample worth asking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519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16202B"/>
                </a:solidFill>
                <a:latin typeface="Segoe UI"/>
              </a:rPr>
              <a:t>The original rule only looks at the raw number "31%" — it cannot tell A and B apart, because it never checks that number against what actually happened in past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60">
                <a:solidFill>
                  <a:srgbClr val="5B6B7C"/>
                </a:solidFill>
                <a:latin typeface="Consolas"/>
              </a:rPr>
              <a:t>04 / 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0E8F82"/>
                </a:solidFill>
                <a:latin typeface="Consolas"/>
              </a:rPr>
              <a:t>04 · PROPOSED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16202B"/>
                </a:solidFill>
                <a:latin typeface="Segoe UI"/>
              </a:rPr>
              <a:t>Calibrate confidence against real feedback history, instead of trusting it at face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67665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450" b="0" i="0">
                <a:solidFill>
                  <a:srgbClr val="16202B"/>
                </a:solidFill>
                <a:latin typeface="Segoe UI"/>
              </a:rPr>
              <a:t>Every time feedback comes back correct/incorrect, record the pair: confidence score – correct/incorrect.</a:t>
            </a:r>
          </a:p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450" b="0" i="0">
                <a:solidFill>
                  <a:srgbClr val="16202B"/>
                </a:solidFill>
                <a:latin typeface="Segoe UI"/>
              </a:rPr>
              <a:t>After enough feedback, fit a "calibration curve": raw confidence → true probability of being correct.</a:t>
            </a:r>
          </a:p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450" b="0" i="0">
                <a:solidFill>
                  <a:srgbClr val="16202B"/>
                </a:solidFill>
                <a:latin typeface="Segoe UI"/>
              </a:rPr>
              <a:t>This curve keeps updating — the more feedback collected, the more accurate the calibration becomes.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635240" y="2148840"/>
          <a:ext cx="38862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53212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5B6B7C"/>
                </a:solidFill>
                <a:latin typeface="Segoe UI"/>
              </a:rPr>
              <a:t>Example: a raw confidence of 50% actually corresponds to only ~17% true correctness probability — showing the model's raw confidence is inflated under distribution shift.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60">
                <a:solidFill>
                  <a:srgbClr val="5B6B7C"/>
                </a:solidFill>
                <a:latin typeface="Consolas"/>
              </a:rPr>
              <a:t>05 / 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0E8F82"/>
                </a:solidFill>
                <a:latin typeface="Consolas"/>
              </a:rPr>
              <a:t>MATHEMATICAL FOUNDATION ·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16202B"/>
                </a:solidFill>
                <a:latin typeface="Segoe UI"/>
              </a:rPr>
              <a:t>Turning raw confidence into a real probability of being correct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8064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Aft>
                <a:spcPts val="600"/>
              </a:spcAft>
            </a:pPr>
            <a:r>
              <a:rPr sz="1050" b="0" i="1">
                <a:solidFill>
                  <a:srgbClr val="5B6B7C"/>
                </a:solidFill>
                <a:latin typeface="Consolas"/>
              </a:rPr>
              <a:t>// map raw confidence C(x) ∈ (0,1) onto an unbounded real value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6202B"/>
                </a:solidFill>
                <a:latin typeface="Consolas"/>
              </a:rPr>
              <a:t>z = logit(C(x)) = ln( C(x) / (1 − C(x)) )</a:t>
            </a:r>
          </a:p>
          <a:p>
            <a:pPr>
              <a:spcAft>
                <a:spcPts val="600"/>
              </a:spcAft>
            </a:pPr>
            <a:r>
              <a:rPr sz="1050" b="0" i="1">
                <a:solidFill>
                  <a:srgbClr val="5B6B7C"/>
                </a:solidFill>
                <a:latin typeface="Consolas"/>
              </a:rPr>
              <a:t>// linear rescale, then squash back into (0,1)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6202B"/>
                </a:solidFill>
                <a:latin typeface="Consolas"/>
              </a:rPr>
              <a:t>p̂ = sigmoid( a·z + b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86200"/>
            <a:ext cx="58064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300" b="0" i="0">
                <a:solidFill>
                  <a:srgbClr val="16202B"/>
                </a:solidFill>
                <a:latin typeface="Segoe UI"/>
              </a:rPr>
              <a:t>a (slope): controls how strong the correction is — a large a means a small change in raw confidence swings the calibrated probability sharply.</a:t>
            </a:r>
          </a:p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300" b="0" i="0">
                <a:solidFill>
                  <a:srgbClr val="16202B"/>
                </a:solidFill>
                <a:latin typeface="Segoe UI"/>
              </a:rPr>
              <a:t>b (bias): shifts the whole curve up or down — a negative b means raw confidence is systematically over-optimistic.</a:t>
            </a:r>
          </a:p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300" b="0" i="0">
                <a:solidFill>
                  <a:srgbClr val="16202B"/>
                </a:solidFill>
                <a:latin typeface="Segoe UI"/>
              </a:rPr>
              <a:t>Cold start: until enough data exists to estimate a, b reliably, selection falls back to the original paper's rule.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965960"/>
            <a:ext cx="4754880" cy="3977639"/>
          </a:xfrm>
          <a:prstGeom prst="roundRect">
            <a:avLst>
              <a:gd name="adj" fmla="val 10000"/>
            </a:avLst>
          </a:prstGeom>
          <a:solidFill>
            <a:srgbClr val="DCF3EF"/>
          </a:solidFill>
          <a:ln w="12700">
            <a:solidFill>
              <a:srgbClr val="DCF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bIns="182880" rtlCol="0" anchor="ctr"/>
          <a:lstStyle/>
          <a:p>
            <a:pPr algn="ctr"/>
            <a:r>
              <a:rPr sz="1300" b="1" i="0">
                <a:solidFill>
                  <a:srgbClr val="0E8F82"/>
                </a:solidFill>
                <a:latin typeface="Segoe UI"/>
              </a:rPr>
              <a:t>Worked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395728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>
                <a:solidFill>
                  <a:srgbClr val="16202B"/>
                </a:solidFill>
                <a:latin typeface="Segoe UI"/>
              </a:rPr>
              <a:t>With a ≈ 4.0, b ≈ −1.6 learned from past batches: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95160" y="2999232"/>
          <a:ext cx="4206240" cy="1787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B6B7C"/>
                          </a:solidFill>
                          <a:latin typeface="Consolas"/>
                        </a:rPr>
                        <a:t>Raw confidence C(x)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5B6B7C"/>
                          </a:solidFill>
                          <a:latin typeface="Consolas"/>
                        </a:rPr>
                        <a:t>Calibrated p̂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6202B"/>
                          </a:solidFill>
                          <a:latin typeface="Consolas"/>
                        </a:rPr>
                        <a:t>10%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A5680B"/>
                          </a:solidFill>
                          <a:latin typeface="Consolas"/>
                        </a:rPr>
                        <a:t>≈ 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6202B"/>
                          </a:solidFill>
                          <a:latin typeface="Consolas"/>
                        </a:rPr>
                        <a:t>30%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A5680B"/>
                          </a:solidFill>
                          <a:latin typeface="Consolas"/>
                        </a:rPr>
                        <a:t>≈ 1%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6202B"/>
                          </a:solidFill>
                          <a:latin typeface="Consolas"/>
                        </a:rPr>
                        <a:t>50%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A5680B"/>
                          </a:solidFill>
                          <a:latin typeface="Consolas"/>
                        </a:rPr>
                        <a:t>≈ 17%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6202B"/>
                          </a:solidFill>
                          <a:latin typeface="Consolas"/>
                        </a:rPr>
                        <a:t>70%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A5680B"/>
                          </a:solidFill>
                          <a:latin typeface="Consolas"/>
                        </a:rPr>
                        <a:t>≈ 86%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6202B"/>
                          </a:solidFill>
                          <a:latin typeface="Consolas"/>
                        </a:rPr>
                        <a:t>90%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A5680B"/>
                          </a:solidFill>
                          <a:latin typeface="Consolas"/>
                        </a:rPr>
                        <a:t>≈ 100%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95160" y="50749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16202B"/>
                </a:solidFill>
                <a:latin typeface="Segoe UI"/>
              </a:rPr>
              <a:t>→ A raw confidence of 50% maps to only 17% true correctness — raw confidence alone cannot measure uncertainty.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60">
                <a:solidFill>
                  <a:srgbClr val="5B6B7C"/>
                </a:solidFill>
                <a:latin typeface="Consolas"/>
              </a:rPr>
              <a:t>06 / 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0E8F82"/>
                </a:solidFill>
                <a:latin typeface="Consolas"/>
              </a:rPr>
              <a:t>MATHEMATICAL FOUNDATION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16202B"/>
                </a:solidFill>
                <a:latin typeface="Segoe UI"/>
              </a:rPr>
              <a:t>Binary entropy — measuring the true information value of one yes/no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0607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Ins="320040" bIns="137160" rtlCol="0" anchor="ctr"/>
          <a:lstStyle/>
          <a:p>
            <a:pPr algn="ctr"/>
            <a:r>
              <a:rPr sz="1800" b="0" i="0">
                <a:solidFill>
                  <a:srgbClr val="16202B"/>
                </a:solidFill>
                <a:latin typeface="Consolas"/>
              </a:rPr>
              <a:t>h_b(p̂) = −p̂·log(p̂) − (1−p̂)·log(1−p̂)</a:t>
            </a:r>
          </a:p>
          <a:p>
            <a:pPr>
              <a:spcBef>
                <a:spcPts val="600"/>
              </a:spcBef>
            </a:pPr>
            <a:r>
              <a:rPr sz="1100" b="0" i="1">
                <a:solidFill>
                  <a:srgbClr val="5B6B7C"/>
                </a:solidFill>
                <a:latin typeface="Consolas"/>
              </a:rPr>
              <a:t>// binary entropy — reaches its maximum exactly at p̂ = 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1033272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400" b="0" i="0">
                <a:solidFill>
                  <a:srgbClr val="16202B"/>
                </a:solidFill>
                <a:latin typeface="Segoe UI"/>
              </a:rPr>
              <a:t>This is the standard information-theory formula for measuring the uncertainty of a two-outcome event.</a:t>
            </a:r>
          </a:p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400" b="0" i="0">
                <a:solidFill>
                  <a:srgbClr val="16202B"/>
                </a:solidFill>
                <a:latin typeface="Segoe UI"/>
              </a:rPr>
              <a:t>By the entropy grouping rule: H(y|x) = h_b(p̂) + (1−p̂)·H(the rest) — asking one yes/no question reduces expected uncertainty by exactly h_b(p̂).</a:t>
            </a:r>
          </a:p>
          <a:p>
            <a:pPr>
              <a:spcAft>
                <a:spcPts val="1584"/>
              </a:spcAft>
            </a:pPr>
            <a:r>
              <a:rPr sz="700" b="0" i="0">
                <a:solidFill>
                  <a:srgbClr val="0E8F82"/>
                </a:solidFill>
                <a:latin typeface="Segoe UI"/>
              </a:rPr>
              <a:t>⬤  </a:t>
            </a:r>
            <a:r>
              <a:rPr sz="1400" b="0" i="0">
                <a:solidFill>
                  <a:srgbClr val="16202B"/>
                </a:solidFill>
                <a:latin typeface="Segoe UI"/>
              </a:rPr>
              <a:t>This is the "expected information gain" of one feedback query — maximized precisely when p̂ = 0.5, i.e. when the answer is genuinely unknown.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3212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5B6B7C"/>
                </a:solidFill>
                <a:latin typeface="Segoe UI"/>
              </a:rPr>
              <a:t>The peak of the curve (p̂ = 0.5) is exactly where the true answer is still unknown — precisely where the 3 questions should be aimed.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60">
                <a:solidFill>
                  <a:srgbClr val="5B6B7C"/>
                </a:solidFill>
                <a:latin typeface="Consolas"/>
              </a:rPr>
              <a:t>07 /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0E8F82"/>
                </a:solidFill>
                <a:latin typeface="Consolas"/>
              </a:rPr>
              <a:t>05 · UPDATED BITTA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16202B"/>
                </a:solidFill>
                <a:latin typeface="Segoe UI"/>
              </a:rPr>
              <a:t>Only one step changes — everything else stays exactly the same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577840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8F9C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5504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i="0">
                <a:solidFill>
                  <a:srgbClr val="5B6B7C"/>
                </a:solidFill>
                <a:latin typeface="Segoe UI"/>
              </a:rPr>
              <a:t>UNCHANGED — identical to the original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5577840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FBEBD2"/>
          </a:solidFill>
          <a:ln w="25400">
            <a:solidFill>
              <a:srgbClr val="A56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0" y="55504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A5680B"/>
                </a:solidFill>
                <a:latin typeface="Segoe UI"/>
              </a:rPr>
              <a:t>PROPOSED CHANGE — calibrated sample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60">
                <a:solidFill>
                  <a:srgbClr val="5B6B7C"/>
                </a:solidFill>
                <a:latin typeface="Consolas"/>
              </a:rPr>
              <a:t>08 / 10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3154680"/>
            <a:ext cx="777240" cy="7772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20040" y="3986784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Test Batch</a:t>
            </a:r>
          </a:p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(64 images)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554480" y="3630168"/>
            <a:ext cx="310896" cy="137160"/>
          </a:xfrm>
          <a:prstGeom prst="rightArrow">
            <a:avLst>
              <a:gd name="adj1" fmla="val 55000"/>
              <a:gd name="adj2" fmla="val 62000"/>
            </a:avLst>
          </a:prstGeom>
          <a:solidFill>
            <a:srgbClr val="8F9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3154680"/>
            <a:ext cx="777240" cy="7772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965960" y="3986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MC-Dropout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3154680" y="2331720"/>
            <a:ext cx="731520" cy="1371600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154680" y="3703320"/>
            <a:ext cx="731520" cy="1371600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909060" y="169164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FBEBD2"/>
          </a:solidFill>
          <a:ln w="19050">
            <a:solidFill>
              <a:srgbClr val="A56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bars_calibr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1783080"/>
            <a:ext cx="777240" cy="7772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57600" y="26151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A5680B"/>
                </a:solidFill>
                <a:latin typeface="Segoe UI"/>
              </a:rPr>
              <a:t>Calibrated Pick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322783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A5680B"/>
                </a:solidFill>
                <a:latin typeface="Segoe UI"/>
              </a:rPr>
              <a:t>PROPOSED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919472" y="2258568"/>
            <a:ext cx="310896" cy="137160"/>
          </a:xfrm>
          <a:prstGeom prst="rightArrow">
            <a:avLst>
              <a:gd name="adj1" fmla="val 55000"/>
              <a:gd name="adj2" fmla="val 62000"/>
            </a:avLst>
          </a:prstGeom>
          <a:solidFill>
            <a:srgbClr val="8F9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40" y="1783080"/>
            <a:ext cx="777240" cy="77724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349240" y="26151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Query Human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6537960" y="2039112"/>
            <a:ext cx="777240" cy="201168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37960" y="2423160"/>
            <a:ext cx="777240" cy="201168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badge_corr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780" y="1805940"/>
            <a:ext cx="502920" cy="5029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223760" y="233172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B6B7C"/>
                </a:solidFill>
                <a:latin typeface="Segoe UI"/>
              </a:rPr>
              <a:t>M_C</a:t>
            </a:r>
          </a:p>
        </p:txBody>
      </p:sp>
      <p:pic>
        <p:nvPicPr>
          <p:cNvPr id="50" name="Picture 49" descr="badge_incorre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780" y="2372868"/>
            <a:ext cx="502920" cy="5029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223760" y="2898648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B6B7C"/>
                </a:solidFill>
                <a:latin typeface="Segoe UI"/>
              </a:rPr>
              <a:t>M_I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909560" y="2057400"/>
            <a:ext cx="1097280" cy="1508760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909560" y="2624328"/>
            <a:ext cx="1097280" cy="1216152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agre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0" y="4526280"/>
            <a:ext cx="777240" cy="77724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657600" y="53583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Agreement Check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4919472" y="5001768"/>
            <a:ext cx="310896" cy="137160"/>
          </a:xfrm>
          <a:prstGeom prst="rightArrow">
            <a:avLst>
              <a:gd name="adj1" fmla="val 55000"/>
              <a:gd name="adj2" fmla="val 62000"/>
            </a:avLst>
          </a:prstGeom>
          <a:solidFill>
            <a:srgbClr val="8F9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confid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2140" y="4526280"/>
            <a:ext cx="777240" cy="77724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349240" y="53583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Confident Set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6537960" y="4023360"/>
            <a:ext cx="2468880" cy="1051560"/>
          </a:xfrm>
          <a:prstGeom prst="line">
            <a:avLst/>
          </a:prstGeom>
          <a:ln w="12700">
            <a:solidFill>
              <a:srgbClr val="8F9C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upda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5420" y="3154680"/>
            <a:ext cx="777240" cy="77724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732520" y="398678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5B6B7C"/>
                </a:solidFill>
                <a:latin typeface="Segoe UI"/>
              </a:rPr>
              <a:t>Update 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0E8F82"/>
                </a:solidFill>
                <a:latin typeface="Consolas"/>
              </a:rPr>
              <a:t>06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6202B"/>
                </a:solidFill>
                <a:latin typeface="Segoe UI"/>
              </a:rPr>
              <a:t>Same batch, two different picks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148840"/>
          <a:ext cx="8961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IMAGE</a:t>
                      </a:r>
                    </a:p>
                  </a:txBody>
                  <a:tcPr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RAW CONFIDENCE</a:t>
                      </a:r>
                    </a:p>
                  </a:txBody>
                  <a:tcPr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CALIBRATED P(CORRECT)</a:t>
                      </a:r>
                    </a:p>
                  </a:txBody>
                  <a:tcPr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ORIGINAL PICK?</a:t>
                      </a:r>
                    </a:p>
                  </a:txBody>
                  <a:tcPr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PROPOSED PICK?</a:t>
                      </a:r>
                    </a:p>
                  </a:txBody>
                  <a:tcPr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Segoe UI"/>
                        </a:rPr>
                        <a:t>Image 1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Consolas"/>
                        </a:rPr>
                        <a:t>31%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Consolas"/>
                        </a:rPr>
                        <a:t>≈1%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5B6B7C"/>
                          </a:solidFill>
                          <a:latin typeface="Consolas"/>
                        </a:rPr>
                        <a:t>● selected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F9CA8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Segoe UI"/>
                        </a:rPr>
                        <a:t>Image 2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Consolas"/>
                        </a:rPr>
                        <a:t>42%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Consolas"/>
                        </a:rPr>
                        <a:t>≈10%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5B6B7C"/>
                          </a:solidFill>
                          <a:latin typeface="Consolas"/>
                        </a:rPr>
                        <a:t>● selected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F9CA8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Segoe UI"/>
                        </a:rPr>
                        <a:t>Image 3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Consolas"/>
                        </a:rPr>
                        <a:t>55%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Consolas"/>
                        </a:rPr>
                        <a:t>≈31%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F9CA8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A5680B"/>
                          </a:solidFill>
                          <a:latin typeface="Consolas"/>
                        </a:rPr>
                        <a:t>● selected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Segoe UI"/>
                        </a:rPr>
                        <a:t>Image 4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Consolas"/>
                        </a:rPr>
                        <a:t>58%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Consolas"/>
                        </a:rPr>
                        <a:t>≈42%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F9CA8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A5680B"/>
                          </a:solidFill>
                          <a:latin typeface="Consolas"/>
                        </a:rPr>
                        <a:t>● selected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Segoe UI"/>
                        </a:rPr>
                        <a:t>Image 5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Consolas"/>
                        </a:rPr>
                        <a:t>62%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6202B"/>
                          </a:solidFill>
                          <a:latin typeface="Consolas"/>
                        </a:rPr>
                        <a:t>≈59%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F9CA8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A5680B"/>
                          </a:solidFill>
                          <a:latin typeface="Consolas"/>
                        </a:rPr>
                        <a:t>● selected</a:t>
                      </a:r>
                    </a:p>
                  </a:txBody>
                  <a:tcPr>
                    <a:solidFill>
                      <a:srgbClr val="FBE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8006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16202B"/>
                </a:solidFill>
                <a:latin typeface="Segoe UI"/>
              </a:rPr>
              <a:t>Image 1 has the lowest raw confidence, but history shows it is </a:t>
            </a:r>
            <a:r>
              <a:rPr sz="1350" b="1" i="0">
                <a:solidFill>
                  <a:srgbClr val="16202B"/>
                </a:solidFill>
                <a:latin typeface="Segoe UI"/>
              </a:rPr>
              <a:t>almost certainly wrong</a:t>
            </a:r>
            <a:r>
              <a:rPr sz="1350" b="0" i="0">
                <a:solidFill>
                  <a:srgbClr val="16202B"/>
                </a:solidFill>
                <a:latin typeface="Segoe UI"/>
              </a:rPr>
              <a:t> (only ~1% correctness) — feedback on it is nearly meaningless. Images 4 and 5 are where the model is truly torn (~42–59%) → the proposed rule asks exactly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60">
                <a:solidFill>
                  <a:srgbClr val="5B6B7C"/>
                </a:solidFill>
                <a:latin typeface="Consolas"/>
              </a:rPr>
              <a:t>09 /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spc="120">
                <a:solidFill>
                  <a:srgbClr val="0E8F82"/>
                </a:solidFill>
                <a:latin typeface="Consolas"/>
              </a:rPr>
              <a:t>07 ·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16202B"/>
                </a:solidFill>
                <a:latin typeface="Segoe UI"/>
              </a:rPr>
              <a:t>The learning algorithm is unchanged — only the question-asking strategy improves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1600200" cy="384048"/>
          </a:xfrm>
          <a:prstGeom prst="roundRect">
            <a:avLst>
              <a:gd name="adj" fmla="val 35000"/>
            </a:avLst>
          </a:prstGeom>
          <a:solidFill>
            <a:srgbClr val="E4E9EE"/>
          </a:solidFill>
          <a:ln w="12700">
            <a:solidFill>
              <a:srgbClr val="E4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>
                <a:solidFill>
                  <a:srgbClr val="5B6B7C"/>
                </a:solidFill>
                <a:latin typeface="Segoe UI"/>
              </a:rPr>
              <a:t>UNCHANGED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103120"/>
            <a:ext cx="8686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0" i="0">
                <a:solidFill>
                  <a:srgbClr val="16202B"/>
                </a:solidFill>
                <a:latin typeface="Segoe UI"/>
              </a:rPr>
              <a:t>How the model learns from correct/incorrect answers, and how it self-trains on its own confident predictions, stay 100% identical to the original.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16352"/>
            <a:ext cx="1600200" cy="384048"/>
          </a:xfrm>
          <a:prstGeom prst="roundRect">
            <a:avLst>
              <a:gd name="adj" fmla="val 35000"/>
            </a:avLst>
          </a:prstGeom>
          <a:solidFill>
            <a:srgbClr val="FBEBD2"/>
          </a:solidFill>
          <a:ln w="12700">
            <a:solidFill>
              <a:srgbClr val="FBE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>
                <a:solidFill>
                  <a:srgbClr val="A5680B"/>
                </a:solidFill>
                <a:latin typeface="Segoe UI"/>
              </a:rPr>
              <a:t>IMPROVEMENT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816352"/>
            <a:ext cx="8686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0" i="0">
                <a:solidFill>
                  <a:srgbClr val="16202B"/>
                </a:solidFill>
                <a:latin typeface="Segoe UI"/>
              </a:rPr>
              <a:t>Select images to query based on their REAL calibrated correctness probability (checked against feedback history), not raw confidence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29584"/>
            <a:ext cx="1600200" cy="384048"/>
          </a:xfrm>
          <a:prstGeom prst="roundRect">
            <a:avLst>
              <a:gd name="adj" fmla="val 35000"/>
            </a:avLst>
          </a:prstGeom>
          <a:solidFill>
            <a:srgbClr val="FBEBD2"/>
          </a:solidFill>
          <a:ln w="12700">
            <a:solidFill>
              <a:srgbClr val="FBE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>
                <a:solidFill>
                  <a:srgbClr val="A5680B"/>
                </a:solidFill>
                <a:latin typeface="Segoe UI"/>
              </a:rPr>
              <a:t>IMPROVEMENT 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529584"/>
            <a:ext cx="8686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0" i="0">
                <a:solidFill>
                  <a:srgbClr val="16202B"/>
                </a:solidFill>
                <a:latin typeface="Segoe UI"/>
              </a:rPr>
              <a:t>A more careful confidence estimate (more prediction passes) used only at the selection step — no added cost anywhere else.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80">
                <a:solidFill>
                  <a:srgbClr val="5B6B7C"/>
                </a:solidFill>
                <a:latin typeface="Consolas"/>
              </a:rPr>
              <a:t>EVALUATED ON 4 IMAGE BENCHMARKS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93776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16202B"/>
                </a:solidFill>
                <a:latin typeface="Segoe UI"/>
              </a:rPr>
              <a:t>CIFAR-10-C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04288" y="493776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16202B"/>
                </a:solidFill>
                <a:latin typeface="Segoe UI"/>
              </a:rPr>
              <a:t>CIFAR-100-C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937760"/>
            <a:ext cx="189280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16202B"/>
                </a:solidFill>
                <a:latin typeface="Segoe UI"/>
              </a:rPr>
              <a:t>Tiny-ImageNet-C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7" y="493776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16202B"/>
                </a:solidFill>
                <a:latin typeface="Segoe UI"/>
              </a:rPr>
              <a:t>PACS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778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5B6B7C"/>
                </a:solidFill>
                <a:latin typeface="Segoe UI"/>
              </a:rPr>
              <a:t>Expected outcome: extract more value from every feedback answer, while preserving the full correctness of the original algorithm.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60">
                <a:solidFill>
                  <a:srgbClr val="5B6B7C"/>
                </a:solidFill>
                <a:latin typeface="Consolas"/>
              </a:rPr>
              <a:t>10 / 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B2AAE-B199-68C4-4057-1EBB4C07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3281B6-79DD-B299-63F6-998F51C78EB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A9A67-BC23-B141-F2B2-2B6FF0B4FD61}"/>
              </a:ext>
            </a:extLst>
          </p:cNvPr>
          <p:cNvSpPr txBox="1"/>
          <p:nvPr/>
        </p:nvSpPr>
        <p:spPr>
          <a:xfrm>
            <a:off x="685800" y="868680"/>
            <a:ext cx="10607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400" b="1" i="0" dirty="0" err="1">
                <a:solidFill>
                  <a:srgbClr val="16202B"/>
                </a:solidFill>
                <a:latin typeface="Segoe UI"/>
              </a:rPr>
              <a:t>Hỏi</a:t>
            </a:r>
            <a:r>
              <a:rPr lang="en-US" sz="2400" b="1" i="0" dirty="0">
                <a:solidFill>
                  <a:srgbClr val="16202B"/>
                </a:solidFill>
                <a:latin typeface="Segoe UI"/>
              </a:rPr>
              <a:t> </a:t>
            </a:r>
            <a:r>
              <a:rPr lang="en-US" sz="2400" b="1" i="0" dirty="0" err="1">
                <a:solidFill>
                  <a:srgbClr val="16202B"/>
                </a:solidFill>
                <a:latin typeface="Segoe UI"/>
              </a:rPr>
              <a:t>anh</a:t>
            </a:r>
            <a:r>
              <a:rPr lang="en-US" sz="2400" b="1" i="0" dirty="0">
                <a:solidFill>
                  <a:srgbClr val="16202B"/>
                </a:solidFill>
                <a:latin typeface="Segoe UI"/>
              </a:rPr>
              <a:t> Đức</a:t>
            </a:r>
            <a:endParaRPr sz="2400" b="1" i="0" dirty="0">
              <a:solidFill>
                <a:srgbClr val="16202B"/>
              </a:solidFill>
              <a:latin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52554-8B36-0642-1265-D8DDA70CBD18}"/>
              </a:ext>
            </a:extLst>
          </p:cNvPr>
          <p:cNvSpPr txBox="1"/>
          <p:nvPr/>
        </p:nvSpPr>
        <p:spPr>
          <a:xfrm>
            <a:off x="685800" y="2177080"/>
            <a:ext cx="10476186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350" b="0" i="0" dirty="0" err="1">
                <a:solidFill>
                  <a:srgbClr val="16202B"/>
                </a:solidFill>
                <a:latin typeface="Segoe UI"/>
              </a:rPr>
              <a:t>Tên</a:t>
            </a:r>
            <a:r>
              <a:rPr lang="en-US" sz="1350" b="0" i="0" dirty="0">
                <a:solidFill>
                  <a:srgbClr val="16202B"/>
                </a:solidFill>
                <a:latin typeface="Segoe UI"/>
              </a:rPr>
              <a:t> </a:t>
            </a:r>
            <a:r>
              <a:rPr lang="en-US" sz="1350" b="0" i="0" dirty="0" err="1">
                <a:solidFill>
                  <a:srgbClr val="16202B"/>
                </a:solidFill>
                <a:latin typeface="Segoe UI"/>
              </a:rPr>
              <a:t>đề</a:t>
            </a:r>
            <a:r>
              <a:rPr lang="en-US" sz="1350" b="0" i="0" dirty="0">
                <a:solidFill>
                  <a:srgbClr val="16202B"/>
                </a:solidFill>
                <a:latin typeface="Segoe UI"/>
              </a:rPr>
              <a:t> </a:t>
            </a:r>
            <a:r>
              <a:rPr lang="en-US" sz="1350" b="0" i="0" dirty="0" err="1">
                <a:solidFill>
                  <a:srgbClr val="16202B"/>
                </a:solidFill>
                <a:latin typeface="Segoe UI"/>
              </a:rPr>
              <a:t>tài</a:t>
            </a:r>
            <a:endParaRPr sz="1350" b="0" i="0" dirty="0">
              <a:solidFill>
                <a:srgbClr val="16202B"/>
              </a:solidFill>
              <a:latin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1E957-1E5C-7A0B-A6D1-5F49A7F7FA71}"/>
              </a:ext>
            </a:extLst>
          </p:cNvPr>
          <p:cNvSpPr txBox="1"/>
          <p:nvPr/>
        </p:nvSpPr>
        <p:spPr>
          <a:xfrm>
            <a:off x="2514600" y="2995941"/>
            <a:ext cx="86868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endParaRPr sz="1350" b="0" i="0" dirty="0">
              <a:solidFill>
                <a:srgbClr val="16202B"/>
              </a:solidFill>
              <a:latin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CB232E-1F95-84E0-FD93-AC5169DDBF5D}"/>
              </a:ext>
            </a:extLst>
          </p:cNvPr>
          <p:cNvSpPr txBox="1"/>
          <p:nvPr/>
        </p:nvSpPr>
        <p:spPr>
          <a:xfrm>
            <a:off x="2514600" y="3709173"/>
            <a:ext cx="86868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endParaRPr sz="1350" b="0" i="0" dirty="0">
              <a:solidFill>
                <a:srgbClr val="16202B"/>
              </a:solidFill>
              <a:latin typeface="Segoe U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9FA5B2-B5B4-3C7D-E952-9BB05B270706}"/>
              </a:ext>
            </a:extLst>
          </p:cNvPr>
          <p:cNvSpPr txBox="1"/>
          <p:nvPr/>
        </p:nvSpPr>
        <p:spPr>
          <a:xfrm>
            <a:off x="685800" y="557784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1300" b="0" i="0" dirty="0">
              <a:solidFill>
                <a:srgbClr val="5B6B7C"/>
              </a:solidFill>
              <a:latin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915A0F-A594-87D4-F924-84D74CD4F03C}"/>
              </a:ext>
            </a:extLst>
          </p:cNvPr>
          <p:cNvSpPr txBox="1"/>
          <p:nvPr/>
        </p:nvSpPr>
        <p:spPr>
          <a:xfrm>
            <a:off x="68580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spc="60" dirty="0">
                <a:solidFill>
                  <a:srgbClr val="5B6B7C"/>
                </a:solidFill>
                <a:latin typeface="Consolas"/>
              </a:rPr>
              <a:t>10 / 10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991393C5-49C5-DB96-3330-AC41B41297E2}"/>
              </a:ext>
            </a:extLst>
          </p:cNvPr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D6EDBEB-EEC6-B90F-AC5B-CFF16954FCF1}"/>
              </a:ext>
            </a:extLst>
          </p:cNvPr>
          <p:cNvSpPr txBox="1"/>
          <p:nvPr/>
        </p:nvSpPr>
        <p:spPr>
          <a:xfrm>
            <a:off x="685800" y="2522894"/>
            <a:ext cx="10476186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350" b="0" i="0" dirty="0">
                <a:solidFill>
                  <a:srgbClr val="16202B"/>
                </a:solidFill>
                <a:latin typeface="Segoe UI"/>
              </a:rPr>
              <a:t>Setting,…</a:t>
            </a:r>
            <a:endParaRPr sz="1350" b="0" i="0" dirty="0">
              <a:solidFill>
                <a:srgbClr val="16202B"/>
              </a:solidFill>
              <a:latin typeface="Segoe U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8E7A1E-FC6A-6024-53FE-BDA6DB22E949}"/>
              </a:ext>
            </a:extLst>
          </p:cNvPr>
          <p:cNvSpPr txBox="1"/>
          <p:nvPr/>
        </p:nvSpPr>
        <p:spPr>
          <a:xfrm>
            <a:off x="685800" y="2853435"/>
            <a:ext cx="10476186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350" b="0" i="0">
                <a:solidFill>
                  <a:srgbClr val="16202B"/>
                </a:solidFill>
                <a:latin typeface="Segoe UI"/>
              </a:rPr>
              <a:t>Chạy</a:t>
            </a:r>
            <a:endParaRPr sz="1350" b="0" i="0" dirty="0">
              <a:solidFill>
                <a:srgbClr val="16202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53656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1192</Words>
  <Application>Microsoft Office PowerPoint</Application>
  <PresentationFormat>Widescreen</PresentationFormat>
  <Paragraphs>159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Pham Nghia</cp:lastModifiedBy>
  <cp:revision>4</cp:revision>
  <dcterms:created xsi:type="dcterms:W3CDTF">2013-01-27T09:14:16Z</dcterms:created>
  <dcterms:modified xsi:type="dcterms:W3CDTF">2026-09-11T07:25:18Z</dcterms:modified>
  <cp:category/>
</cp:coreProperties>
</file>