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Không hiệu chuẩn (p̂ = C)</c:v>
                </c:pt>
              </c:strCache>
            </c:strRef>
          </c:tx>
          <c:spPr>
            <a:ln w="22225">
              <a:solidFill>
                <a:srgbClr val="8FA0B0"/>
              </a:solidFill>
              <a:prstDash val="dash"/>
            </a:ln>
          </c:spPr>
          <c:marker>
            <c:symbol val="none"/>
          </c:marker>
          <c:xVal>
            <c:numRef>
              <c:f>Sheet1!$A$2:$A$100</c:f>
              <c:numCache>
                <c:formatCode>General</c:formatCode>
                <c:ptCount val="99"/>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numCache>
            </c:numRef>
          </c:xVal>
          <c:yVal>
            <c:numRef>
              <c:f>Sheet1!$B$2:$B$100</c:f>
              <c:numCache>
                <c:formatCode>General</c:formatCode>
                <c:ptCount val="99"/>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numCache>
            </c:numRef>
          </c:yVal>
          <c:smooth val="0"/>
        </c:ser>
        <c:ser>
          <c:idx val="1"/>
          <c:order val="1"/>
          <c:tx>
            <c:strRef>
              <c:f>Sheet1!$B$102</c:f>
              <c:strCache>
                <c:ptCount val="1"/>
                <c:pt idx="0">
                  <c:v>Đã hiệu chuẩn (a = 4.0, b = −1.6)</c:v>
                </c:pt>
              </c:strCache>
            </c:strRef>
          </c:tx>
          <c:spPr>
            <a:ln w="34925">
              <a:solidFill>
                <a:srgbClr val="0E8F82"/>
              </a:solidFill>
            </a:ln>
          </c:spPr>
          <c:marker>
            <c:symbol val="none"/>
          </c:marker>
          <c:xVal>
            <c:numRef>
              <c:f>Sheet1!$A$103:$A$201</c:f>
              <c:numCache>
                <c:formatCode>General</c:formatCode>
                <c:ptCount val="99"/>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numCache>
            </c:numRef>
          </c:xVal>
          <c:yVal>
            <c:numRef>
              <c:f>Sheet1!$B$103:$B$201</c:f>
              <c:numCache>
                <c:formatCode>General</c:formatCode>
                <c:ptCount val="99"/>
                <c:pt idx="0">
                  <c:v>2.1017838453265323e-09</c:v>
                </c:pt>
                <c:pt idx="1">
                  <c:v>3.502228627211554e-08</c:v>
                </c:pt>
                <c:pt idx="2">
                  <c:v>1.8472549140704048e-07</c:v>
                </c:pt>
                <c:pt idx="3">
                  <c:v>6.085322480653024e-07</c:v>
                </c:pt>
                <c:pt idx="4">
                  <c:v>1.5492223449179994e-06</c:v>
                </c:pt>
                <c:pt idx="5">
                  <c:v>3.351359064398127e-06</c:v>
                </c:pt>
                <c:pt idx="6">
                  <c:v>6.480169720016642e-06</c:v>
                </c:pt>
                <c:pt idx="7">
                  <c:v>1.1543365692907972e-05</c:v>
                </c:pt>
                <c:pt idx="8">
                  <c:v>1.9316342991479815e-05</c:v>
                </c:pt>
                <c:pt idx="9">
                  <c:v>3.0771270443880324e-05</c:v>
                </c:pt>
                <c:pt idx="10">
                  <c:v>4.711064850936991e-05</c:v>
                </c:pt>
                <c:pt idx="11">
                  <c:v>6.980600871170624e-05</c:v>
                </c:pt>
                <c:pt idx="12">
                  <c:v>0.00010064252334331191</c:v>
                </c:pt>
                <c:pt idx="13">
                  <c:v>0.00014177040898185882</c:v>
                </c:pt>
                <c:pt idx="14">
                  <c:v>0.00019576413723084032</c:v>
                </c:pt>
                <c:pt idx="15">
                  <c:v>0.00026569061374698977</c:v>
                </c:pt>
                <c:pt idx="16">
                  <c:v>0.0003551876538663583</c:v>
                </c:pt>
                <c:pt idx="17">
                  <c:v>0.00046855427171697</c:v>
                </c:pt>
                <c:pt idx="18">
                  <c:v>0.0006108545111020513</c:v>
                </c:pt>
                <c:pt idx="19">
                  <c:v>0.0007880367816889867</c:v>
                </c:pt>
                <c:pt idx="20">
                  <c:v>0.0010070709234041215</c:v>
                </c:pt>
                <c:pt idx="21">
                  <c:v>0.0012761055044421875</c:v>
                </c:pt>
                <c:pt idx="22">
                  <c:v>0.0016046481611208358</c:v>
                </c:pt>
                <c:pt idx="23">
                  <c:v>0.0020037721053806096</c:v>
                </c:pt>
                <c:pt idx="24">
                  <c:v>0.002486352248557571</c:v>
                </c:pt>
                <c:pt idx="25">
                  <c:v>0.0030673347031130406</c:v>
                </c:pt>
                <c:pt idx="26">
                  <c:v>0.003764043704580851</c:v>
                </c:pt>
                <c:pt idx="27">
                  <c:v>0.004596530210858602</c:v>
                </c:pt>
                <c:pt idx="28">
                  <c:v>0.0055879665376943185</c:v>
                </c:pt>
                <c:pt idx="29">
                  <c:v>0.006765091311458328</c:v>
                </c:pt>
                <c:pt idx="30">
                  <c:v>0.00815870867186746</c:v>
                </c:pt>
                <c:pt idx="31">
                  <c:v>0.009804244915016854</c:v>
                </c:pt>
                <c:pt idx="32">
                  <c:v>0.011742364467052516</c:v>
                </c:pt>
                <c:pt idx="33">
                  <c:v>0.014019645007079968</c:v>
                </c:pt>
                <c:pt idx="34">
                  <c:v>0.016689308440303172</c:v>
                </c:pt>
                <c:pt idx="35">
                  <c:v>0.019811999915734183</c:v>
                </c:pt>
                <c:pt idx="36">
                  <c:v>0.02345660076961416</c:v>
                </c:pt>
                <c:pt idx="37">
                  <c:v>0.02770105266682824</c:v>
                </c:pt>
                <c:pt idx="38">
                  <c:v>0.0326331587647407</c:v>
                </c:pt>
                <c:pt idx="39">
                  <c:v>0.03835131288164499</c:v>
                </c:pt>
                <c:pt idx="40">
                  <c:v>0.044965088928976334</c:v>
                </c:pt>
                <c:pt idx="41">
                  <c:v>0.05259559998313869</c:v>
                </c:pt>
                <c:pt idx="42">
                  <c:v>0.06137550947319882</c:v>
                </c:pt>
                <c:pt idx="43">
                  <c:v>0.07144854692740399</c:v>
                </c:pt>
                <c:pt idx="44">
                  <c:v>0.08296834960144964</c:v>
                </c:pt>
                <c:pt idx="45">
                  <c:v>0.09609642283953092</c:v>
                </c:pt>
                <c:pt idx="46">
                  <c:v>0.11099899217892889</c:v>
                </c:pt>
                <c:pt idx="47">
                  <c:v>0.12784251768926486</c:v>
                </c:pt>
                <c:pt idx="48">
                  <c:v>0.14678766733079748</c:v>
                </c:pt>
                <c:pt idx="49">
                  <c:v>0.16798161486607552</c:v>
                </c:pt>
                <c:pt idx="50">
                  <c:v>0.19154865296516885</c:v>
                </c:pt>
                <c:pt idx="51">
                  <c:v>0.21757930414355336</c:v>
                </c:pt>
                <c:pt idx="52">
                  <c:v>0.246118372708469</c:v>
                </c:pt>
                <c:pt idx="53">
                  <c:v>0.27715269579249857</c:v>
                </c:pt>
                <c:pt idx="54">
                  <c:v>0.31059968420823864</c:v>
                </c:pt>
                <c:pt idx="55">
                  <c:v>0.3462980319951668</c:v>
                </c:pt>
                <c:pt idx="56">
                  <c:v>0.38400213351314477</c:v>
                </c:pt>
                <c:pt idx="57">
                  <c:v>0.423381689087223</c:v>
                </c:pt>
                <c:pt idx="58">
                  <c:v>0.46402763551459364</c:v>
                </c:pt>
                <c:pt idx="59">
                  <c:v>0.5054648904804226</c:v>
                </c:pt>
                <c:pt idx="60">
                  <c:v>0.5471715141629037</c:v>
                </c:pt>
                <c:pt idx="61">
                  <c:v>0.5886029161357967</c:v>
                </c:pt>
                <c:pt idx="62">
                  <c:v>0.6292188784501827</c:v>
                </c:pt>
                <c:pt idx="63">
                  <c:v>0.6685106354678486</c:v>
                </c:pt>
                <c:pt idx="64">
                  <c:v>0.706025190057552</c:v>
                </c:pt>
                <c:pt idx="65">
                  <c:v>0.7413844785653803</c:v>
                </c:pt>
                <c:pt idx="66">
                  <c:v>0.7742978190163505</c:v>
                </c:pt>
                <c:pt idx="67">
                  <c:v>0.8045670903634138</c:v>
                </c:pt>
                <c:pt idx="68">
                  <c:v>0.8320850699113559</c:v>
                </c:pt>
                <c:pt idx="69">
                  <c:v>0.8568281162814964</c:v>
                </c:pt>
                <c:pt idx="70">
                  <c:v>0.8788448254202273</c:v>
                </c:pt>
                <c:pt idx="71">
                  <c:v>0.8982423986024282</c:v>
                </c:pt>
                <c:pt idx="72">
                  <c:v>0.9151723067865546</c:v>
                </c:pt>
                <c:pt idx="73">
                  <c:v>0.9298165134789791</c:v>
                </c:pt>
                <c:pt idx="74">
                  <c:v>0.942375128780339</c:v>
                </c:pt>
                <c:pt idx="75">
                  <c:v>0.953055990066833</c:v>
                </c:pt>
                <c:pt idx="76">
                  <c:v>0.9620663494702807</c:v>
                </c:pt>
                <c:pt idx="77">
                  <c:v>0.9696066162283611</c:v>
                </c:pt>
                <c:pt idx="78">
                  <c:v>0.9758659531728918</c:v>
                </c:pt>
                <c:pt idx="79">
                  <c:v>0.9810194486786423</c:v>
                </c:pt>
                <c:pt idx="80">
                  <c:v>0.9852265607439061</c:v>
                </c:pt>
                <c:pt idx="81">
                  <c:v>0.9886305408782728</c:v>
                </c:pt>
                <c:pt idx="82">
                  <c:v>0.9913585771790846</c:v>
                </c:pt>
                <c:pt idx="83">
                  <c:v>0.9935224371304108</c:v>
                </c:pt>
                <c:pt idx="84">
                  <c:v>0.9952194336268066</c:v>
                </c:pt>
                <c:pt idx="85">
                  <c:v>0.9965335778949775</c:v>
                </c:pt>
                <c:pt idx="86">
                  <c:v>0.9975368179912716</c:v>
                </c:pt>
                <c:pt idx="87">
                  <c:v>0.9982902905435946</c:v>
                </c:pt>
                <c:pt idx="88">
                  <c:v>0.9988455364689278</c:v>
                </c:pt>
                <c:pt idx="89">
                  <c:v>0.9992456491236023</c:v>
                </c:pt>
                <c:pt idx="90">
                  <c:v>0.9995263365418738</c:v>
                </c:pt>
                <c:pt idx="91">
                  <c:v>0.999716888938154</c:v>
                </c:pt>
                <c:pt idx="92">
                  <c:v>0.9998410492798179</c:v>
                </c:pt>
                <c:pt idx="93">
                  <c:v>0.9999177891661876</c:v>
                </c:pt>
                <c:pt idx="94">
                  <c:v>0.9999619950415927</c:v>
                </c:pt>
                <c:pt idx="95">
                  <c:v>0.9999850713780307</c:v>
                </c:pt>
                <c:pt idx="96">
                  <c:v>0.9999954682360038</c:v>
                </c:pt>
                <c:pt idx="97">
                  <c:v>0.9999991408154126</c:v>
                </c:pt>
                <c:pt idx="98">
                  <c:v>0.9999999484379269</c:v>
                </c:pt>
              </c:numCache>
            </c:numRef>
          </c:yVal>
          <c:smooth val="0"/>
        </c:ser>
        <c:axId val="-2128940872"/>
        <c:axId val="-2129643912"/>
      </c:scatterChart>
      <c:valAx>
        <c:axId val="-2128940872"/>
        <c:scaling>
          <c:orientation val="minMax"/>
          <c:max val="1.0"/>
          <c:min val="0.0"/>
        </c:scaling>
        <c:delete val="0"/>
        <c:axPos val="b"/>
        <c:majorGridlines>
          <c:spPr>
            <a:ln w="6350">
              <a:solidFill>
                <a:srgbClr val="D6E0E8"/>
              </a:solidFill>
            </a:ln>
          </c:spPr>
        </c:majorGridlines>
        <c:title>
          <c:tx>
            <c:rich>
              <a:bodyPr/>
              <a:lstStyle/>
              <a:p>
                <a:r>
                  <a:rPr sz="1000" b="0">
                    <a:solidFill>
                      <a:srgbClr val="5A6A7A"/>
                    </a:solidFill>
                    <a:latin typeface="Calibri"/>
                  </a:rPr>
                  <a:t>Độ tự tin thô C(x)</a:t>
                </a:r>
              </a:p>
            </c:rich>
          </c:tx>
          <c:layout/>
          <c:overlay val="0"/>
        </c:title>
        <c:numFmt formatCode="0.0" sourceLinked="0"/>
        <c:majorTickMark val="out"/>
        <c:minorTickMark val="none"/>
        <c:tickLblPos val="nextTo"/>
        <c:spPr>
          <a:ln>
            <a:solidFill>
              <a:srgbClr val="D6E0E8"/>
            </a:solidFill>
          </a:ln>
        </c:spPr>
        <c:txPr>
          <a:bodyPr/>
          <a:lstStyle/>
          <a:p>
            <a:pPr>
              <a:defRPr sz="1000"/>
            </a:pPr>
          </a:p>
        </c:txPr>
        <c:crossAx val="-2129643912"/>
        <c:crosses val="autoZero"/>
        <c:crossBetween val="midCat"/>
        <c:majorUnit val="0.2"/>
      </c:valAx>
      <c:valAx>
        <c:axId val="-2129643912"/>
        <c:scaling>
          <c:orientation val="minMax"/>
          <c:max val="1.0"/>
          <c:min val="0.0"/>
        </c:scaling>
        <c:delete val="0"/>
        <c:axPos val="l"/>
        <c:majorGridlines>
          <c:spPr>
            <a:ln w="6350">
              <a:solidFill>
                <a:srgbClr val="D6E0E8"/>
              </a:solidFill>
            </a:ln>
          </c:spPr>
        </c:majorGridlines>
        <c:title>
          <c:tx>
            <c:rich>
              <a:bodyPr/>
              <a:lstStyle/>
              <a:p>
                <a:r>
                  <a:rPr sz="1000" b="0">
                    <a:solidFill>
                      <a:srgbClr val="5A6A7A"/>
                    </a:solidFill>
                    <a:latin typeface="Calibri"/>
                  </a:rPr>
                  <a:t>Xác suất đúng thực tế</a:t>
                </a:r>
              </a:p>
            </c:rich>
          </c:tx>
          <c:layout/>
          <c:overlay val="0"/>
        </c:title>
        <c:numFmt formatCode="0.0" sourceLinked="0"/>
        <c:majorTickMark val="out"/>
        <c:minorTickMark val="none"/>
        <c:tickLblPos val="nextTo"/>
        <c:spPr>
          <a:ln>
            <a:solidFill>
              <a:srgbClr val="D6E0E8"/>
            </a:solidFill>
          </a:ln>
        </c:spPr>
        <c:txPr>
          <a:bodyPr/>
          <a:lstStyle/>
          <a:p>
            <a:pPr>
              <a:defRPr sz="1000"/>
            </a:pPr>
          </a:p>
        </c:txPr>
        <c:crossAx val="-2128940872"/>
        <c:crosses val="autoZero"/>
        <c:crossBetween val="midCat"/>
        <c:majorUnit val="0.2"/>
      </c:valAx>
    </c:plotArea>
    <c:legend>
      <c:legendPos val="b"/>
      <c:layout/>
      <c:overlay val="0"/>
      <c:txPr>
        <a:bodyPr/>
        <a:lstStyle/>
        <a:p>
          <a:pPr>
            <a:defRPr sz="1000"/>
          </a:pPr>
        </a:p>
      </c:txPr>
    </c:legend>
    <c:plotVisOnly val="1"/>
    <c:dispBlanksAs val="gap"/>
    <c:showDLblsOverMax val="0"/>
  </c:chart>
  <c:txPr>
    <a:bodyPr/>
    <a:lstStyle/>
    <a:p>
      <a:pPr>
        <a:defRPr sz="1000">
          <a:solidFill>
            <a:srgbClr val="5A6A7A"/>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Loss BCE</c:v>
                </c:pt>
              </c:strCache>
            </c:strRef>
          </c:tx>
          <c:spPr>
            <a:ln w="31750">
              <a:solidFill>
                <a:srgbClr val="0E8F82"/>
              </a:solidFill>
            </a:ln>
          </c:spPr>
          <c:marker>
            <c:symbol val="none"/>
          </c:marker>
          <c:xVal>
            <c:numRef>
              <c:f>Sheet1!$A$2:$A$51</c:f>
              <c:numCache>
                <c:formatCode>General</c:formatCode>
                <c:ptCount val="50"/>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numCache>
            </c:numRef>
          </c:xVal>
          <c:yVal>
            <c:numRef>
              <c:f>Sheet1!$B$2:$B$51</c:f>
              <c:numCache>
                <c:formatCode>General</c:formatCode>
                <c:ptCount val="50"/>
                <c:pt idx="0">
                  <c:v>0.6421</c:v>
                </c:pt>
                <c:pt idx="1">
                  <c:v>0.6371</c:v>
                </c:pt>
                <c:pt idx="2">
                  <c:v>0.6153</c:v>
                </c:pt>
                <c:pt idx="3">
                  <c:v>0.5982</c:v>
                </c:pt>
                <c:pt idx="4">
                  <c:v>0.5848</c:v>
                </c:pt>
                <c:pt idx="5">
                  <c:v>0.5742</c:v>
                </c:pt>
                <c:pt idx="6">
                  <c:v>0.5657</c:v>
                </c:pt>
                <c:pt idx="7">
                  <c:v>0.5589</c:v>
                </c:pt>
                <c:pt idx="8">
                  <c:v>0.5533</c:v>
                </c:pt>
                <c:pt idx="9">
                  <c:v>0.5488</c:v>
                </c:pt>
                <c:pt idx="10">
                  <c:v>0.5451</c:v>
                </c:pt>
                <c:pt idx="11">
                  <c:v>0.5421</c:v>
                </c:pt>
                <c:pt idx="12">
                  <c:v>0.5397</c:v>
                </c:pt>
                <c:pt idx="13">
                  <c:v>0.5377</c:v>
                </c:pt>
                <c:pt idx="14">
                  <c:v>0.536</c:v>
                </c:pt>
                <c:pt idx="15">
                  <c:v>0.5347</c:v>
                </c:pt>
                <c:pt idx="16">
                  <c:v>0.5336</c:v>
                </c:pt>
                <c:pt idx="17">
                  <c:v>0.5327</c:v>
                </c:pt>
                <c:pt idx="18">
                  <c:v>0.5319</c:v>
                </c:pt>
                <c:pt idx="19">
                  <c:v>0.5313</c:v>
                </c:pt>
                <c:pt idx="20">
                  <c:v>0.5308</c:v>
                </c:pt>
                <c:pt idx="21">
                  <c:v>0.5304</c:v>
                </c:pt>
                <c:pt idx="22">
                  <c:v>0.5301</c:v>
                </c:pt>
                <c:pt idx="23">
                  <c:v>0.5298</c:v>
                </c:pt>
                <c:pt idx="24">
                  <c:v>0.5296</c:v>
                </c:pt>
                <c:pt idx="25">
                  <c:v>0.5294</c:v>
                </c:pt>
                <c:pt idx="26">
                  <c:v>0.5293</c:v>
                </c:pt>
                <c:pt idx="27">
                  <c:v>0.5292</c:v>
                </c:pt>
                <c:pt idx="28">
                  <c:v>0.5291</c:v>
                </c:pt>
                <c:pt idx="29">
                  <c:v>0.529</c:v>
                </c:pt>
                <c:pt idx="30">
                  <c:v>0.5289</c:v>
                </c:pt>
                <c:pt idx="31">
                  <c:v>0.5289</c:v>
                </c:pt>
                <c:pt idx="32">
                  <c:v>0.5288</c:v>
                </c:pt>
                <c:pt idx="33">
                  <c:v>0.5288</c:v>
                </c:pt>
                <c:pt idx="34">
                  <c:v>0.5288</c:v>
                </c:pt>
                <c:pt idx="35">
                  <c:v>0.5287</c:v>
                </c:pt>
                <c:pt idx="36">
                  <c:v>0.5287</c:v>
                </c:pt>
                <c:pt idx="37">
                  <c:v>0.5287</c:v>
                </c:pt>
                <c:pt idx="38">
                  <c:v>0.5287</c:v>
                </c:pt>
                <c:pt idx="39">
                  <c:v>0.5287</c:v>
                </c:pt>
                <c:pt idx="40">
                  <c:v>0.5287</c:v>
                </c:pt>
                <c:pt idx="41">
                  <c:v>0.5287</c:v>
                </c:pt>
                <c:pt idx="42">
                  <c:v>0.5287</c:v>
                </c:pt>
                <c:pt idx="43">
                  <c:v>0.5287</c:v>
                </c:pt>
                <c:pt idx="44">
                  <c:v>0.5287</c:v>
                </c:pt>
                <c:pt idx="45">
                  <c:v>0.5286</c:v>
                </c:pt>
                <c:pt idx="46">
                  <c:v>0.5286</c:v>
                </c:pt>
                <c:pt idx="47">
                  <c:v>0.5286</c:v>
                </c:pt>
                <c:pt idx="48">
                  <c:v>0.5286</c:v>
                </c:pt>
                <c:pt idx="49">
                  <c:v>0.5286</c:v>
                </c:pt>
              </c:numCache>
            </c:numRef>
          </c:yVal>
          <c:smooth val="0"/>
        </c:ser>
        <c:axId val="-2128940872"/>
        <c:axId val="-2129643912"/>
      </c:scatterChart>
      <c:valAx>
        <c:axId val="-2128940872"/>
        <c:scaling>
          <c:orientation val="minMax"/>
          <c:max val="50.0"/>
          <c:min val="0.0"/>
        </c:scaling>
        <c:delete val="0"/>
        <c:axPos val="b"/>
        <c:title>
          <c:tx>
            <c:rich>
              <a:bodyPr/>
              <a:lstStyle/>
              <a:p>
                <a:r>
                  <a:rPr sz="1000" b="0">
                    <a:solidFill>
                      <a:srgbClr val="5A6A7A"/>
                    </a:solidFill>
                    <a:latin typeface="Calibri"/>
                  </a:rPr>
                  <a:t>Lần đánh giá closure</a:t>
                </a:r>
              </a:p>
            </c:rich>
          </c:tx>
          <c:layout/>
          <c:overlay val="0"/>
        </c:title>
        <c:numFmt formatCode="0" sourceLinked="0"/>
        <c:majorTickMark val="out"/>
        <c:minorTickMark val="none"/>
        <c:tickLblPos val="nextTo"/>
        <c:spPr>
          <a:ln>
            <a:solidFill>
              <a:srgbClr val="D6E0E8"/>
            </a:solidFill>
          </a:ln>
        </c:spPr>
        <c:txPr>
          <a:bodyPr/>
          <a:lstStyle/>
          <a:p>
            <a:pPr>
              <a:defRPr sz="1000"/>
            </a:pPr>
          </a:p>
        </c:txPr>
        <c:crossAx val="-2129643912"/>
        <c:crosses val="autoZero"/>
        <c:crossBetween val="midCat"/>
        <c:majorUnit val="10.0"/>
      </c:valAx>
      <c:valAx>
        <c:axId val="-2129643912"/>
        <c:scaling>
          <c:orientation val="minMax"/>
          <c:max val="0.65"/>
          <c:min val="0.52"/>
        </c:scaling>
        <c:delete val="0"/>
        <c:axPos val="l"/>
        <c:majorGridlines>
          <c:spPr>
            <a:ln w="6350">
              <a:solidFill>
                <a:srgbClr val="D6E0E8"/>
              </a:solidFill>
            </a:ln>
          </c:spPr>
        </c:majorGridlines>
        <c:title>
          <c:tx>
            <c:rich>
              <a:bodyPr/>
              <a:lstStyle/>
              <a:p>
                <a:r>
                  <a:rPr sz="1000" b="0">
                    <a:solidFill>
                      <a:srgbClr val="5A6A7A"/>
                    </a:solidFill>
                    <a:latin typeface="Calibri"/>
                  </a:rPr>
                  <a:t>Loss BCE</a:t>
                </a:r>
              </a:p>
            </c:rich>
          </c:tx>
          <c:layout/>
          <c:overlay val="0"/>
        </c:title>
        <c:numFmt formatCode="0.00" sourceLinked="0"/>
        <c:majorTickMark val="out"/>
        <c:minorTickMark val="none"/>
        <c:tickLblPos val="nextTo"/>
        <c:spPr>
          <a:ln>
            <a:solidFill>
              <a:srgbClr val="D6E0E8"/>
            </a:solidFill>
          </a:ln>
        </c:spPr>
        <c:txPr>
          <a:bodyPr/>
          <a:lstStyle/>
          <a:p>
            <a:pPr>
              <a:defRPr sz="1000"/>
            </a:pPr>
          </a:p>
        </c:txPr>
        <c:crossAx val="-2128940872"/>
        <c:crosses val="autoZero"/>
        <c:crossBetween val="midCat"/>
        <c:majorUnit val="0.02"/>
      </c:valAx>
    </c:plotArea>
    <c:plotVisOnly val="1"/>
    <c:dispBlanksAs val="gap"/>
    <c:showDLblsOverMax val="0"/>
  </c:chart>
  <c:txPr>
    <a:bodyPr/>
    <a:lstStyle/>
    <a:p>
      <a:pPr>
        <a:defRPr sz="1000">
          <a:solidFill>
            <a:srgbClr val="5A6A7A"/>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h_b(p̂)</c:v>
                </c:pt>
              </c:strCache>
            </c:strRef>
          </c:tx>
          <c:spPr>
            <a:ln w="38100">
              <a:solidFill>
                <a:srgbClr val="A5680B"/>
              </a:solidFill>
            </a:ln>
          </c:spPr>
          <c:marker>
            <c:symbol val="none"/>
          </c:marker>
          <c:xVal>
            <c:numRef>
              <c:f>Sheet1!$A$2:$A$100</c:f>
              <c:numCache>
                <c:formatCode>General</c:formatCode>
                <c:ptCount val="99"/>
                <c:pt idx="0">
                  <c:v>0.01</c:v>
                </c:pt>
                <c:pt idx="1">
                  <c:v>0.02</c:v>
                </c:pt>
                <c:pt idx="2">
                  <c:v>0.03</c:v>
                </c:pt>
                <c:pt idx="3">
                  <c:v>0.04</c:v>
                </c:pt>
                <c:pt idx="4">
                  <c:v>0.05</c:v>
                </c:pt>
                <c:pt idx="5">
                  <c:v>0.06</c:v>
                </c:pt>
                <c:pt idx="6">
                  <c:v>0.07</c:v>
                </c:pt>
                <c:pt idx="7">
                  <c:v>0.08</c:v>
                </c:pt>
                <c:pt idx="8">
                  <c:v>0.09</c:v>
                </c:pt>
                <c:pt idx="9">
                  <c:v>0.1</c:v>
                </c:pt>
                <c:pt idx="10">
                  <c:v>0.11</c:v>
                </c:pt>
                <c:pt idx="11">
                  <c:v>0.12</c:v>
                </c:pt>
                <c:pt idx="12">
                  <c:v>0.13</c:v>
                </c:pt>
                <c:pt idx="13">
                  <c:v>0.14</c:v>
                </c:pt>
                <c:pt idx="14">
                  <c:v>0.15</c:v>
                </c:pt>
                <c:pt idx="15">
                  <c:v>0.16</c:v>
                </c:pt>
                <c:pt idx="16">
                  <c:v>0.17</c:v>
                </c:pt>
                <c:pt idx="17">
                  <c:v>0.18</c:v>
                </c:pt>
                <c:pt idx="18">
                  <c:v>0.19</c:v>
                </c:pt>
                <c:pt idx="19">
                  <c:v>0.2</c:v>
                </c:pt>
                <c:pt idx="20">
                  <c:v>0.21</c:v>
                </c:pt>
                <c:pt idx="21">
                  <c:v>0.22</c:v>
                </c:pt>
                <c:pt idx="22">
                  <c:v>0.23</c:v>
                </c:pt>
                <c:pt idx="23">
                  <c:v>0.24</c:v>
                </c:pt>
                <c:pt idx="24">
                  <c:v>0.25</c:v>
                </c:pt>
                <c:pt idx="25">
                  <c:v>0.26</c:v>
                </c:pt>
                <c:pt idx="26">
                  <c:v>0.27</c:v>
                </c:pt>
                <c:pt idx="27">
                  <c:v>0.28</c:v>
                </c:pt>
                <c:pt idx="28">
                  <c:v>0.29</c:v>
                </c:pt>
                <c:pt idx="29">
                  <c:v>0.3</c:v>
                </c:pt>
                <c:pt idx="30">
                  <c:v>0.31</c:v>
                </c:pt>
                <c:pt idx="31">
                  <c:v>0.32</c:v>
                </c:pt>
                <c:pt idx="32">
                  <c:v>0.33</c:v>
                </c:pt>
                <c:pt idx="33">
                  <c:v>0.34</c:v>
                </c:pt>
                <c:pt idx="34">
                  <c:v>0.35</c:v>
                </c:pt>
                <c:pt idx="35">
                  <c:v>0.36</c:v>
                </c:pt>
                <c:pt idx="36">
                  <c:v>0.37</c:v>
                </c:pt>
                <c:pt idx="37">
                  <c:v>0.38</c:v>
                </c:pt>
                <c:pt idx="38">
                  <c:v>0.39</c:v>
                </c:pt>
                <c:pt idx="39">
                  <c:v>0.4</c:v>
                </c:pt>
                <c:pt idx="40">
                  <c:v>0.41</c:v>
                </c:pt>
                <c:pt idx="41">
                  <c:v>0.42</c:v>
                </c:pt>
                <c:pt idx="42">
                  <c:v>0.43</c:v>
                </c:pt>
                <c:pt idx="43">
                  <c:v>0.44</c:v>
                </c:pt>
                <c:pt idx="44">
                  <c:v>0.45</c:v>
                </c:pt>
                <c:pt idx="45">
                  <c:v>0.46</c:v>
                </c:pt>
                <c:pt idx="46">
                  <c:v>0.47</c:v>
                </c:pt>
                <c:pt idx="47">
                  <c:v>0.48</c:v>
                </c:pt>
                <c:pt idx="48">
                  <c:v>0.49</c:v>
                </c:pt>
                <c:pt idx="49">
                  <c:v>0.5</c:v>
                </c:pt>
                <c:pt idx="50">
                  <c:v>0.51</c:v>
                </c:pt>
                <c:pt idx="51">
                  <c:v>0.52</c:v>
                </c:pt>
                <c:pt idx="52">
                  <c:v>0.53</c:v>
                </c:pt>
                <c:pt idx="53">
                  <c:v>0.54</c:v>
                </c:pt>
                <c:pt idx="54">
                  <c:v>0.55</c:v>
                </c:pt>
                <c:pt idx="55">
                  <c:v>0.56</c:v>
                </c:pt>
                <c:pt idx="56">
                  <c:v>0.57</c:v>
                </c:pt>
                <c:pt idx="57">
                  <c:v>0.58</c:v>
                </c:pt>
                <c:pt idx="58">
                  <c:v>0.59</c:v>
                </c:pt>
                <c:pt idx="59">
                  <c:v>0.6</c:v>
                </c:pt>
                <c:pt idx="60">
                  <c:v>0.61</c:v>
                </c:pt>
                <c:pt idx="61">
                  <c:v>0.62</c:v>
                </c:pt>
                <c:pt idx="62">
                  <c:v>0.63</c:v>
                </c:pt>
                <c:pt idx="63">
                  <c:v>0.64</c:v>
                </c:pt>
                <c:pt idx="64">
                  <c:v>0.65</c:v>
                </c:pt>
                <c:pt idx="65">
                  <c:v>0.66</c:v>
                </c:pt>
                <c:pt idx="66">
                  <c:v>0.67</c:v>
                </c:pt>
                <c:pt idx="67">
                  <c:v>0.68</c:v>
                </c:pt>
                <c:pt idx="68">
                  <c:v>0.69</c:v>
                </c:pt>
                <c:pt idx="69">
                  <c:v>0.7</c:v>
                </c:pt>
                <c:pt idx="70">
                  <c:v>0.71</c:v>
                </c:pt>
                <c:pt idx="71">
                  <c:v>0.72</c:v>
                </c:pt>
                <c:pt idx="72">
                  <c:v>0.73</c:v>
                </c:pt>
                <c:pt idx="73">
                  <c:v>0.74</c:v>
                </c:pt>
                <c:pt idx="74">
                  <c:v>0.75</c:v>
                </c:pt>
                <c:pt idx="75">
                  <c:v>0.76</c:v>
                </c:pt>
                <c:pt idx="76">
                  <c:v>0.77</c:v>
                </c:pt>
                <c:pt idx="77">
                  <c:v>0.78</c:v>
                </c:pt>
                <c:pt idx="78">
                  <c:v>0.79</c:v>
                </c:pt>
                <c:pt idx="79">
                  <c:v>0.8</c:v>
                </c:pt>
                <c:pt idx="80">
                  <c:v>0.81</c:v>
                </c:pt>
                <c:pt idx="81">
                  <c:v>0.82</c:v>
                </c:pt>
                <c:pt idx="82">
                  <c:v>0.83</c:v>
                </c:pt>
                <c:pt idx="83">
                  <c:v>0.84</c:v>
                </c:pt>
                <c:pt idx="84">
                  <c:v>0.85</c:v>
                </c:pt>
                <c:pt idx="85">
                  <c:v>0.86</c:v>
                </c:pt>
                <c:pt idx="86">
                  <c:v>0.87</c:v>
                </c:pt>
                <c:pt idx="87">
                  <c:v>0.88</c:v>
                </c:pt>
                <c:pt idx="88">
                  <c:v>0.89</c:v>
                </c:pt>
                <c:pt idx="89">
                  <c:v>0.9</c:v>
                </c:pt>
                <c:pt idx="90">
                  <c:v>0.91</c:v>
                </c:pt>
                <c:pt idx="91">
                  <c:v>0.92</c:v>
                </c:pt>
                <c:pt idx="92">
                  <c:v>0.93</c:v>
                </c:pt>
                <c:pt idx="93">
                  <c:v>0.94</c:v>
                </c:pt>
                <c:pt idx="94">
                  <c:v>0.95</c:v>
                </c:pt>
                <c:pt idx="95">
                  <c:v>0.96</c:v>
                </c:pt>
                <c:pt idx="96">
                  <c:v>0.97</c:v>
                </c:pt>
                <c:pt idx="97">
                  <c:v>0.98</c:v>
                </c:pt>
                <c:pt idx="98">
                  <c:v>0.99</c:v>
                </c:pt>
              </c:numCache>
            </c:numRef>
          </c:xVal>
          <c:yVal>
            <c:numRef>
              <c:f>Sheet1!$B$2:$B$100</c:f>
              <c:numCache>
                <c:formatCode>General</c:formatCode>
                <c:ptCount val="99"/>
                <c:pt idx="0">
                  <c:v>0.056001534354847345</c:v>
                </c:pt>
                <c:pt idx="1">
                  <c:v>0.098039113279732</c:v>
                </c:pt>
                <c:pt idx="2">
                  <c:v>0.13474216817976675</c:v>
                </c:pt>
                <c:pt idx="3">
                  <c:v>0.167944147734173</c:v>
                </c:pt>
                <c:pt idx="4">
                  <c:v>0.1985152433458726</c:v>
                </c:pt>
                <c:pt idx="5">
                  <c:v>0.22696752250060448</c:v>
                </c:pt>
                <c:pt idx="6">
                  <c:v>0.2536389469216915</c:v>
                </c:pt>
                <c:pt idx="7">
                  <c:v>0.2787693717685874</c:v>
                </c:pt>
                <c:pt idx="8">
                  <c:v>0.30253782309749805</c:v>
                </c:pt>
                <c:pt idx="9">
                  <c:v>0.3250829733914482</c:v>
                </c:pt>
                <c:pt idx="10">
                  <c:v>0.34651533691866615</c:v>
                </c:pt>
                <c:pt idx="11">
                  <c:v>0.3669249912727096</c:v>
                </c:pt>
                <c:pt idx="12">
                  <c:v>0.3863867062886037</c:v>
                </c:pt>
                <c:pt idx="13">
                  <c:v>0.40496348506393853</c:v>
                </c:pt>
                <c:pt idx="14">
                  <c:v>0.42270908780599087</c:v>
                </c:pt>
                <c:pt idx="15">
                  <c:v>0.439669879401343</c:v>
                </c:pt>
                <c:pt idx="16">
                  <c:v>0.4558862130273584</c:v>
                </c:pt>
                <c:pt idx="17">
                  <c:v>0.4713934868100941</c:v>
                </c:pt>
                <c:pt idx="18">
                  <c:v>0.4862229646617922</c:v>
                </c:pt>
                <c:pt idx="19">
                  <c:v>0.5004024235381879</c:v>
                </c:pt>
                <c:pt idx="20">
                  <c:v>0.5139566706172256</c:v>
                </c:pt>
                <c:pt idx="21">
                  <c:v>0.5269079614313803</c:v>
                </c:pt>
                <c:pt idx="22">
                  <c:v>0.5392763414970504</c:v>
                </c:pt>
                <c:pt idx="23">
                  <c:v>0.5510799280869728</c:v>
                </c:pt>
                <c:pt idx="24">
                  <c:v>0.5623351446188083</c:v>
                </c:pt>
                <c:pt idx="25">
                  <c:v>0.5730569171314204</c:v>
                </c:pt>
                <c:pt idx="26">
                  <c:v>0.583258840128597</c:v>
                </c:pt>
                <c:pt idx="27">
                  <c:v>0.5929533174474745</c:v>
                </c:pt>
                <c:pt idx="28">
                  <c:v>0.60215168259268</c:v>
                </c:pt>
                <c:pt idx="29">
                  <c:v>0.6108643020548935</c:v>
                </c:pt>
                <c:pt idx="30">
                  <c:v>0.6191006644255871</c:v>
                </c:pt>
                <c:pt idx="31">
                  <c:v>0.6268694575724264</c:v>
                </c:pt>
                <c:pt idx="32">
                  <c:v>0.6341786357122057</c:v>
                </c:pt>
                <c:pt idx="33">
                  <c:v>0.6410354778811557</c:v>
                </c:pt>
                <c:pt idx="34">
                  <c:v>0.6474466390346325</c:v>
                </c:pt>
                <c:pt idx="35">
                  <c:v>0.6534181947937018</c:v>
                </c:pt>
                <c:pt idx="36">
                  <c:v>0.6589556806830628</c:v>
                </c:pt>
                <c:pt idx="37">
                  <c:v>0.6640641265641081</c:v>
                </c:pt>
                <c:pt idx="38">
                  <c:v>0.6687480868518094</c:v>
                </c:pt>
                <c:pt idx="39">
                  <c:v>0.6730116670092565</c:v>
                </c:pt>
                <c:pt idx="40">
                  <c:v>0.6768585467349506</c:v>
                </c:pt>
                <c:pt idx="41">
                  <c:v>0.6802920001921535</c:v>
                </c:pt>
                <c:pt idx="42">
                  <c:v>0.6833149135741658</c:v>
                </c:pt>
                <c:pt idx="43">
                  <c:v>0.6859298002523728</c:v>
                </c:pt>
                <c:pt idx="44">
                  <c:v>0.6881388137135884</c:v>
                </c:pt>
                <c:pt idx="45">
                  <c:v>0.6899437584583995</c:v>
                </c:pt>
                <c:pt idx="46">
                  <c:v>0.6913460990017393</c:v>
                </c:pt>
                <c:pt idx="47">
                  <c:v>0.6923469670899615</c:v>
                </c:pt>
                <c:pt idx="48">
                  <c:v>0.6929471672244782</c:v>
                </c:pt>
                <c:pt idx="49">
                  <c:v>0.6931471805599453</c:v>
                </c:pt>
                <c:pt idx="50">
                  <c:v>0.6929471672244782</c:v>
                </c:pt>
                <c:pt idx="51">
                  <c:v>0.6923469670899615</c:v>
                </c:pt>
                <c:pt idx="52">
                  <c:v>0.6913460990017393</c:v>
                </c:pt>
                <c:pt idx="53">
                  <c:v>0.6899437584583995</c:v>
                </c:pt>
                <c:pt idx="54">
                  <c:v>0.6881388137135884</c:v>
                </c:pt>
                <c:pt idx="55">
                  <c:v>0.6859298002523728</c:v>
                </c:pt>
                <c:pt idx="56">
                  <c:v>0.683314913574166</c:v>
                </c:pt>
                <c:pt idx="57">
                  <c:v>0.6802920001921535</c:v>
                </c:pt>
                <c:pt idx="58">
                  <c:v>0.6768585467349507</c:v>
                </c:pt>
                <c:pt idx="59">
                  <c:v>0.6730116670092565</c:v>
                </c:pt>
                <c:pt idx="60">
                  <c:v>0.6687480868518094</c:v>
                </c:pt>
                <c:pt idx="61">
                  <c:v>0.6640641265641081</c:v>
                </c:pt>
                <c:pt idx="62">
                  <c:v>0.6589556806830628</c:v>
                </c:pt>
                <c:pt idx="63">
                  <c:v>0.6534181947937018</c:v>
                </c:pt>
                <c:pt idx="64">
                  <c:v>0.6474466390346325</c:v>
                </c:pt>
                <c:pt idx="65">
                  <c:v>0.6410354778811556</c:v>
                </c:pt>
                <c:pt idx="66">
                  <c:v>0.6341786357122057</c:v>
                </c:pt>
                <c:pt idx="67">
                  <c:v>0.6268694575724263</c:v>
                </c:pt>
                <c:pt idx="68">
                  <c:v>0.6191006644255871</c:v>
                </c:pt>
                <c:pt idx="69">
                  <c:v>0.6108643020548935</c:v>
                </c:pt>
                <c:pt idx="70">
                  <c:v>0.60215168259268</c:v>
                </c:pt>
                <c:pt idx="71">
                  <c:v>0.5929533174474745</c:v>
                </c:pt>
                <c:pt idx="72">
                  <c:v>0.583258840128597</c:v>
                </c:pt>
                <c:pt idx="73">
                  <c:v>0.5730569171314204</c:v>
                </c:pt>
                <c:pt idx="74">
                  <c:v>0.5623351446188083</c:v>
                </c:pt>
                <c:pt idx="75">
                  <c:v>0.5510799280869728</c:v>
                </c:pt>
                <c:pt idx="76">
                  <c:v>0.5392763414970504</c:v>
                </c:pt>
                <c:pt idx="77">
                  <c:v>0.5269079614313803</c:v>
                </c:pt>
                <c:pt idx="78">
                  <c:v>0.5139566706172256</c:v>
                </c:pt>
                <c:pt idx="79">
                  <c:v>0.5004024235381879</c:v>
                </c:pt>
                <c:pt idx="80">
                  <c:v>0.48622296466179216</c:v>
                </c:pt>
                <c:pt idx="81">
                  <c:v>0.47139348681009424</c:v>
                </c:pt>
                <c:pt idx="82">
                  <c:v>0.45588621302735843</c:v>
                </c:pt>
                <c:pt idx="83">
                  <c:v>0.439669879401343</c:v>
                </c:pt>
                <c:pt idx="84">
                  <c:v>0.4227090878059909</c:v>
                </c:pt>
                <c:pt idx="85">
                  <c:v>0.40496348506393853</c:v>
                </c:pt>
                <c:pt idx="86">
                  <c:v>0.3863867062886037</c:v>
                </c:pt>
                <c:pt idx="87">
                  <c:v>0.3669249912727096</c:v>
                </c:pt>
                <c:pt idx="88">
                  <c:v>0.34651533691866615</c:v>
                </c:pt>
                <c:pt idx="89">
                  <c:v>0.3250829733914482</c:v>
                </c:pt>
                <c:pt idx="90">
                  <c:v>0.302537823097498</c:v>
                </c:pt>
                <c:pt idx="91">
                  <c:v>0.2787693717685873</c:v>
                </c:pt>
                <c:pt idx="92">
                  <c:v>0.2536389469216913</c:v>
                </c:pt>
                <c:pt idx="93">
                  <c:v>0.22696752250060453</c:v>
                </c:pt>
                <c:pt idx="94">
                  <c:v>0.19851524334587267</c:v>
                </c:pt>
                <c:pt idx="95">
                  <c:v>0.16794414773417304</c:v>
                </c:pt>
                <c:pt idx="96">
                  <c:v>0.13474216817976684</c:v>
                </c:pt>
                <c:pt idx="97">
                  <c:v>0.09803911327973205</c:v>
                </c:pt>
                <c:pt idx="98">
                  <c:v>0.056001534354847386</c:v>
                </c:pt>
              </c:numCache>
            </c:numRef>
          </c:yVal>
          <c:smooth val="0"/>
        </c:ser>
        <c:axId val="-2128940872"/>
        <c:axId val="-2129643912"/>
      </c:scatterChart>
      <c:valAx>
        <c:axId val="-2128940872"/>
        <c:scaling>
          <c:orientation val="minMax"/>
          <c:max val="1.0"/>
          <c:min val="0.0"/>
        </c:scaling>
        <c:delete val="0"/>
        <c:axPos val="b"/>
        <c:majorGridlines>
          <c:spPr>
            <a:ln w="6350">
              <a:solidFill>
                <a:srgbClr val="D6E0E8"/>
              </a:solidFill>
            </a:ln>
          </c:spPr>
        </c:majorGridlines>
        <c:title>
          <c:tx>
            <c:rich>
              <a:bodyPr/>
              <a:lstStyle/>
              <a:p>
                <a:r>
                  <a:rPr sz="1000" b="0">
                    <a:solidFill>
                      <a:srgbClr val="5A6A7A"/>
                    </a:solidFill>
                    <a:latin typeface="Calibri"/>
                  </a:rPr>
                  <a:t>Xác suất đúng đã hiệu chuẩn p̂</a:t>
                </a:r>
              </a:p>
            </c:rich>
          </c:tx>
          <c:layout/>
          <c:overlay val="0"/>
        </c:title>
        <c:numFmt formatCode="0.00" sourceLinked="0"/>
        <c:majorTickMark val="out"/>
        <c:minorTickMark val="none"/>
        <c:tickLblPos val="nextTo"/>
        <c:spPr>
          <a:ln>
            <a:solidFill>
              <a:srgbClr val="D6E0E8"/>
            </a:solidFill>
          </a:ln>
        </c:spPr>
        <c:txPr>
          <a:bodyPr/>
          <a:lstStyle/>
          <a:p>
            <a:pPr>
              <a:defRPr sz="1000"/>
            </a:pPr>
          </a:p>
        </c:txPr>
        <c:crossAx val="-2129643912"/>
        <c:crosses val="autoZero"/>
        <c:crossBetween val="midCat"/>
        <c:majorUnit val="0.25"/>
      </c:valAx>
      <c:valAx>
        <c:axId val="-2129643912"/>
        <c:scaling>
          <c:orientation val="minMax"/>
          <c:max val="0.75"/>
          <c:min val="0.0"/>
        </c:scaling>
        <c:delete val="0"/>
        <c:axPos val="l"/>
        <c:majorGridlines>
          <c:spPr>
            <a:ln w="6350">
              <a:solidFill>
                <a:srgbClr val="D6E0E8"/>
              </a:solidFill>
            </a:ln>
          </c:spPr>
        </c:majorGridlines>
        <c:title>
          <c:tx>
            <c:rich>
              <a:bodyPr/>
              <a:lstStyle/>
              <a:p>
                <a:r>
                  <a:rPr sz="1000" b="0">
                    <a:solidFill>
                      <a:srgbClr val="5A6A7A"/>
                    </a:solidFill>
                    <a:latin typeface="Calibri"/>
                  </a:rPr>
                  <a:t>h_b (nat)</a:t>
                </a:r>
              </a:p>
            </c:rich>
          </c:tx>
          <c:layout/>
          <c:overlay val="0"/>
        </c:title>
        <c:numFmt formatCode="0.00" sourceLinked="0"/>
        <c:majorTickMark val="out"/>
        <c:minorTickMark val="none"/>
        <c:tickLblPos val="nextTo"/>
        <c:spPr>
          <a:ln>
            <a:solidFill>
              <a:srgbClr val="D6E0E8"/>
            </a:solidFill>
          </a:ln>
        </c:spPr>
        <c:txPr>
          <a:bodyPr/>
          <a:lstStyle/>
          <a:p>
            <a:pPr>
              <a:defRPr sz="1000"/>
            </a:pPr>
          </a:p>
        </c:txPr>
        <c:crossAx val="-2128940872"/>
        <c:crosses val="autoZero"/>
        <c:crossBetween val="midCat"/>
        <c:majorUnit val="0.25"/>
      </c:valAx>
    </c:plotArea>
    <c:plotVisOnly val="1"/>
    <c:dispBlanksAs val="gap"/>
    <c:showDLblsOverMax val="0"/>
  </c:chart>
  <c:txPr>
    <a:bodyPr/>
    <a:lstStyle/>
    <a:p>
      <a:pPr>
        <a:defRPr sz="1000">
          <a:solidFill>
            <a:srgbClr val="5A6A7A"/>
          </a:solidFill>
          <a:latin typeface="Calibri"/>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43"/>
        </a:solidFill>
        <a:effectLst/>
      </p:bgPr>
    </p:bg>
    <p:spTree>
      <p:nvGrpSpPr>
        <p:cNvPr id="1" name=""/>
        <p:cNvGrpSpPr/>
        <p:nvPr/>
      </p:nvGrpSpPr>
      <p:grpSpPr/>
      <p:sp>
        <p:nvSpPr>
          <p:cNvPr id="2" name="TextBox 1"/>
          <p:cNvSpPr txBox="1"/>
          <p:nvPr/>
        </p:nvSpPr>
        <p:spPr>
          <a:xfrm>
            <a:off x="640080" y="548640"/>
            <a:ext cx="7315200" cy="274320"/>
          </a:xfrm>
          <a:prstGeom prst="rect">
            <a:avLst/>
          </a:prstGeom>
          <a:noFill/>
        </p:spPr>
        <p:txBody>
          <a:bodyPr wrap="square" lIns="0" rIns="0" tIns="0" bIns="0" anchor="t">
            <a:spAutoFit/>
          </a:bodyPr>
          <a:lstStyle/>
          <a:p>
            <a:pPr algn="l">
              <a:spcBef>
                <a:spcPts val="0"/>
              </a:spcBef>
              <a:spcAft>
                <a:spcPts val="0"/>
              </a:spcAft>
            </a:pPr>
            <a:r>
              <a:rPr sz="1300" b="1" i="0">
                <a:solidFill>
                  <a:srgbClr val="7FD6CB"/>
                </a:solidFill>
                <a:latin typeface="Calibri"/>
              </a:rPr>
              <a:t>ĐỀ ÁN TỐT NGHIỆP · PROPOSAL CHO BiTTA</a:t>
            </a:r>
          </a:p>
        </p:txBody>
      </p:sp>
      <p:sp>
        <p:nvSpPr>
          <p:cNvPr id="3" name="TextBox 2"/>
          <p:cNvSpPr txBox="1"/>
          <p:nvPr/>
        </p:nvSpPr>
        <p:spPr>
          <a:xfrm>
            <a:off x="640080" y="1234440"/>
            <a:ext cx="6766560" cy="2377440"/>
          </a:xfrm>
          <a:prstGeom prst="rect">
            <a:avLst/>
          </a:prstGeom>
          <a:noFill/>
        </p:spPr>
        <p:txBody>
          <a:bodyPr wrap="square" lIns="0" rIns="0" tIns="0" bIns="0" anchor="t">
            <a:spAutoFit/>
          </a:bodyPr>
          <a:lstStyle/>
          <a:p>
            <a:pPr algn="l">
              <a:spcBef>
                <a:spcPts val="0"/>
              </a:spcBef>
              <a:spcAft>
                <a:spcPts val="400"/>
              </a:spcAft>
            </a:pPr>
            <a:r>
              <a:rPr sz="3800" b="1" i="0">
                <a:solidFill>
                  <a:srgbClr val="FFFFFF"/>
                </a:solidFill>
                <a:latin typeface="Cambria"/>
              </a:rPr>
              <a:t>Chọn mẫu tối đa hoá thông tin</a:t>
            </a:r>
          </a:p>
          <a:p>
            <a:pPr algn="l">
              <a:spcBef>
                <a:spcPts val="0"/>
              </a:spcBef>
              <a:spcAft>
                <a:spcPts val="0"/>
              </a:spcAft>
            </a:pPr>
            <a:r>
              <a:rPr sz="3000" b="1" i="0">
                <a:solidFill>
                  <a:srgbClr val="B9D7EA"/>
                </a:solidFill>
                <a:latin typeface="Cambria"/>
              </a:rPr>
              <a:t>cho Test-Time Adaptation với phản hồi nhị phân</a:t>
            </a:r>
          </a:p>
        </p:txBody>
      </p:sp>
      <p:sp>
        <p:nvSpPr>
          <p:cNvPr id="4" name="TextBox 3"/>
          <p:cNvSpPr txBox="1"/>
          <p:nvPr/>
        </p:nvSpPr>
        <p:spPr>
          <a:xfrm>
            <a:off x="640080" y="3794760"/>
            <a:ext cx="6583680" cy="1188720"/>
          </a:xfrm>
          <a:prstGeom prst="rect">
            <a:avLst/>
          </a:prstGeom>
          <a:noFill/>
        </p:spPr>
        <p:txBody>
          <a:bodyPr wrap="square" lIns="0" rIns="0" tIns="0" bIns="0" anchor="t">
            <a:spAutoFit/>
          </a:bodyPr>
          <a:lstStyle/>
          <a:p>
            <a:pPr algn="l">
              <a:spcBef>
                <a:spcPts val="0"/>
              </a:spcBef>
              <a:spcAft>
                <a:spcPts val="600"/>
              </a:spcAft>
            </a:pPr>
            <a:r>
              <a:rPr sz="1600" b="0" i="0">
                <a:solidFill>
                  <a:srgbClr val="D6E6F2"/>
                </a:solidFill>
                <a:latin typeface="Calibri"/>
              </a:rPr>
              <a:t>Vấn đề cần giải quyết  ·  Cách giải quyết  ·  Lý do lựa chọn</a:t>
            </a:r>
          </a:p>
          <a:p>
            <a:pPr algn="l">
              <a:spcBef>
                <a:spcPts val="0"/>
              </a:spcBef>
              <a:spcAft>
                <a:spcPts val="0"/>
              </a:spcAft>
            </a:pPr>
            <a:r>
              <a:rPr sz="1600" b="0" i="0">
                <a:solidFill>
                  <a:srgbClr val="D6E6F2"/>
                </a:solidFill>
                <a:latin typeface="Calibri"/>
              </a:rPr>
              <a:t>Cơ sở toán học: hiệu chuẩn Platt, entropy nhị phân, tối ưu LBFGS</a:t>
            </a:r>
          </a:p>
        </p:txBody>
      </p:sp>
      <p:sp>
        <p:nvSpPr>
          <p:cNvPr id="5" name="TextBox 4"/>
          <p:cNvSpPr txBox="1"/>
          <p:nvPr/>
        </p:nvSpPr>
        <p:spPr>
          <a:xfrm>
            <a:off x="640080" y="5806440"/>
            <a:ext cx="6858000" cy="640080"/>
          </a:xfrm>
          <a:prstGeom prst="rect">
            <a:avLst/>
          </a:prstGeom>
          <a:noFill/>
        </p:spPr>
        <p:txBody>
          <a:bodyPr wrap="square" lIns="0" rIns="0" tIns="0" bIns="0" anchor="t">
            <a:spAutoFit/>
          </a:bodyPr>
          <a:lstStyle/>
          <a:p>
            <a:pPr algn="l">
              <a:spcBef>
                <a:spcPts val="0"/>
              </a:spcBef>
              <a:spcAft>
                <a:spcPts val="200"/>
              </a:spcAft>
            </a:pPr>
            <a:r>
              <a:rPr sz="1300" b="1" i="0">
                <a:solidFill>
                  <a:srgbClr val="FFFFFF"/>
                </a:solidFill>
                <a:latin typeface="Calibri"/>
              </a:rPr>
              <a:t>PHẠM BÌNH NGHĨA</a:t>
            </a:r>
          </a:p>
          <a:p>
            <a:pPr algn="l">
              <a:spcBef>
                <a:spcPts val="0"/>
              </a:spcBef>
              <a:spcAft>
                <a:spcPts val="0"/>
              </a:spcAft>
            </a:pPr>
            <a:r>
              <a:rPr sz="1200" b="0" i="0">
                <a:solidFill>
                  <a:srgbClr val="9FB8CC"/>
                </a:solidFill>
                <a:latin typeface="Calibri"/>
              </a:rPr>
              <a:t>Nền tảng: BiTTA — Lee et al., ICML 2025 (Test-Time Adaptation with Binary Feedback)</a:t>
            </a:r>
          </a:p>
        </p:txBody>
      </p:sp>
      <p:sp>
        <p:nvSpPr>
          <p:cNvPr id="6" name="Rounded Rectangle 5"/>
          <p:cNvSpPr/>
          <p:nvPr/>
        </p:nvSpPr>
        <p:spPr>
          <a:xfrm>
            <a:off x="7772400" y="1371600"/>
            <a:ext cx="3749039" cy="2148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ars_lowest.png"/>
          <p:cNvPicPr>
            <a:picLocks noChangeAspect="1"/>
          </p:cNvPicPr>
          <p:nvPr/>
        </p:nvPicPr>
        <p:blipFill>
          <a:blip r:embed="rId2"/>
          <a:stretch>
            <a:fillRect/>
          </a:stretch>
        </p:blipFill>
        <p:spPr>
          <a:xfrm>
            <a:off x="8595360" y="1463040"/>
            <a:ext cx="1463040" cy="1463040"/>
          </a:xfrm>
          <a:prstGeom prst="rect">
            <a:avLst/>
          </a:prstGeom>
        </p:spPr>
      </p:pic>
      <p:sp>
        <p:nvSpPr>
          <p:cNvPr id="8" name="TextBox 7"/>
          <p:cNvSpPr txBox="1"/>
          <p:nvPr/>
        </p:nvSpPr>
        <p:spPr>
          <a:xfrm>
            <a:off x="7909560" y="2926080"/>
            <a:ext cx="3474720" cy="502920"/>
          </a:xfrm>
          <a:prstGeom prst="rect">
            <a:avLst/>
          </a:prstGeom>
          <a:noFill/>
        </p:spPr>
        <p:txBody>
          <a:bodyPr wrap="square" lIns="0" rIns="0" tIns="0" bIns="0" anchor="t">
            <a:spAutoFit/>
          </a:bodyPr>
          <a:lstStyle/>
          <a:p>
            <a:pPr algn="ctr">
              <a:spcBef>
                <a:spcPts val="0"/>
              </a:spcBef>
              <a:spcAft>
                <a:spcPts val="0"/>
              </a:spcAft>
            </a:pPr>
            <a:r>
              <a:rPr sz="1300" b="1" i="0">
                <a:solidFill>
                  <a:srgbClr val="1B2733"/>
                </a:solidFill>
                <a:latin typeface="Calibri"/>
              </a:rPr>
              <a:t>BiTTA gốc (Eq. 6)</a:t>
            </a:r>
          </a:p>
          <a:p>
            <a:pPr algn="ctr">
              <a:spcBef>
                <a:spcPts val="0"/>
              </a:spcBef>
              <a:spcAft>
                <a:spcPts val="0"/>
              </a:spcAft>
            </a:pPr>
            <a:r>
              <a:rPr sz="1150" b="0" i="0">
                <a:solidFill>
                  <a:srgbClr val="5A6A7A"/>
                </a:solidFill>
                <a:latin typeface="Calibri"/>
              </a:rPr>
              <a:t>chọn mẫu có confidence thấp nhất</a:t>
            </a:r>
          </a:p>
        </p:txBody>
      </p:sp>
      <p:sp>
        <p:nvSpPr>
          <p:cNvPr id="9" name="Right Arrow 8"/>
          <p:cNvSpPr/>
          <p:nvPr/>
        </p:nvSpPr>
        <p:spPr>
          <a:xfrm rot="5400000">
            <a:off x="9464040" y="3611880"/>
            <a:ext cx="457200" cy="146304"/>
          </a:xfrm>
          <a:prstGeom prst="rightArrow">
            <a:avLst>
              <a:gd name="adj1" fmla="val 50000"/>
              <a:gd name="adj2" fmla="val 60000"/>
            </a:avLst>
          </a:prstGeom>
          <a:solidFill>
            <a:srgbClr val="7FD6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772400" y="3977639"/>
            <a:ext cx="3749039" cy="2148840"/>
          </a:xfrm>
          <a:prstGeom prst="roundRect">
            <a:avLst>
              <a:gd name="adj" fmla="val 5000"/>
            </a:avLst>
          </a:prstGeom>
          <a:solidFill>
            <a:srgbClr val="FFFFFF"/>
          </a:solidFill>
          <a:ln w="28575">
            <a:solidFill>
              <a:srgbClr val="A568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rs_calibrated.png"/>
          <p:cNvPicPr>
            <a:picLocks noChangeAspect="1"/>
          </p:cNvPicPr>
          <p:nvPr/>
        </p:nvPicPr>
        <p:blipFill>
          <a:blip r:embed="rId3"/>
          <a:stretch>
            <a:fillRect/>
          </a:stretch>
        </p:blipFill>
        <p:spPr>
          <a:xfrm>
            <a:off x="8595360" y="4069080"/>
            <a:ext cx="1463040" cy="1463040"/>
          </a:xfrm>
          <a:prstGeom prst="rect">
            <a:avLst/>
          </a:prstGeom>
        </p:spPr>
      </p:pic>
      <p:sp>
        <p:nvSpPr>
          <p:cNvPr id="12" name="TextBox 11"/>
          <p:cNvSpPr txBox="1"/>
          <p:nvPr/>
        </p:nvSpPr>
        <p:spPr>
          <a:xfrm>
            <a:off x="7909560" y="5532120"/>
            <a:ext cx="3474720" cy="502920"/>
          </a:xfrm>
          <a:prstGeom prst="rect">
            <a:avLst/>
          </a:prstGeom>
          <a:noFill/>
        </p:spPr>
        <p:txBody>
          <a:bodyPr wrap="square" lIns="0" rIns="0" tIns="0" bIns="0" anchor="t">
            <a:spAutoFit/>
          </a:bodyPr>
          <a:lstStyle/>
          <a:p>
            <a:pPr algn="ctr">
              <a:spcBef>
                <a:spcPts val="0"/>
              </a:spcBef>
              <a:spcAft>
                <a:spcPts val="0"/>
              </a:spcAft>
            </a:pPr>
            <a:r>
              <a:rPr sz="1300" b="1" i="0">
                <a:solidFill>
                  <a:srgbClr val="A5680B"/>
                </a:solidFill>
                <a:latin typeface="Calibri"/>
              </a:rPr>
              <a:t>Proposal</a:t>
            </a:r>
          </a:p>
          <a:p>
            <a:pPr algn="ctr">
              <a:spcBef>
                <a:spcPts val="0"/>
              </a:spcBef>
              <a:spcAft>
                <a:spcPts val="0"/>
              </a:spcAft>
            </a:pPr>
            <a:r>
              <a:rPr sz="1150" b="0" i="0">
                <a:solidFill>
                  <a:srgbClr val="5A6A7A"/>
                </a:solidFill>
                <a:latin typeface="Calibri"/>
              </a:rPr>
              <a:t>chọn mẫu có entropy nhị phân đã hiệu chuẩn lớn nhất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1 · BỐI CẢNH</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BiTTA gốc: thích ứng bằng phản hồi nhị phân (Lee et al., ICML 2025)</a:t>
            </a:r>
          </a:p>
        </p:txBody>
      </p:sp>
      <p:sp>
        <p:nvSpPr>
          <p:cNvPr id="4" name="Oval 3"/>
          <p:cNvSpPr/>
          <p:nvPr/>
        </p:nvSpPr>
        <p:spPr>
          <a:xfrm>
            <a:off x="548640" y="1600200"/>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1</a:t>
            </a:r>
          </a:p>
        </p:txBody>
      </p:sp>
      <p:sp>
        <p:nvSpPr>
          <p:cNvPr id="5" name="TextBox 4"/>
          <p:cNvSpPr txBox="1"/>
          <p:nvPr/>
        </p:nvSpPr>
        <p:spPr>
          <a:xfrm>
            <a:off x="1097280" y="1554480"/>
            <a:ext cx="6309360" cy="868680"/>
          </a:xfrm>
          <a:prstGeom prst="rect">
            <a:avLst/>
          </a:prstGeom>
          <a:noFill/>
        </p:spPr>
        <p:txBody>
          <a:bodyPr wrap="square" lIns="0" rIns="0" tIns="0" bIns="0" anchor="t">
            <a:spAutoFit/>
          </a:bodyPr>
          <a:lstStyle/>
          <a:p>
            <a:pPr algn="l">
              <a:spcBef>
                <a:spcPts val="0"/>
              </a:spcBef>
              <a:spcAft>
                <a:spcPts val="100"/>
              </a:spcAft>
            </a:pPr>
            <a:r>
              <a:rPr sz="1500" b="1" i="0">
                <a:solidFill>
                  <a:srgbClr val="1B2733"/>
                </a:solidFill>
                <a:latin typeface="Calibri"/>
              </a:rPr>
              <a:t>Batch 64 ảnh test</a:t>
            </a:r>
          </a:p>
          <a:p>
            <a:pPr algn="l">
              <a:spcBef>
                <a:spcPts val="0"/>
              </a:spcBef>
              <a:spcAft>
                <a:spcPts val="0"/>
              </a:spcAft>
            </a:pPr>
            <a:r>
              <a:rPr sz="1250" b="0" i="0">
                <a:solidFill>
                  <a:srgbClr val="5A6A7A"/>
                </a:solidFill>
                <a:latin typeface="Calibri"/>
              </a:rPr>
              <a:t>Dự đoán deterministic ŷ* = argmax f_θ(x) cho mọi ảnh (không dropout).</a:t>
            </a:r>
          </a:p>
        </p:txBody>
      </p:sp>
      <p:sp>
        <p:nvSpPr>
          <p:cNvPr id="6" name="Oval 5"/>
          <p:cNvSpPr/>
          <p:nvPr/>
        </p:nvSpPr>
        <p:spPr>
          <a:xfrm>
            <a:off x="548640" y="2514600"/>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2</a:t>
            </a:r>
          </a:p>
        </p:txBody>
      </p:sp>
      <p:sp>
        <p:nvSpPr>
          <p:cNvPr id="7" name="TextBox 6"/>
          <p:cNvSpPr txBox="1"/>
          <p:nvPr/>
        </p:nvSpPr>
        <p:spPr>
          <a:xfrm>
            <a:off x="1097280" y="2468880"/>
            <a:ext cx="6309360" cy="868680"/>
          </a:xfrm>
          <a:prstGeom prst="rect">
            <a:avLst/>
          </a:prstGeom>
          <a:noFill/>
        </p:spPr>
        <p:txBody>
          <a:bodyPr wrap="square" lIns="0" rIns="0" tIns="0" bIns="0" anchor="t">
            <a:spAutoFit/>
          </a:bodyPr>
          <a:lstStyle/>
          <a:p>
            <a:pPr algn="l">
              <a:spcBef>
                <a:spcPts val="0"/>
              </a:spcBef>
              <a:spcAft>
                <a:spcPts val="100"/>
              </a:spcAft>
            </a:pPr>
            <a:r>
              <a:rPr sz="1500" b="1" i="0">
                <a:solidFill>
                  <a:srgbClr val="1B2733"/>
                </a:solidFill>
                <a:latin typeface="Calibri"/>
              </a:rPr>
              <a:t>Đo độ tự tin bằng MC-Dropout</a:t>
            </a:r>
          </a:p>
          <a:p>
            <a:pPr algn="l">
              <a:spcBef>
                <a:spcPts val="0"/>
              </a:spcBef>
              <a:spcAft>
                <a:spcPts val="0"/>
              </a:spcAft>
            </a:pPr>
            <a:r>
              <a:rPr sz="1250" b="0" i="0">
                <a:solidFill>
                  <a:srgbClr val="5A6A7A"/>
                </a:solidFill>
                <a:latin typeface="Calibri"/>
              </a:rPr>
              <a:t>Chạy N = 4 lần forward có dropout → C(x) = π_θ(y*|x), xác suất trung bình của lớp đã chọn.</a:t>
            </a:r>
          </a:p>
        </p:txBody>
      </p:sp>
      <p:sp>
        <p:nvSpPr>
          <p:cNvPr id="8" name="Oval 7"/>
          <p:cNvSpPr/>
          <p:nvPr/>
        </p:nvSpPr>
        <p:spPr>
          <a:xfrm>
            <a:off x="548640" y="3429000"/>
            <a:ext cx="384048" cy="384048"/>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3</a:t>
            </a:r>
          </a:p>
        </p:txBody>
      </p:sp>
      <p:sp>
        <p:nvSpPr>
          <p:cNvPr id="9" name="TextBox 8"/>
          <p:cNvSpPr txBox="1"/>
          <p:nvPr/>
        </p:nvSpPr>
        <p:spPr>
          <a:xfrm>
            <a:off x="1097280" y="3383280"/>
            <a:ext cx="6309360" cy="868680"/>
          </a:xfrm>
          <a:prstGeom prst="rect">
            <a:avLst/>
          </a:prstGeom>
          <a:noFill/>
        </p:spPr>
        <p:txBody>
          <a:bodyPr wrap="square" lIns="0" rIns="0" tIns="0" bIns="0" anchor="t">
            <a:spAutoFit/>
          </a:bodyPr>
          <a:lstStyle/>
          <a:p>
            <a:pPr algn="l">
              <a:spcBef>
                <a:spcPts val="0"/>
              </a:spcBef>
              <a:spcAft>
                <a:spcPts val="100"/>
              </a:spcAft>
            </a:pPr>
            <a:r>
              <a:rPr sz="1500" b="1" i="0">
                <a:solidFill>
                  <a:srgbClr val="A5680B"/>
                </a:solidFill>
                <a:latin typeface="Calibri"/>
              </a:rPr>
              <a:t>Chọn k = 3 ảnh để hỏi (Eq. 6)</a:t>
            </a:r>
          </a:p>
          <a:p>
            <a:pPr algn="l">
              <a:spcBef>
                <a:spcPts val="0"/>
              </a:spcBef>
              <a:spcAft>
                <a:spcPts val="0"/>
              </a:spcAft>
            </a:pPr>
            <a:r>
              <a:rPr sz="1250" b="0" i="0">
                <a:solidFill>
                  <a:srgbClr val="5A6A7A"/>
                </a:solidFill>
                <a:latin typeface="Calibri"/>
              </a:rPr>
              <a:t>BiTTA gốc lấy 3 ảnh có C(x) THẤP NHẤT rồi hỏi oracle: dự đoán đúng hay sai?</a:t>
            </a:r>
          </a:p>
        </p:txBody>
      </p:sp>
      <p:sp>
        <p:nvSpPr>
          <p:cNvPr id="10" name="Oval 9"/>
          <p:cNvSpPr/>
          <p:nvPr/>
        </p:nvSpPr>
        <p:spPr>
          <a:xfrm>
            <a:off x="548640" y="4343400"/>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4</a:t>
            </a:r>
          </a:p>
        </p:txBody>
      </p:sp>
      <p:sp>
        <p:nvSpPr>
          <p:cNvPr id="11" name="TextBox 10"/>
          <p:cNvSpPr txBox="1"/>
          <p:nvPr/>
        </p:nvSpPr>
        <p:spPr>
          <a:xfrm>
            <a:off x="1097280" y="4297680"/>
            <a:ext cx="6309360" cy="868680"/>
          </a:xfrm>
          <a:prstGeom prst="rect">
            <a:avLst/>
          </a:prstGeom>
          <a:noFill/>
        </p:spPr>
        <p:txBody>
          <a:bodyPr wrap="square" lIns="0" rIns="0" tIns="0" bIns="0" anchor="t">
            <a:spAutoFit/>
          </a:bodyPr>
          <a:lstStyle/>
          <a:p>
            <a:pPr algn="l">
              <a:spcBef>
                <a:spcPts val="0"/>
              </a:spcBef>
              <a:spcAft>
                <a:spcPts val="100"/>
              </a:spcAft>
            </a:pPr>
            <a:r>
              <a:rPr sz="1500" b="1" i="0">
                <a:solidFill>
                  <a:srgbClr val="1B2733"/>
                </a:solidFill>
                <a:latin typeface="Calibri"/>
              </a:rPr>
              <a:t>Phân loại theo câu trả lời</a:t>
            </a:r>
          </a:p>
          <a:p>
            <a:pPr algn="l">
              <a:spcBef>
                <a:spcPts val="0"/>
              </a:spcBef>
              <a:spcAft>
                <a:spcPts val="0"/>
              </a:spcAft>
            </a:pPr>
            <a:r>
              <a:rPr sz="1250" b="0" i="0">
                <a:solidFill>
                  <a:srgbClr val="5A6A7A"/>
                </a:solidFill>
                <a:latin typeface="Calibri"/>
              </a:rPr>
              <a:t>Đúng → bộ nhớ FIFO M_C; Sai → M_I. Ảnh không hỏi mà deterministic == MC-Dropout → S_ABA.</a:t>
            </a:r>
          </a:p>
        </p:txBody>
      </p:sp>
      <p:sp>
        <p:nvSpPr>
          <p:cNvPr id="12" name="Oval 11"/>
          <p:cNvSpPr/>
          <p:nvPr/>
        </p:nvSpPr>
        <p:spPr>
          <a:xfrm>
            <a:off x="548640" y="5257800"/>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5</a:t>
            </a:r>
          </a:p>
        </p:txBody>
      </p:sp>
      <p:sp>
        <p:nvSpPr>
          <p:cNvPr id="13" name="TextBox 12"/>
          <p:cNvSpPr txBox="1"/>
          <p:nvPr/>
        </p:nvSpPr>
        <p:spPr>
          <a:xfrm>
            <a:off x="1097280" y="5212080"/>
            <a:ext cx="6309360" cy="868680"/>
          </a:xfrm>
          <a:prstGeom prst="rect">
            <a:avLst/>
          </a:prstGeom>
          <a:noFill/>
        </p:spPr>
        <p:txBody>
          <a:bodyPr wrap="square" lIns="0" rIns="0" tIns="0" bIns="0" anchor="t">
            <a:spAutoFit/>
          </a:bodyPr>
          <a:lstStyle/>
          <a:p>
            <a:pPr algn="l">
              <a:spcBef>
                <a:spcPts val="0"/>
              </a:spcBef>
              <a:spcAft>
                <a:spcPts val="100"/>
              </a:spcAft>
            </a:pPr>
            <a:r>
              <a:rPr sz="1500" b="1" i="0">
                <a:solidFill>
                  <a:srgbClr val="1B2733"/>
                </a:solidFill>
                <a:latin typeface="Calibri"/>
              </a:rPr>
              <a:t>Cập nhật mô hình</a:t>
            </a:r>
          </a:p>
          <a:p>
            <a:pPr algn="l">
              <a:spcBef>
                <a:spcPts val="0"/>
              </a:spcBef>
              <a:spcAft>
                <a:spcPts val="0"/>
              </a:spcAft>
            </a:pPr>
            <a:r>
              <a:rPr sz="1250" b="0" i="0">
                <a:solidFill>
                  <a:srgbClr val="5A6A7A"/>
                </a:solidFill>
                <a:latin typeface="Calibri"/>
              </a:rPr>
              <a:t>L = α·L_BFA + β·L_ABA (α = β = 1), θ ← θ − η∇L. Bước 3 là nơi Proposal can thiệp.</a:t>
            </a:r>
          </a:p>
        </p:txBody>
      </p:sp>
      <p:sp>
        <p:nvSpPr>
          <p:cNvPr id="14" name="Rounded Rectangle 13"/>
          <p:cNvSpPr/>
          <p:nvPr/>
        </p:nvSpPr>
        <p:spPr>
          <a:xfrm>
            <a:off x="7772400" y="1554480"/>
            <a:ext cx="3886200" cy="201168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918704" y="170078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6" name="TextBox 15"/>
          <p:cNvSpPr txBox="1"/>
          <p:nvPr/>
        </p:nvSpPr>
        <p:spPr>
          <a:xfrm>
            <a:off x="8357616" y="1664207"/>
            <a:ext cx="3154680" cy="1828800"/>
          </a:xfrm>
          <a:prstGeom prst="rect">
            <a:avLst/>
          </a:prstGeom>
          <a:noFill/>
        </p:spPr>
        <p:txBody>
          <a:bodyPr wrap="square" lIns="0" rIns="0" tIns="0" bIns="0" anchor="t">
            <a:spAutoFit/>
          </a:bodyPr>
          <a:lstStyle/>
          <a:p>
            <a:pPr algn="l">
              <a:spcBef>
                <a:spcPts val="0"/>
              </a:spcBef>
              <a:spcAft>
                <a:spcPts val="300"/>
              </a:spcAft>
            </a:pPr>
            <a:r>
              <a:rPr sz="1150" b="1" i="0">
                <a:solidFill>
                  <a:srgbClr val="A5680B"/>
                </a:solidFill>
                <a:latin typeface="Calibri"/>
              </a:rPr>
              <a:t>Câu hỏi: </a:t>
            </a:r>
            <a:r>
              <a:rPr sz="1150" b="1" i="1">
                <a:solidFill>
                  <a:srgbClr val="1B2733"/>
                </a:solidFill>
                <a:latin typeface="Calibri"/>
              </a:rPr>
              <a:t>Vì sao chỉ hỏi k = 3 trên 64 ảnh?</a:t>
            </a:r>
          </a:p>
          <a:p>
            <a:pPr algn="l">
              <a:spcBef>
                <a:spcPts val="0"/>
              </a:spcBef>
              <a:spcAft>
                <a:spcPts val="0"/>
              </a:spcAft>
            </a:pPr>
            <a:r>
              <a:rPr sz="1150" b="0" i="0">
                <a:solidFill>
                  <a:srgbClr val="1B2733"/>
                </a:solidFill>
                <a:latin typeface="Calibri"/>
              </a:rPr>
              <a:t>Đây là lựa chọn thiết kế của paper: ngân sách nhãn &lt; 5% mô phỏng một annotator chỉ kịp phán đoán vài lần. Paper còn khảo sát k ∈ {0,1,2,3,6,9}. Project giữ k = 3 để khớp protocol gốc và so sánh công bằng.</a:t>
            </a:r>
          </a:p>
        </p:txBody>
      </p:sp>
      <p:sp>
        <p:nvSpPr>
          <p:cNvPr id="17" name="Rounded Rectangle 16"/>
          <p:cNvSpPr/>
          <p:nvPr/>
        </p:nvSpPr>
        <p:spPr>
          <a:xfrm>
            <a:off x="7772400" y="3749039"/>
            <a:ext cx="3886200" cy="251460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36992" y="3880713"/>
            <a:ext cx="3557016" cy="2251252"/>
          </a:xfrm>
          <a:prstGeom prst="rect">
            <a:avLst/>
          </a:prstGeom>
          <a:noFill/>
        </p:spPr>
        <p:txBody>
          <a:bodyPr wrap="square" lIns="0" rIns="0" tIns="0" bIns="0" anchor="t">
            <a:spAutoFit/>
          </a:bodyPr>
          <a:lstStyle/>
          <a:p>
            <a:pPr algn="l">
              <a:spcBef>
                <a:spcPts val="0"/>
              </a:spcBef>
              <a:spcAft>
                <a:spcPts val="400"/>
              </a:spcAft>
            </a:pPr>
            <a:r>
              <a:rPr sz="1300" b="1" i="0">
                <a:solidFill>
                  <a:srgbClr val="0E8F82"/>
                </a:solidFill>
                <a:latin typeface="Calibri"/>
              </a:rPr>
              <a:t>Ký hiệu dùng xuyên suốt</a:t>
            </a:r>
          </a:p>
          <a:p>
            <a:pPr algn="l">
              <a:spcBef>
                <a:spcPts val="0"/>
              </a:spcBef>
              <a:spcAft>
                <a:spcPts val="200"/>
              </a:spcAft>
            </a:pPr>
            <a:r>
              <a:rPr sz="1150" b="1" i="0">
                <a:solidFill>
                  <a:srgbClr val="1B2733"/>
                </a:solidFill>
                <a:latin typeface="Calibri"/>
              </a:rPr>
              <a:t>f_θ(x): </a:t>
            </a:r>
            <a:r>
              <a:rPr sz="1150" b="0" i="0">
                <a:solidFill>
                  <a:srgbClr val="1B2733"/>
                </a:solidFill>
                <a:latin typeface="Calibri"/>
              </a:rPr>
              <a:t>mô hình, dự đoán không dropout</a:t>
            </a:r>
          </a:p>
          <a:p>
            <a:pPr algn="l">
              <a:spcBef>
                <a:spcPts val="0"/>
              </a:spcBef>
              <a:spcAft>
                <a:spcPts val="200"/>
              </a:spcAft>
            </a:pPr>
            <a:r>
              <a:rPr sz="1150" b="1" i="0">
                <a:solidFill>
                  <a:srgbClr val="1B2733"/>
                </a:solidFill>
                <a:latin typeface="Calibri"/>
              </a:rPr>
              <a:t>π_θ(y|x): </a:t>
            </a:r>
            <a:r>
              <a:rPr sz="1150" b="0" i="0">
                <a:solidFill>
                  <a:srgbClr val="1B2733"/>
                </a:solidFill>
                <a:latin typeface="Calibri"/>
              </a:rPr>
              <a:t>xác suất MC-Dropout (policy)</a:t>
            </a:r>
          </a:p>
          <a:p>
            <a:pPr algn="l">
              <a:spcBef>
                <a:spcPts val="0"/>
              </a:spcBef>
              <a:spcAft>
                <a:spcPts val="200"/>
              </a:spcAft>
            </a:pPr>
            <a:r>
              <a:rPr sz="1150" b="1" i="0">
                <a:solidFill>
                  <a:srgbClr val="1B2733"/>
                </a:solidFill>
                <a:latin typeface="Calibri"/>
              </a:rPr>
              <a:t>C(x): </a:t>
            </a:r>
            <a:r>
              <a:rPr sz="1150" b="0" i="0">
                <a:solidFill>
                  <a:srgbClr val="1B2733"/>
                </a:solidFill>
                <a:latin typeface="Calibri"/>
              </a:rPr>
              <a:t>độ tự tin vào lớp y* đã chọn</a:t>
            </a:r>
          </a:p>
          <a:p>
            <a:pPr algn="l">
              <a:spcBef>
                <a:spcPts val="0"/>
              </a:spcBef>
              <a:spcAft>
                <a:spcPts val="200"/>
              </a:spcAft>
            </a:pPr>
            <a:r>
              <a:rPr sz="1150" b="1" i="0">
                <a:solidFill>
                  <a:srgbClr val="1B2733"/>
                </a:solidFill>
                <a:latin typeface="Calibri"/>
              </a:rPr>
              <a:t>M_C / M_I: </a:t>
            </a:r>
            <a:r>
              <a:rPr sz="1150" b="0" i="0">
                <a:solidFill>
                  <a:srgbClr val="1B2733"/>
                </a:solidFill>
                <a:latin typeface="Calibri"/>
              </a:rPr>
              <a:t>bộ nhớ ảnh được xác nhận đúng / sai</a:t>
            </a:r>
          </a:p>
          <a:p>
            <a:pPr algn="l">
              <a:spcBef>
                <a:spcPts val="0"/>
              </a:spcBef>
              <a:spcAft>
                <a:spcPts val="200"/>
              </a:spcAft>
            </a:pPr>
            <a:r>
              <a:rPr sz="1150" b="1" i="0">
                <a:solidFill>
                  <a:srgbClr val="1B2733"/>
                </a:solidFill>
                <a:latin typeface="Calibri"/>
              </a:rPr>
              <a:t>S_ABA: </a:t>
            </a:r>
            <a:r>
              <a:rPr sz="1150" b="0" i="0">
                <a:solidFill>
                  <a:srgbClr val="1B2733"/>
                </a:solidFill>
                <a:latin typeface="Calibri"/>
              </a:rPr>
              <a:t>ảnh không hỏi, hai dự đoán đồng thuận</a:t>
            </a:r>
          </a:p>
          <a:p>
            <a:pPr algn="l">
              <a:spcBef>
                <a:spcPts val="0"/>
              </a:spcBef>
              <a:spcAft>
                <a:spcPts val="0"/>
              </a:spcAft>
            </a:pPr>
            <a:r>
              <a:rPr sz="1150" b="1" i="0">
                <a:solidFill>
                  <a:srgbClr val="1B2733"/>
                </a:solidFill>
                <a:latin typeface="Calibri"/>
              </a:rPr>
              <a:t>BFA / ABA: </a:t>
            </a:r>
            <a:r>
              <a:rPr sz="1150" b="0" i="0">
                <a:solidFill>
                  <a:srgbClr val="1B2733"/>
                </a:solidFill>
                <a:latin typeface="Calibri"/>
              </a:rPr>
              <a:t>học từ feedback / tự học đồng thuận</a:t>
            </a:r>
          </a:p>
        </p:txBody>
      </p:sp>
      <p:sp>
        <p:nvSpPr>
          <p:cNvPr id="19" name="TextBox 18"/>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2 / 19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2 · VẤN ĐỀ CẦN GIẢI QUYẾT</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“Tự tin thấp nhất” chưa chắc là “đáng hỏi nhất”</a:t>
            </a:r>
          </a:p>
        </p:txBody>
      </p:sp>
      <p:sp>
        <p:nvSpPr>
          <p:cNvPr id="4" name="Rounded Rectangle 3"/>
          <p:cNvSpPr/>
          <p:nvPr/>
        </p:nvSpPr>
        <p:spPr>
          <a:xfrm>
            <a:off x="548640" y="1554480"/>
            <a:ext cx="5440680" cy="2377440"/>
          </a:xfrm>
          <a:prstGeom prst="roundRect">
            <a:avLst>
              <a:gd name="adj" fmla="val 5000"/>
            </a:avLst>
          </a:prstGeom>
          <a:solidFill>
            <a:srgbClr val="FB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86153"/>
            <a:ext cx="5111496" cy="2114092"/>
          </a:xfrm>
          <a:prstGeom prst="rect">
            <a:avLst/>
          </a:prstGeom>
          <a:noFill/>
        </p:spPr>
        <p:txBody>
          <a:bodyPr wrap="square" lIns="0" rIns="0" tIns="0" bIns="0" anchor="t">
            <a:spAutoFit/>
          </a:bodyPr>
          <a:lstStyle/>
          <a:p>
            <a:pPr algn="l">
              <a:spcBef>
                <a:spcPts val="0"/>
              </a:spcBef>
              <a:spcAft>
                <a:spcPts val="600"/>
              </a:spcAft>
            </a:pPr>
            <a:r>
              <a:rPr sz="1600" b="1" i="0">
                <a:solidFill>
                  <a:srgbClr val="1B2733"/>
                </a:solidFill>
                <a:latin typeface="Calibri"/>
              </a:rPr>
              <a:t>Ảnh A  ·  C(x) = 31%</a:t>
            </a:r>
          </a:p>
          <a:p>
            <a:pPr algn="l">
              <a:spcBef>
                <a:spcPts val="0"/>
              </a:spcBef>
              <a:spcAft>
                <a:spcPts val="600"/>
              </a:spcAft>
            </a:pPr>
            <a:r>
              <a:rPr sz="1350" b="0" i="0">
                <a:solidFill>
                  <a:srgbClr val="1B2733"/>
                </a:solidFill>
                <a:latin typeface="Calibri"/>
              </a:rPr>
              <a:t>Lịch sử feedback cho thấy: cứ tự tin cỡ này thì gần như LUÔN sai (xác suất đúng thật p̂ ≈ 1%).</a:t>
            </a:r>
          </a:p>
          <a:p>
            <a:pPr algn="l">
              <a:spcBef>
                <a:spcPts val="0"/>
              </a:spcBef>
              <a:spcAft>
                <a:spcPts val="0"/>
              </a:spcAft>
            </a:pPr>
            <a:r>
              <a:rPr sz="1350" b="1" i="0">
                <a:solidFill>
                  <a:srgbClr val="B5473F"/>
                </a:solidFill>
                <a:latin typeface="Calibri"/>
              </a:rPr>
              <a:t>→ Hỏi oracle gần như biết trước câu trả lời: tốn 1 trong 3 suất mà không thu thêm thông tin.</a:t>
            </a:r>
          </a:p>
        </p:txBody>
      </p:sp>
      <p:sp>
        <p:nvSpPr>
          <p:cNvPr id="6" name="Rounded Rectangle 5"/>
          <p:cNvSpPr/>
          <p:nvPr/>
        </p:nvSpPr>
        <p:spPr>
          <a:xfrm>
            <a:off x="6199632" y="1554480"/>
            <a:ext cx="5440680" cy="2377440"/>
          </a:xfrm>
          <a:prstGeom prst="roundRect">
            <a:avLst>
              <a:gd name="adj" fmla="val 5000"/>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64224" y="1686153"/>
            <a:ext cx="5111496" cy="2114092"/>
          </a:xfrm>
          <a:prstGeom prst="rect">
            <a:avLst/>
          </a:prstGeom>
          <a:noFill/>
        </p:spPr>
        <p:txBody>
          <a:bodyPr wrap="square" lIns="0" rIns="0" tIns="0" bIns="0" anchor="t">
            <a:spAutoFit/>
          </a:bodyPr>
          <a:lstStyle/>
          <a:p>
            <a:pPr algn="l">
              <a:spcBef>
                <a:spcPts val="0"/>
              </a:spcBef>
              <a:spcAft>
                <a:spcPts val="600"/>
              </a:spcAft>
            </a:pPr>
            <a:r>
              <a:rPr sz="1600" b="1" i="0">
                <a:solidFill>
                  <a:srgbClr val="1B2733"/>
                </a:solidFill>
                <a:latin typeface="Calibri"/>
              </a:rPr>
              <a:t>Ảnh B  ·  C(x) = 31%</a:t>
            </a:r>
          </a:p>
          <a:p>
            <a:pPr algn="l">
              <a:spcBef>
                <a:spcPts val="0"/>
              </a:spcBef>
              <a:spcAft>
                <a:spcPts val="600"/>
              </a:spcAft>
            </a:pPr>
            <a:r>
              <a:rPr sz="1350" b="0" i="0">
                <a:solidFill>
                  <a:srgbClr val="1B2733"/>
                </a:solidFill>
                <a:latin typeface="Calibri"/>
              </a:rPr>
              <a:t>Lịch sử cho thấy: ở mức này kết quả đúng / sai ngang nhau (p̂ ≈ 50%).</a:t>
            </a:r>
          </a:p>
          <a:p>
            <a:pPr algn="l">
              <a:spcBef>
                <a:spcPts val="0"/>
              </a:spcBef>
              <a:spcAft>
                <a:spcPts val="0"/>
              </a:spcAft>
            </a:pPr>
            <a:r>
              <a:rPr sz="1350" b="1" i="0">
                <a:solidFill>
                  <a:srgbClr val="17875A"/>
                </a:solidFill>
                <a:latin typeface="Calibri"/>
              </a:rPr>
              <a:t>→ Đáng hỏi nhất: chỉ khi hỏi mới biết, và biết xong thu được nhiều thông tin nhất.</a:t>
            </a:r>
          </a:p>
        </p:txBody>
      </p:sp>
      <p:sp>
        <p:nvSpPr>
          <p:cNvPr id="8" name="Rounded Rectangle 7"/>
          <p:cNvSpPr/>
          <p:nvPr/>
        </p:nvSpPr>
        <p:spPr>
          <a:xfrm>
            <a:off x="548640" y="4114800"/>
            <a:ext cx="11091672" cy="868680"/>
          </a:xfrm>
          <a:prstGeom prst="roundRect">
            <a:avLst>
              <a:gd name="adj" fmla="val 5000"/>
            </a:avLst>
          </a:prstGeom>
          <a:solidFill>
            <a:srgbClr val="D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4246473"/>
            <a:ext cx="10762488" cy="605332"/>
          </a:xfrm>
          <a:prstGeom prst="rect">
            <a:avLst/>
          </a:prstGeom>
          <a:noFill/>
        </p:spPr>
        <p:txBody>
          <a:bodyPr wrap="square" lIns="0" rIns="0" tIns="0" bIns="0" anchor="ctr">
            <a:spAutoFit/>
          </a:bodyPr>
          <a:lstStyle/>
          <a:p>
            <a:pPr algn="l">
              <a:spcBef>
                <a:spcPts val="0"/>
              </a:spcBef>
              <a:spcAft>
                <a:spcPts val="0"/>
              </a:spcAft>
            </a:pPr>
            <a:r>
              <a:rPr sz="1350" b="1" i="0">
                <a:solidFill>
                  <a:srgbClr val="0E8F82"/>
                </a:solidFill>
                <a:latin typeface="Calibri"/>
              </a:rPr>
              <a:t>Nguyên nhân gốc: </a:t>
            </a:r>
            <a:r>
              <a:rPr sz="1350" b="0" i="0">
                <a:solidFill>
                  <a:srgbClr val="1B2733"/>
                </a:solidFill>
                <a:latin typeface="Calibri"/>
              </a:rPr>
              <a:t>Eq. 6 chỉ nhìn con số thô C(x), chưa từng đối chiếu con số đó với kết quả feedback thực tế đã xảy ra. Vì vậy nó không phân biệt được A và B: hai ảnh cùng 31% nhưng giá trị của câu hỏi hoàn toàn khác nhau.</a:t>
            </a:r>
          </a:p>
        </p:txBody>
      </p:sp>
      <p:sp>
        <p:nvSpPr>
          <p:cNvPr id="10" name="Rounded Rectangle 9"/>
          <p:cNvSpPr/>
          <p:nvPr/>
        </p:nvSpPr>
        <p:spPr>
          <a:xfrm>
            <a:off x="548640" y="5166360"/>
            <a:ext cx="11091672" cy="118872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4944" y="531266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2" name="TextBox 11"/>
          <p:cNvSpPr txBox="1"/>
          <p:nvPr/>
        </p:nvSpPr>
        <p:spPr>
          <a:xfrm>
            <a:off x="1133856" y="5276088"/>
            <a:ext cx="10360152" cy="1005840"/>
          </a:xfrm>
          <a:prstGeom prst="rect">
            <a:avLst/>
          </a:prstGeom>
          <a:noFill/>
        </p:spPr>
        <p:txBody>
          <a:bodyPr wrap="square" lIns="0" rIns="0" tIns="0" bIns="0" anchor="t">
            <a:spAutoFit/>
          </a:bodyPr>
          <a:lstStyle/>
          <a:p>
            <a:pPr algn="l">
              <a:spcBef>
                <a:spcPts val="0"/>
              </a:spcBef>
              <a:spcAft>
                <a:spcPts val="300"/>
              </a:spcAft>
            </a:pPr>
            <a:r>
              <a:rPr sz="1200" b="1" i="0">
                <a:solidFill>
                  <a:srgbClr val="A5680B"/>
                </a:solidFill>
                <a:latin typeface="Calibri"/>
              </a:rPr>
              <a:t>Câu hỏi: </a:t>
            </a:r>
            <a:r>
              <a:rPr sz="1200" b="1" i="1">
                <a:solidFill>
                  <a:srgbClr val="1B2733"/>
                </a:solidFill>
                <a:latin typeface="Calibri"/>
              </a:rPr>
              <a:t>Điểm yếu có phải là “confidence thấp → thường nhận feedback sai → vô nghĩa”?</a:t>
            </a:r>
          </a:p>
          <a:p>
            <a:pPr algn="l">
              <a:spcBef>
                <a:spcPts val="0"/>
              </a:spcBef>
              <a:spcAft>
                <a:spcPts val="0"/>
              </a:spcAft>
            </a:pPr>
            <a:r>
              <a:rPr sz="1200" b="0" i="0">
                <a:solidFill>
                  <a:srgbClr val="1B2733"/>
                </a:solidFill>
                <a:latin typeface="Calibri"/>
              </a:rPr>
              <a:t>Đúng một phần. Gốc rễ không nằm ở chữ “sai” mà ở chỗ kết quả ĐOÁN TRƯỚC ĐƯỢC (dù đúng hay sai): một ảnh gần như luôn ĐÚNG cũng vô nghĩa để hỏi. Ngược lại, mẫu đáng hỏi nhất có thể không phải mẫu confidence thấp nhất (ví dụ ảnh có C = 0.58–0.62 mà p̂ ≈ 0.42–0.59).</a:t>
            </a:r>
          </a:p>
        </p:txBody>
      </p:sp>
      <p:sp>
        <p:nvSpPr>
          <p:cNvPr id="13" name="TextBox 12"/>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2 · VẤN ĐỀ CẦN GIẢI QUYẾT</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Vì sao Proposal “đánh thẳng” vào bước chọn mẫu?</a:t>
            </a:r>
          </a:p>
        </p:txBody>
      </p:sp>
      <p:sp>
        <p:nvSpPr>
          <p:cNvPr id="4" name="Rounded Rectangle 3"/>
          <p:cNvSpPr/>
          <p:nvPr/>
        </p:nvSpPr>
        <p:spPr>
          <a:xfrm>
            <a:off x="548640" y="1554480"/>
            <a:ext cx="3593592" cy="288036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77240" y="17373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erson.png"/>
          <p:cNvPicPr>
            <a:picLocks noChangeAspect="1"/>
          </p:cNvPicPr>
          <p:nvPr/>
        </p:nvPicPr>
        <p:blipFill>
          <a:blip r:embed="rId2"/>
          <a:stretch>
            <a:fillRect/>
          </a:stretch>
        </p:blipFill>
        <p:spPr>
          <a:xfrm>
            <a:off x="841247" y="1801368"/>
            <a:ext cx="731520" cy="731520"/>
          </a:xfrm>
          <a:prstGeom prst="rect">
            <a:avLst/>
          </a:prstGeom>
        </p:spPr>
      </p:pic>
      <p:sp>
        <p:nvSpPr>
          <p:cNvPr id="7" name="TextBox 6"/>
          <p:cNvSpPr txBox="1"/>
          <p:nvPr/>
        </p:nvSpPr>
        <p:spPr>
          <a:xfrm>
            <a:off x="777240" y="2743200"/>
            <a:ext cx="3154680" cy="1645920"/>
          </a:xfrm>
          <a:prstGeom prst="rect">
            <a:avLst/>
          </a:prstGeom>
          <a:noFill/>
        </p:spPr>
        <p:txBody>
          <a:bodyPr wrap="square" lIns="0" rIns="0" tIns="0" bIns="0" anchor="t">
            <a:spAutoFit/>
          </a:bodyPr>
          <a:lstStyle/>
          <a:p>
            <a:pPr algn="l">
              <a:spcBef>
                <a:spcPts val="0"/>
              </a:spcBef>
              <a:spcAft>
                <a:spcPts val="500"/>
              </a:spcAft>
            </a:pPr>
            <a:r>
              <a:rPr sz="1500" b="1" i="0">
                <a:solidFill>
                  <a:srgbClr val="1B2733"/>
                </a:solidFill>
                <a:latin typeface="Calibri"/>
              </a:rPr>
              <a:t>Ngân sách cực kỳ khan hiếm</a:t>
            </a:r>
          </a:p>
          <a:p>
            <a:pPr algn="l">
              <a:spcBef>
                <a:spcPts val="0"/>
              </a:spcBef>
              <a:spcAft>
                <a:spcPts val="0"/>
              </a:spcAft>
            </a:pPr>
            <a:r>
              <a:rPr sz="1250" b="0" i="0">
                <a:solidFill>
                  <a:srgbClr val="5A6A7A"/>
                </a:solidFill>
                <a:latin typeface="Calibri"/>
              </a:rPr>
              <a:t>Chỉ 3/64 ảnh (&lt; 5%) mỗi batch. Một câu hỏi lãng phí là mất vĩnh viễn trong batch đó — không hỏi lại được.</a:t>
            </a:r>
          </a:p>
        </p:txBody>
      </p:sp>
      <p:sp>
        <p:nvSpPr>
          <p:cNvPr id="8" name="Rounded Rectangle 7"/>
          <p:cNvSpPr/>
          <p:nvPr/>
        </p:nvSpPr>
        <p:spPr>
          <a:xfrm>
            <a:off x="4297679" y="1554480"/>
            <a:ext cx="3593592" cy="288036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526279" y="17373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update.png"/>
          <p:cNvPicPr>
            <a:picLocks noChangeAspect="1"/>
          </p:cNvPicPr>
          <p:nvPr/>
        </p:nvPicPr>
        <p:blipFill>
          <a:blip r:embed="rId3"/>
          <a:stretch>
            <a:fillRect/>
          </a:stretch>
        </p:blipFill>
        <p:spPr>
          <a:xfrm>
            <a:off x="4590288" y="1801368"/>
            <a:ext cx="731520" cy="731520"/>
          </a:xfrm>
          <a:prstGeom prst="rect">
            <a:avLst/>
          </a:prstGeom>
        </p:spPr>
      </p:pic>
      <p:sp>
        <p:nvSpPr>
          <p:cNvPr id="11" name="TextBox 10"/>
          <p:cNvSpPr txBox="1"/>
          <p:nvPr/>
        </p:nvSpPr>
        <p:spPr>
          <a:xfrm>
            <a:off x="4526279" y="2743200"/>
            <a:ext cx="3154680" cy="1645920"/>
          </a:xfrm>
          <a:prstGeom prst="rect">
            <a:avLst/>
          </a:prstGeom>
          <a:noFill/>
        </p:spPr>
        <p:txBody>
          <a:bodyPr wrap="square" lIns="0" rIns="0" tIns="0" bIns="0" anchor="t">
            <a:spAutoFit/>
          </a:bodyPr>
          <a:lstStyle/>
          <a:p>
            <a:pPr algn="l">
              <a:spcBef>
                <a:spcPts val="0"/>
              </a:spcBef>
              <a:spcAft>
                <a:spcPts val="500"/>
              </a:spcAft>
            </a:pPr>
            <a:r>
              <a:rPr sz="1500" b="1" i="0">
                <a:solidFill>
                  <a:srgbClr val="1B2733"/>
                </a:solidFill>
                <a:latin typeface="Calibri"/>
              </a:rPr>
              <a:t>Feedback đã “trả tiền” nhưng bị bỏ phí</a:t>
            </a:r>
          </a:p>
          <a:p>
            <a:pPr algn="l">
              <a:spcBef>
                <a:spcPts val="0"/>
              </a:spcBef>
              <a:spcAft>
                <a:spcPts val="0"/>
              </a:spcAft>
            </a:pPr>
            <a:r>
              <a:rPr sz="1250" b="0" i="0">
                <a:solidFill>
                  <a:srgbClr val="5A6A7A"/>
                </a:solidFill>
                <a:latin typeface="Calibri"/>
              </a:rPr>
              <a:t>BiTTA gốc chỉ dùng feedback để tính loss, không tái dùng để cải thiện lượt chọn sau. Proposal biến nó thành tín hiệu hiệu chuẩn miễn phí.</a:t>
            </a:r>
          </a:p>
        </p:txBody>
      </p:sp>
      <p:sp>
        <p:nvSpPr>
          <p:cNvPr id="12" name="Rounded Rectangle 11"/>
          <p:cNvSpPr/>
          <p:nvPr/>
        </p:nvSpPr>
        <p:spPr>
          <a:xfrm>
            <a:off x="8046719" y="1554480"/>
            <a:ext cx="3593592" cy="288036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75319" y="1737360"/>
            <a:ext cx="868680" cy="8686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bars_calibrated.png"/>
          <p:cNvPicPr>
            <a:picLocks noChangeAspect="1"/>
          </p:cNvPicPr>
          <p:nvPr/>
        </p:nvPicPr>
        <p:blipFill>
          <a:blip r:embed="rId4"/>
          <a:stretch>
            <a:fillRect/>
          </a:stretch>
        </p:blipFill>
        <p:spPr>
          <a:xfrm>
            <a:off x="8339327" y="1801368"/>
            <a:ext cx="731520" cy="731520"/>
          </a:xfrm>
          <a:prstGeom prst="rect">
            <a:avLst/>
          </a:prstGeom>
        </p:spPr>
      </p:pic>
      <p:sp>
        <p:nvSpPr>
          <p:cNvPr id="15" name="TextBox 14"/>
          <p:cNvSpPr txBox="1"/>
          <p:nvPr/>
        </p:nvSpPr>
        <p:spPr>
          <a:xfrm>
            <a:off x="8275319" y="2743200"/>
            <a:ext cx="3154680" cy="1645920"/>
          </a:xfrm>
          <a:prstGeom prst="rect">
            <a:avLst/>
          </a:prstGeom>
          <a:noFill/>
        </p:spPr>
        <p:txBody>
          <a:bodyPr wrap="square" lIns="0" rIns="0" tIns="0" bIns="0" anchor="t">
            <a:spAutoFit/>
          </a:bodyPr>
          <a:lstStyle/>
          <a:p>
            <a:pPr algn="l">
              <a:spcBef>
                <a:spcPts val="0"/>
              </a:spcBef>
              <a:spcAft>
                <a:spcPts val="500"/>
              </a:spcAft>
            </a:pPr>
            <a:r>
              <a:rPr sz="1500" b="1" i="0">
                <a:solidFill>
                  <a:srgbClr val="1B2733"/>
                </a:solidFill>
                <a:latin typeface="Calibri"/>
              </a:rPr>
              <a:t>Thay đổi cô lập, so sánh công bằng</a:t>
            </a:r>
          </a:p>
          <a:p>
            <a:pPr algn="l">
              <a:spcBef>
                <a:spcPts val="0"/>
              </a:spcBef>
              <a:spcAft>
                <a:spcPts val="0"/>
              </a:spcAft>
            </a:pPr>
            <a:r>
              <a:rPr sz="1250" b="0" i="0">
                <a:solidFill>
                  <a:srgbClr val="5A6A7A"/>
                </a:solidFill>
                <a:latin typeface="Calibri"/>
              </a:rPr>
              <a:t>BFA, ABA, bộ nhớ M_C/M_I, reward ±1 đã được paper kiểm chứng nên giữ nguyên 100%. Chỉ đổi đúng bước chọn mẫu.</a:t>
            </a:r>
          </a:p>
        </p:txBody>
      </p:sp>
      <p:sp>
        <p:nvSpPr>
          <p:cNvPr id="16" name="TextBox 15"/>
          <p:cNvSpPr txBox="1"/>
          <p:nvPr/>
        </p:nvSpPr>
        <p:spPr>
          <a:xfrm>
            <a:off x="548640" y="4663440"/>
            <a:ext cx="11064240" cy="274320"/>
          </a:xfrm>
          <a:prstGeom prst="rect">
            <a:avLst/>
          </a:prstGeom>
          <a:noFill/>
        </p:spPr>
        <p:txBody>
          <a:bodyPr wrap="square" lIns="0" rIns="0" tIns="0" bIns="0" anchor="t">
            <a:spAutoFit/>
          </a:bodyPr>
          <a:lstStyle/>
          <a:p>
            <a:pPr algn="l">
              <a:spcBef>
                <a:spcPts val="0"/>
              </a:spcBef>
              <a:spcAft>
                <a:spcPts val="0"/>
              </a:spcAft>
            </a:pPr>
            <a:r>
              <a:rPr sz="1100" b="1" i="0">
                <a:solidFill>
                  <a:srgbClr val="0E8F82"/>
                </a:solidFill>
                <a:latin typeface="Calibri"/>
              </a:rPr>
              <a:t>BẰNG CHỨNG TỪ ABLATION CỦA PAPER BiTTA GỐC (CIFAR10-C, độ chính xác trung bình)</a:t>
            </a:r>
          </a:p>
        </p:txBody>
      </p:sp>
      <p:sp>
        <p:nvSpPr>
          <p:cNvPr id="17" name="Rounded Rectangle 16"/>
          <p:cNvSpPr/>
          <p:nvPr/>
        </p:nvSpPr>
        <p:spPr>
          <a:xfrm>
            <a:off x="548640" y="4983480"/>
            <a:ext cx="3593592" cy="868680"/>
          </a:xfrm>
          <a:prstGeom prst="roundRect">
            <a:avLst>
              <a:gd name="adj" fmla="val 6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029200"/>
            <a:ext cx="1600200" cy="777240"/>
          </a:xfrm>
          <a:prstGeom prst="rect">
            <a:avLst/>
          </a:prstGeom>
          <a:noFill/>
        </p:spPr>
        <p:txBody>
          <a:bodyPr wrap="square" lIns="0" rIns="0" tIns="0" bIns="0" anchor="ctr">
            <a:spAutoFit/>
          </a:bodyPr>
          <a:lstStyle/>
          <a:p>
            <a:pPr algn="l">
              <a:spcBef>
                <a:spcPts val="0"/>
              </a:spcBef>
              <a:spcAft>
                <a:spcPts val="0"/>
              </a:spcAft>
            </a:pPr>
            <a:r>
              <a:rPr sz="2600" b="1" i="0">
                <a:solidFill>
                  <a:srgbClr val="0E8F82"/>
                </a:solidFill>
                <a:latin typeface="Cambria"/>
              </a:rPr>
              <a:t>58.90%</a:t>
            </a:r>
          </a:p>
        </p:txBody>
      </p:sp>
      <p:sp>
        <p:nvSpPr>
          <p:cNvPr id="19" name="TextBox 18"/>
          <p:cNvSpPr txBox="1"/>
          <p:nvPr/>
        </p:nvSpPr>
        <p:spPr>
          <a:xfrm>
            <a:off x="2331720" y="5029200"/>
            <a:ext cx="1737360" cy="777240"/>
          </a:xfrm>
          <a:prstGeom prst="rect">
            <a:avLst/>
          </a:prstGeom>
          <a:noFill/>
        </p:spPr>
        <p:txBody>
          <a:bodyPr wrap="square" lIns="0" rIns="0" tIns="0" bIns="0" anchor="ctr">
            <a:spAutoFit/>
          </a:bodyPr>
          <a:lstStyle/>
          <a:p>
            <a:pPr algn="l">
              <a:spcBef>
                <a:spcPts val="0"/>
              </a:spcBef>
              <a:spcAft>
                <a:spcPts val="0"/>
              </a:spcAft>
            </a:pPr>
            <a:r>
              <a:rPr sz="1150" b="0" i="0">
                <a:solidFill>
                  <a:srgbClr val="5A6A7A"/>
                </a:solidFill>
                <a:latin typeface="Calibri"/>
              </a:rPr>
              <a:t>chỉ dùng BFA (feedback oracle)</a:t>
            </a:r>
          </a:p>
        </p:txBody>
      </p:sp>
      <p:sp>
        <p:nvSpPr>
          <p:cNvPr id="20" name="Rounded Rectangle 19"/>
          <p:cNvSpPr/>
          <p:nvPr/>
        </p:nvSpPr>
        <p:spPr>
          <a:xfrm>
            <a:off x="4297679" y="4983480"/>
            <a:ext cx="3593592" cy="868680"/>
          </a:xfrm>
          <a:prstGeom prst="roundRect">
            <a:avLst>
              <a:gd name="adj" fmla="val 6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80559" y="5029200"/>
            <a:ext cx="1600200" cy="777240"/>
          </a:xfrm>
          <a:prstGeom prst="rect">
            <a:avLst/>
          </a:prstGeom>
          <a:noFill/>
        </p:spPr>
        <p:txBody>
          <a:bodyPr wrap="square" lIns="0" rIns="0" tIns="0" bIns="0" anchor="ctr">
            <a:spAutoFit/>
          </a:bodyPr>
          <a:lstStyle/>
          <a:p>
            <a:pPr algn="l">
              <a:spcBef>
                <a:spcPts val="0"/>
              </a:spcBef>
              <a:spcAft>
                <a:spcPts val="0"/>
              </a:spcAft>
            </a:pPr>
            <a:r>
              <a:rPr sz="2600" b="1" i="0">
                <a:solidFill>
                  <a:srgbClr val="0E8F82"/>
                </a:solidFill>
                <a:latin typeface="Cambria"/>
              </a:rPr>
              <a:t>82.64%</a:t>
            </a:r>
          </a:p>
        </p:txBody>
      </p:sp>
      <p:sp>
        <p:nvSpPr>
          <p:cNvPr id="22" name="TextBox 21"/>
          <p:cNvSpPr txBox="1"/>
          <p:nvPr/>
        </p:nvSpPr>
        <p:spPr>
          <a:xfrm>
            <a:off x="6080759" y="5029200"/>
            <a:ext cx="1737360" cy="777240"/>
          </a:xfrm>
          <a:prstGeom prst="rect">
            <a:avLst/>
          </a:prstGeom>
          <a:noFill/>
        </p:spPr>
        <p:txBody>
          <a:bodyPr wrap="square" lIns="0" rIns="0" tIns="0" bIns="0" anchor="ctr">
            <a:spAutoFit/>
          </a:bodyPr>
          <a:lstStyle/>
          <a:p>
            <a:pPr algn="l">
              <a:spcBef>
                <a:spcPts val="0"/>
              </a:spcBef>
              <a:spcAft>
                <a:spcPts val="0"/>
              </a:spcAft>
            </a:pPr>
            <a:r>
              <a:rPr sz="1150" b="0" i="0">
                <a:solidFill>
                  <a:srgbClr val="5A6A7A"/>
                </a:solidFill>
                <a:latin typeface="Calibri"/>
              </a:rPr>
              <a:t>chỉ dùng ABA (tự học đồng thuận)</a:t>
            </a:r>
          </a:p>
        </p:txBody>
      </p:sp>
      <p:sp>
        <p:nvSpPr>
          <p:cNvPr id="23" name="Rounded Rectangle 22"/>
          <p:cNvSpPr/>
          <p:nvPr/>
        </p:nvSpPr>
        <p:spPr>
          <a:xfrm>
            <a:off x="8046719" y="4983480"/>
            <a:ext cx="3593592" cy="868680"/>
          </a:xfrm>
          <a:prstGeom prst="roundRect">
            <a:avLst>
              <a:gd name="adj" fmla="val 6000"/>
            </a:avLst>
          </a:prstGeom>
          <a:solidFill>
            <a:srgbClr val="FFFFFF"/>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599" y="5029200"/>
            <a:ext cx="1600200" cy="777240"/>
          </a:xfrm>
          <a:prstGeom prst="rect">
            <a:avLst/>
          </a:prstGeom>
          <a:noFill/>
        </p:spPr>
        <p:txBody>
          <a:bodyPr wrap="square" lIns="0" rIns="0" tIns="0" bIns="0" anchor="ctr">
            <a:spAutoFit/>
          </a:bodyPr>
          <a:lstStyle/>
          <a:p>
            <a:pPr algn="l">
              <a:spcBef>
                <a:spcPts val="0"/>
              </a:spcBef>
              <a:spcAft>
                <a:spcPts val="0"/>
              </a:spcAft>
            </a:pPr>
            <a:r>
              <a:rPr sz="2600" b="1" i="0">
                <a:solidFill>
                  <a:srgbClr val="0E8F82"/>
                </a:solidFill>
                <a:latin typeface="Cambria"/>
              </a:rPr>
              <a:t>87.20%</a:t>
            </a:r>
          </a:p>
        </p:txBody>
      </p:sp>
      <p:sp>
        <p:nvSpPr>
          <p:cNvPr id="25" name="TextBox 24"/>
          <p:cNvSpPr txBox="1"/>
          <p:nvPr/>
        </p:nvSpPr>
        <p:spPr>
          <a:xfrm>
            <a:off x="9829799" y="5029200"/>
            <a:ext cx="1737360" cy="777240"/>
          </a:xfrm>
          <a:prstGeom prst="rect">
            <a:avLst/>
          </a:prstGeom>
          <a:noFill/>
        </p:spPr>
        <p:txBody>
          <a:bodyPr wrap="square" lIns="0" rIns="0" tIns="0" bIns="0" anchor="ctr">
            <a:spAutoFit/>
          </a:bodyPr>
          <a:lstStyle/>
          <a:p>
            <a:pPr algn="l">
              <a:spcBef>
                <a:spcPts val="0"/>
              </a:spcBef>
              <a:spcAft>
                <a:spcPts val="0"/>
              </a:spcAft>
            </a:pPr>
            <a:r>
              <a:rPr sz="1150" b="0" i="0">
                <a:solidFill>
                  <a:srgbClr val="5A6A7A"/>
                </a:solidFill>
                <a:latin typeface="Calibri"/>
              </a:rPr>
              <a:t>BiTTA đầy đủ BFA + ABA</a:t>
            </a:r>
          </a:p>
        </p:txBody>
      </p:sp>
      <p:sp>
        <p:nvSpPr>
          <p:cNvPr id="26" name="TextBox 25"/>
          <p:cNvSpPr txBox="1"/>
          <p:nvPr/>
        </p:nvSpPr>
        <p:spPr>
          <a:xfrm>
            <a:off x="548640" y="5943600"/>
            <a:ext cx="11064240" cy="411480"/>
          </a:xfrm>
          <a:prstGeom prst="rect">
            <a:avLst/>
          </a:prstGeom>
          <a:noFill/>
        </p:spPr>
        <p:txBody>
          <a:bodyPr wrap="square" lIns="0" rIns="0" tIns="0" bIns="0" anchor="t">
            <a:spAutoFit/>
          </a:bodyPr>
          <a:lstStyle/>
          <a:p>
            <a:pPr algn="l">
              <a:spcBef>
                <a:spcPts val="0"/>
              </a:spcBef>
              <a:spcAft>
                <a:spcPts val="0"/>
              </a:spcAft>
            </a:pPr>
            <a:r>
              <a:rPr sz="1250" b="0" i="1">
                <a:solidFill>
                  <a:srgbClr val="1B2733"/>
                </a:solidFill>
                <a:latin typeface="Calibri"/>
              </a:rPr>
              <a:t>BFA đứng một mình còn thấp: 3 câu hỏi phải “gánh” phần đóng góp không nhỏ, nên mỗi câu phải được chọn cho thật đáng.</a:t>
            </a:r>
          </a:p>
        </p:txBody>
      </p:sp>
      <p:sp>
        <p:nvSpPr>
          <p:cNvPr id="27" name="TextBox 26"/>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4 / 19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3 · CÁCH GIẢI QUYẾT</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Giữ nguyên thuật toán học — chỉ nâng cấp bước “chọn ai để hỏi”</a:t>
            </a:r>
          </a:p>
        </p:txBody>
      </p:sp>
      <p:pic>
        <p:nvPicPr>
          <p:cNvPr id="4" name="Picture 3" descr="batch.png"/>
          <p:cNvPicPr>
            <a:picLocks noChangeAspect="1"/>
          </p:cNvPicPr>
          <p:nvPr/>
        </p:nvPicPr>
        <p:blipFill>
          <a:blip r:embed="rId2"/>
          <a:stretch>
            <a:fillRect/>
          </a:stretch>
        </p:blipFill>
        <p:spPr>
          <a:xfrm>
            <a:off x="662939" y="2240279"/>
            <a:ext cx="777240" cy="777240"/>
          </a:xfrm>
          <a:prstGeom prst="rect">
            <a:avLst/>
          </a:prstGeom>
        </p:spPr>
      </p:pic>
      <p:sp>
        <p:nvSpPr>
          <p:cNvPr id="5" name="TextBox 4"/>
          <p:cNvSpPr txBox="1"/>
          <p:nvPr/>
        </p:nvSpPr>
        <p:spPr>
          <a:xfrm>
            <a:off x="274319" y="3081527"/>
            <a:ext cx="1554480" cy="457200"/>
          </a:xfrm>
          <a:prstGeom prst="rect">
            <a:avLst/>
          </a:prstGeom>
          <a:noFill/>
        </p:spPr>
        <p:txBody>
          <a:bodyPr wrap="square" lIns="0" rIns="0" tIns="0" bIns="0" anchor="t">
            <a:spAutoFit/>
          </a:bodyPr>
          <a:lstStyle/>
          <a:p>
            <a:pPr algn="ctr">
              <a:spcBef>
                <a:spcPts val="0"/>
              </a:spcBef>
              <a:spcAft>
                <a:spcPts val="0"/>
              </a:spcAft>
            </a:pPr>
            <a:r>
              <a:rPr sz="1100" b="0" i="0">
                <a:solidFill>
                  <a:srgbClr val="5A6A7A"/>
                </a:solidFill>
                <a:latin typeface="Calibri"/>
              </a:rPr>
              <a:t>Batch 64 ảnh</a:t>
            </a:r>
          </a:p>
        </p:txBody>
      </p:sp>
      <p:sp>
        <p:nvSpPr>
          <p:cNvPr id="6" name="Right Arrow 5"/>
          <p:cNvSpPr/>
          <p:nvPr/>
        </p:nvSpPr>
        <p:spPr>
          <a:xfrm>
            <a:off x="1600200" y="2496312"/>
            <a:ext cx="292608" cy="146304"/>
          </a:xfrm>
          <a:prstGeom prst="rightArrow">
            <a:avLst>
              <a:gd name="adj1" fmla="val 50000"/>
              <a:gd name="adj2" fmla="val 60000"/>
            </a:avLst>
          </a:prstGeom>
          <a:solidFill>
            <a:srgbClr val="5A6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etwork.png"/>
          <p:cNvPicPr>
            <a:picLocks noChangeAspect="1"/>
          </p:cNvPicPr>
          <p:nvPr/>
        </p:nvPicPr>
        <p:blipFill>
          <a:blip r:embed="rId3"/>
          <a:stretch>
            <a:fillRect/>
          </a:stretch>
        </p:blipFill>
        <p:spPr>
          <a:xfrm>
            <a:off x="2400300" y="2240279"/>
            <a:ext cx="777240" cy="777240"/>
          </a:xfrm>
          <a:prstGeom prst="rect">
            <a:avLst/>
          </a:prstGeom>
        </p:spPr>
      </p:pic>
      <p:sp>
        <p:nvSpPr>
          <p:cNvPr id="8" name="TextBox 7"/>
          <p:cNvSpPr txBox="1"/>
          <p:nvPr/>
        </p:nvSpPr>
        <p:spPr>
          <a:xfrm>
            <a:off x="2011679" y="3081527"/>
            <a:ext cx="1554480" cy="457200"/>
          </a:xfrm>
          <a:prstGeom prst="rect">
            <a:avLst/>
          </a:prstGeom>
          <a:noFill/>
        </p:spPr>
        <p:txBody>
          <a:bodyPr wrap="square" lIns="0" rIns="0" tIns="0" bIns="0" anchor="t">
            <a:spAutoFit/>
          </a:bodyPr>
          <a:lstStyle/>
          <a:p>
            <a:pPr algn="ctr">
              <a:spcBef>
                <a:spcPts val="0"/>
              </a:spcBef>
              <a:spcAft>
                <a:spcPts val="0"/>
              </a:spcAft>
            </a:pPr>
            <a:r>
              <a:rPr sz="1100" b="0" i="0">
                <a:solidFill>
                  <a:srgbClr val="5A6A7A"/>
                </a:solidFill>
                <a:latin typeface="Calibri"/>
              </a:rPr>
              <a:t>MC-Dropout</a:t>
            </a:r>
          </a:p>
        </p:txBody>
      </p:sp>
      <p:sp>
        <p:nvSpPr>
          <p:cNvPr id="9" name="Right Arrow 8"/>
          <p:cNvSpPr/>
          <p:nvPr/>
        </p:nvSpPr>
        <p:spPr>
          <a:xfrm>
            <a:off x="3383280" y="2496312"/>
            <a:ext cx="292608" cy="146304"/>
          </a:xfrm>
          <a:prstGeom prst="rightArrow">
            <a:avLst>
              <a:gd name="adj1" fmla="val 50000"/>
              <a:gd name="adj2" fmla="val 60000"/>
            </a:avLst>
          </a:prstGeom>
          <a:solidFill>
            <a:srgbClr val="5A6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160520" y="2075687"/>
            <a:ext cx="1371600" cy="1572768"/>
          </a:xfrm>
          <a:prstGeom prst="roundRect">
            <a:avLst>
              <a:gd name="adj" fmla="val 10000"/>
            </a:avLst>
          </a:prstGeom>
          <a:solidFill>
            <a:srgbClr val="FBEBD2"/>
          </a:solidFill>
          <a:ln w="25400">
            <a:solidFill>
              <a:srgbClr val="A568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rs_calibrated.png"/>
          <p:cNvPicPr>
            <a:picLocks noChangeAspect="1"/>
          </p:cNvPicPr>
          <p:nvPr/>
        </p:nvPicPr>
        <p:blipFill>
          <a:blip r:embed="rId4"/>
          <a:stretch>
            <a:fillRect/>
          </a:stretch>
        </p:blipFill>
        <p:spPr>
          <a:xfrm>
            <a:off x="4434840" y="2167127"/>
            <a:ext cx="822960" cy="822960"/>
          </a:xfrm>
          <a:prstGeom prst="rect">
            <a:avLst/>
          </a:prstGeom>
        </p:spPr>
      </p:pic>
      <p:sp>
        <p:nvSpPr>
          <p:cNvPr id="12" name="TextBox 11"/>
          <p:cNvSpPr txBox="1"/>
          <p:nvPr/>
        </p:nvSpPr>
        <p:spPr>
          <a:xfrm>
            <a:off x="4187952" y="3026663"/>
            <a:ext cx="1316736" cy="548640"/>
          </a:xfrm>
          <a:prstGeom prst="rect">
            <a:avLst/>
          </a:prstGeom>
          <a:noFill/>
        </p:spPr>
        <p:txBody>
          <a:bodyPr wrap="square" lIns="0" rIns="0" tIns="0" bIns="0" anchor="t">
            <a:spAutoFit/>
          </a:bodyPr>
          <a:lstStyle/>
          <a:p>
            <a:pPr algn="ctr">
              <a:spcBef>
                <a:spcPts val="0"/>
              </a:spcBef>
              <a:spcAft>
                <a:spcPts val="0"/>
              </a:spcAft>
            </a:pPr>
            <a:r>
              <a:rPr sz="1150" b="1" i="0">
                <a:solidFill>
                  <a:srgbClr val="A5680B"/>
                </a:solidFill>
                <a:latin typeface="Calibri"/>
              </a:rPr>
              <a:t>Chọn mẫu mới</a:t>
            </a:r>
          </a:p>
          <a:p>
            <a:pPr algn="ctr">
              <a:spcBef>
                <a:spcPts val="0"/>
              </a:spcBef>
              <a:spcAft>
                <a:spcPts val="0"/>
              </a:spcAft>
            </a:pPr>
            <a:r>
              <a:rPr sz="1100" b="0" i="0">
                <a:solidFill>
                  <a:srgbClr val="A5680B"/>
                </a:solidFill>
                <a:latin typeface="Calibri"/>
              </a:rPr>
              <a:t>(C1 + C4)</a:t>
            </a:r>
          </a:p>
        </p:txBody>
      </p:sp>
      <p:sp>
        <p:nvSpPr>
          <p:cNvPr id="13" name="Right Arrow 12"/>
          <p:cNvSpPr/>
          <p:nvPr/>
        </p:nvSpPr>
        <p:spPr>
          <a:xfrm>
            <a:off x="5623560" y="2496312"/>
            <a:ext cx="292608" cy="146304"/>
          </a:xfrm>
          <a:prstGeom prst="rightArrow">
            <a:avLst>
              <a:gd name="adj1" fmla="val 50000"/>
              <a:gd name="adj2" fmla="val 60000"/>
            </a:avLst>
          </a:prstGeom>
          <a:solidFill>
            <a:srgbClr val="5A6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person.png"/>
          <p:cNvPicPr>
            <a:picLocks noChangeAspect="1"/>
          </p:cNvPicPr>
          <p:nvPr/>
        </p:nvPicPr>
        <p:blipFill>
          <a:blip r:embed="rId5"/>
          <a:stretch>
            <a:fillRect/>
          </a:stretch>
        </p:blipFill>
        <p:spPr>
          <a:xfrm>
            <a:off x="6515100" y="2240279"/>
            <a:ext cx="777240" cy="777240"/>
          </a:xfrm>
          <a:prstGeom prst="rect">
            <a:avLst/>
          </a:prstGeom>
        </p:spPr>
      </p:pic>
      <p:sp>
        <p:nvSpPr>
          <p:cNvPr id="15" name="TextBox 14"/>
          <p:cNvSpPr txBox="1"/>
          <p:nvPr/>
        </p:nvSpPr>
        <p:spPr>
          <a:xfrm>
            <a:off x="6126480" y="3081527"/>
            <a:ext cx="1554480" cy="457200"/>
          </a:xfrm>
          <a:prstGeom prst="rect">
            <a:avLst/>
          </a:prstGeom>
          <a:noFill/>
        </p:spPr>
        <p:txBody>
          <a:bodyPr wrap="square" lIns="0" rIns="0" tIns="0" bIns="0" anchor="t">
            <a:spAutoFit/>
          </a:bodyPr>
          <a:lstStyle/>
          <a:p>
            <a:pPr algn="ctr">
              <a:spcBef>
                <a:spcPts val="0"/>
              </a:spcBef>
              <a:spcAft>
                <a:spcPts val="0"/>
              </a:spcAft>
            </a:pPr>
            <a:r>
              <a:rPr sz="1100" b="0" i="0">
                <a:solidFill>
                  <a:srgbClr val="5A6A7A"/>
                </a:solidFill>
                <a:latin typeface="Calibri"/>
              </a:rPr>
              <a:t>Hỏi oracle đúng / sai</a:t>
            </a:r>
          </a:p>
        </p:txBody>
      </p:sp>
      <p:sp>
        <p:nvSpPr>
          <p:cNvPr id="16" name="Right Arrow 15"/>
          <p:cNvSpPr/>
          <p:nvPr/>
        </p:nvSpPr>
        <p:spPr>
          <a:xfrm>
            <a:off x="7680960" y="2496312"/>
            <a:ext cx="292608" cy="146304"/>
          </a:xfrm>
          <a:prstGeom prst="rightArrow">
            <a:avLst>
              <a:gd name="adj1" fmla="val 50000"/>
              <a:gd name="adj2" fmla="val 60000"/>
            </a:avLst>
          </a:prstGeom>
          <a:solidFill>
            <a:srgbClr val="5A6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badge_correct.png"/>
          <p:cNvPicPr>
            <a:picLocks noChangeAspect="1"/>
          </p:cNvPicPr>
          <p:nvPr/>
        </p:nvPicPr>
        <p:blipFill>
          <a:blip r:embed="rId6"/>
          <a:stretch>
            <a:fillRect/>
          </a:stretch>
        </p:blipFill>
        <p:spPr>
          <a:xfrm>
            <a:off x="8503920" y="2103120"/>
            <a:ext cx="548640" cy="548640"/>
          </a:xfrm>
          <a:prstGeom prst="rect">
            <a:avLst/>
          </a:prstGeom>
        </p:spPr>
      </p:pic>
      <p:pic>
        <p:nvPicPr>
          <p:cNvPr id="18" name="Picture 17" descr="badge_incorrect.png"/>
          <p:cNvPicPr>
            <a:picLocks noChangeAspect="1"/>
          </p:cNvPicPr>
          <p:nvPr/>
        </p:nvPicPr>
        <p:blipFill>
          <a:blip r:embed="rId7"/>
          <a:stretch>
            <a:fillRect/>
          </a:stretch>
        </p:blipFill>
        <p:spPr>
          <a:xfrm>
            <a:off x="8503920" y="2679191"/>
            <a:ext cx="548640" cy="548640"/>
          </a:xfrm>
          <a:prstGeom prst="rect">
            <a:avLst/>
          </a:prstGeom>
        </p:spPr>
      </p:pic>
      <p:sp>
        <p:nvSpPr>
          <p:cNvPr id="19" name="TextBox 18"/>
          <p:cNvSpPr txBox="1"/>
          <p:nvPr/>
        </p:nvSpPr>
        <p:spPr>
          <a:xfrm>
            <a:off x="7909560" y="3291839"/>
            <a:ext cx="1645920" cy="274320"/>
          </a:xfrm>
          <a:prstGeom prst="rect">
            <a:avLst/>
          </a:prstGeom>
          <a:noFill/>
        </p:spPr>
        <p:txBody>
          <a:bodyPr wrap="square" lIns="0" rIns="0" tIns="0" bIns="0" anchor="t">
            <a:spAutoFit/>
          </a:bodyPr>
          <a:lstStyle/>
          <a:p>
            <a:pPr algn="ctr">
              <a:spcBef>
                <a:spcPts val="0"/>
              </a:spcBef>
              <a:spcAft>
                <a:spcPts val="0"/>
              </a:spcAft>
            </a:pPr>
            <a:r>
              <a:rPr sz="1100" b="0" i="0">
                <a:solidFill>
                  <a:srgbClr val="5A6A7A"/>
                </a:solidFill>
                <a:latin typeface="Calibri"/>
              </a:rPr>
              <a:t>M_C / M_I</a:t>
            </a:r>
          </a:p>
        </p:txBody>
      </p:sp>
      <p:sp>
        <p:nvSpPr>
          <p:cNvPr id="20" name="Right Arrow 19"/>
          <p:cNvSpPr/>
          <p:nvPr/>
        </p:nvSpPr>
        <p:spPr>
          <a:xfrm>
            <a:off x="9601200" y="2496312"/>
            <a:ext cx="292608" cy="146304"/>
          </a:xfrm>
          <a:prstGeom prst="rightArrow">
            <a:avLst>
              <a:gd name="adj1" fmla="val 50000"/>
              <a:gd name="adj2" fmla="val 60000"/>
            </a:avLst>
          </a:prstGeom>
          <a:solidFill>
            <a:srgbClr val="5A6A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update.png"/>
          <p:cNvPicPr>
            <a:picLocks noChangeAspect="1"/>
          </p:cNvPicPr>
          <p:nvPr/>
        </p:nvPicPr>
        <p:blipFill>
          <a:blip r:embed="rId8"/>
          <a:stretch>
            <a:fillRect/>
          </a:stretch>
        </p:blipFill>
        <p:spPr>
          <a:xfrm>
            <a:off x="10218419" y="2240279"/>
            <a:ext cx="777240" cy="777240"/>
          </a:xfrm>
          <a:prstGeom prst="rect">
            <a:avLst/>
          </a:prstGeom>
        </p:spPr>
      </p:pic>
      <p:sp>
        <p:nvSpPr>
          <p:cNvPr id="22" name="TextBox 21"/>
          <p:cNvSpPr txBox="1"/>
          <p:nvPr/>
        </p:nvSpPr>
        <p:spPr>
          <a:xfrm>
            <a:off x="9829800" y="3081527"/>
            <a:ext cx="1554480" cy="457200"/>
          </a:xfrm>
          <a:prstGeom prst="rect">
            <a:avLst/>
          </a:prstGeom>
          <a:noFill/>
        </p:spPr>
        <p:txBody>
          <a:bodyPr wrap="square" lIns="0" rIns="0" tIns="0" bIns="0" anchor="t">
            <a:spAutoFit/>
          </a:bodyPr>
          <a:lstStyle/>
          <a:p>
            <a:pPr algn="ctr">
              <a:spcBef>
                <a:spcPts val="0"/>
              </a:spcBef>
              <a:spcAft>
                <a:spcPts val="0"/>
              </a:spcAft>
            </a:pPr>
            <a:r>
              <a:rPr sz="1100" b="0" i="0">
                <a:solidFill>
                  <a:srgbClr val="5A6A7A"/>
                </a:solidFill>
                <a:latin typeface="Calibri"/>
              </a:rPr>
              <a:t>Loss BFA + ABA, cập nhật θ</a:t>
            </a:r>
          </a:p>
        </p:txBody>
      </p:sp>
      <p:cxnSp>
        <p:nvCxnSpPr>
          <p:cNvPr id="23" name="Connector 22"/>
          <p:cNvCxnSpPr/>
          <p:nvPr/>
        </p:nvCxnSpPr>
        <p:spPr>
          <a:xfrm>
            <a:off x="6903720" y="3657600"/>
            <a:ext cx="0" cy="274320"/>
          </a:xfrm>
          <a:prstGeom prst="line">
            <a:avLst/>
          </a:prstGeom>
          <a:ln w="15875">
            <a:solidFill>
              <a:srgbClr val="A5680B"/>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846320" y="3931920"/>
            <a:ext cx="2057400" cy="0"/>
          </a:xfrm>
          <a:prstGeom prst="line">
            <a:avLst/>
          </a:prstGeom>
          <a:ln w="15875">
            <a:solidFill>
              <a:srgbClr val="A5680B"/>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46320" y="3657600"/>
            <a:ext cx="0" cy="274320"/>
          </a:xfrm>
          <a:prstGeom prst="line">
            <a:avLst/>
          </a:prstGeom>
          <a:ln w="15875">
            <a:solidFill>
              <a:srgbClr val="A5680B"/>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937760" y="3986784"/>
            <a:ext cx="4206240" cy="502920"/>
          </a:xfrm>
          <a:prstGeom prst="rect">
            <a:avLst/>
          </a:prstGeom>
          <a:noFill/>
        </p:spPr>
        <p:txBody>
          <a:bodyPr wrap="square" lIns="0" rIns="0" tIns="0" bIns="0" anchor="t">
            <a:spAutoFit/>
          </a:bodyPr>
          <a:lstStyle/>
          <a:p>
            <a:pPr algn="ctr">
              <a:spcBef>
                <a:spcPts val="0"/>
              </a:spcBef>
              <a:spcAft>
                <a:spcPts val="0"/>
              </a:spcAft>
            </a:pPr>
            <a:r>
              <a:rPr sz="1150" b="1" i="0">
                <a:solidFill>
                  <a:srgbClr val="A5680B"/>
                </a:solidFill>
                <a:latin typeface="Calibri"/>
              </a:rPr>
              <a:t>Vòng phản hồi: ghi cặp (C(x), đúng/sai) → refit a, b → lượt chọn sau tốt hơn</a:t>
            </a:r>
          </a:p>
        </p:txBody>
      </p:sp>
      <p:sp>
        <p:nvSpPr>
          <p:cNvPr id="27" name="Rounded Rectangle 26"/>
          <p:cNvSpPr/>
          <p:nvPr/>
        </p:nvSpPr>
        <p:spPr>
          <a:xfrm>
            <a:off x="548640" y="4572000"/>
            <a:ext cx="3593592" cy="178308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703673"/>
            <a:ext cx="3264408" cy="1519732"/>
          </a:xfrm>
          <a:prstGeom prst="rect">
            <a:avLst/>
          </a:prstGeom>
          <a:noFill/>
        </p:spPr>
        <p:txBody>
          <a:bodyPr wrap="square" lIns="0" rIns="0" tIns="0" bIns="0" anchor="t">
            <a:spAutoFit/>
          </a:bodyPr>
          <a:lstStyle/>
          <a:p>
            <a:pPr algn="l">
              <a:spcBef>
                <a:spcPts val="0"/>
              </a:spcBef>
              <a:spcAft>
                <a:spcPts val="400"/>
              </a:spcAft>
            </a:pPr>
            <a:r>
              <a:rPr sz="1350" b="1" i="0">
                <a:solidFill>
                  <a:srgbClr val="A5680B"/>
                </a:solidFill>
                <a:latin typeface="Calibri"/>
              </a:rPr>
              <a:t>C1 · Chọn mẫu tối đa hoá thông tin</a:t>
            </a:r>
          </a:p>
          <a:p>
            <a:pPr algn="l">
              <a:spcBef>
                <a:spcPts val="0"/>
              </a:spcBef>
              <a:spcAft>
                <a:spcPts val="0"/>
              </a:spcAft>
            </a:pPr>
            <a:r>
              <a:rPr sz="1150" b="0" i="0">
                <a:solidFill>
                  <a:srgbClr val="1B2733"/>
                </a:solidFill>
                <a:latin typeface="Calibri"/>
              </a:rPr>
              <a:t>Hiệu chuẩn C(x) thành xác suất đúng thực tế p̂ bằng Platt scaling (học online từ feedback), rồi chọn ảnh có entropy nhị phân h_b(p̂) lớn nhất.</a:t>
            </a:r>
          </a:p>
        </p:txBody>
      </p:sp>
      <p:sp>
        <p:nvSpPr>
          <p:cNvPr id="29" name="Rounded Rectangle 28"/>
          <p:cNvSpPr/>
          <p:nvPr/>
        </p:nvSpPr>
        <p:spPr>
          <a:xfrm>
            <a:off x="4297679" y="4572000"/>
            <a:ext cx="3593592" cy="178308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62271" y="4703673"/>
            <a:ext cx="3264408" cy="1519732"/>
          </a:xfrm>
          <a:prstGeom prst="rect">
            <a:avLst/>
          </a:prstGeom>
          <a:noFill/>
        </p:spPr>
        <p:txBody>
          <a:bodyPr wrap="square" lIns="0" rIns="0" tIns="0" bIns="0" anchor="t">
            <a:spAutoFit/>
          </a:bodyPr>
          <a:lstStyle/>
          <a:p>
            <a:pPr algn="l">
              <a:spcBef>
                <a:spcPts val="0"/>
              </a:spcBef>
              <a:spcAft>
                <a:spcPts val="400"/>
              </a:spcAft>
            </a:pPr>
            <a:r>
              <a:rPr sz="1350" b="1" i="0">
                <a:solidFill>
                  <a:srgbClr val="A5680B"/>
                </a:solidFill>
                <a:latin typeface="Calibri"/>
              </a:rPr>
              <a:t>C4 · Tách số lượt MC-Dropout</a:t>
            </a:r>
          </a:p>
          <a:p>
            <a:pPr algn="l">
              <a:spcBef>
                <a:spcPts val="0"/>
              </a:spcBef>
              <a:spcAft>
                <a:spcPts val="0"/>
              </a:spcAft>
            </a:pPr>
            <a:r>
              <a:rPr sz="1150" b="0" i="0">
                <a:solidFill>
                  <a:srgbClr val="1B2733"/>
                </a:solidFill>
                <a:latin typeface="Calibri"/>
              </a:rPr>
              <a:t>Bước chọn mẫu dùng riêng N = 16 lượt dropout (n_dropouts_select) để C(x) ít nhiễu; phần loss vẫn dùng N = 4 như gốc.</a:t>
            </a:r>
          </a:p>
        </p:txBody>
      </p:sp>
      <p:sp>
        <p:nvSpPr>
          <p:cNvPr id="31" name="Rounded Rectangle 30"/>
          <p:cNvSpPr/>
          <p:nvPr/>
        </p:nvSpPr>
        <p:spPr>
          <a:xfrm>
            <a:off x="8046719" y="4572000"/>
            <a:ext cx="3593592" cy="178308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11311" y="4703673"/>
            <a:ext cx="3264408" cy="1519732"/>
          </a:xfrm>
          <a:prstGeom prst="rect">
            <a:avLst/>
          </a:prstGeom>
          <a:noFill/>
        </p:spPr>
        <p:txBody>
          <a:bodyPr wrap="square" lIns="0" rIns="0" tIns="0" bIns="0" anchor="t">
            <a:spAutoFit/>
          </a:bodyPr>
          <a:lstStyle/>
          <a:p>
            <a:pPr algn="l">
              <a:spcBef>
                <a:spcPts val="0"/>
              </a:spcBef>
              <a:spcAft>
                <a:spcPts val="400"/>
              </a:spcAft>
            </a:pPr>
            <a:r>
              <a:rPr sz="1350" b="1" i="0">
                <a:solidFill>
                  <a:srgbClr val="1B2733"/>
                </a:solidFill>
                <a:latin typeface="Calibri"/>
              </a:rPr>
              <a:t>Giữ nguyên 100%</a:t>
            </a:r>
          </a:p>
          <a:p>
            <a:pPr algn="l">
              <a:spcBef>
                <a:spcPts val="0"/>
              </a:spcBef>
              <a:spcAft>
                <a:spcPts val="0"/>
              </a:spcAft>
            </a:pPr>
            <a:r>
              <a:rPr sz="1150" b="0" i="0">
                <a:solidFill>
                  <a:srgbClr val="1B2733"/>
                </a:solidFill>
                <a:latin typeface="Calibri"/>
              </a:rPr>
              <a:t>BFA, ABA, bộ nhớ M_C/M_I, reward ±1, cập nhật θ. Cold-start: chưa đủ dữ liệu hiệu chuẩn → tự rơi về đúng Eq. 6 gốc.</a:t>
            </a:r>
          </a:p>
        </p:txBody>
      </p:sp>
      <p:sp>
        <p:nvSpPr>
          <p:cNvPr id="33" name="TextBox 32"/>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5 / 19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4 · CƠ SỞ TOÁN HỌC</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Bước 1: đo độ tự tin C(x) bằng MC-Dropout</a:t>
            </a:r>
          </a:p>
        </p:txBody>
      </p:sp>
      <p:sp>
        <p:nvSpPr>
          <p:cNvPr id="4" name="Rounded Rectangle 3"/>
          <p:cNvSpPr/>
          <p:nvPr/>
        </p:nvSpPr>
        <p:spPr>
          <a:xfrm>
            <a:off x="548640" y="1554480"/>
            <a:ext cx="6126480" cy="2148840"/>
          </a:xfrm>
          <a:prstGeom prst="roundRect">
            <a:avLst>
              <a:gd name="adj" fmla="val 4000"/>
            </a:avLst>
          </a:prstGeom>
          <a:solidFill>
            <a:srgbClr val="F3F6F9"/>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82495"/>
            <a:ext cx="5760720" cy="1929384"/>
          </a:xfrm>
          <a:prstGeom prst="rect">
            <a:avLst/>
          </a:prstGeom>
          <a:noFill/>
        </p:spPr>
        <p:txBody>
          <a:bodyPr wrap="square" lIns="0" rIns="0" tIns="0" bIns="0" anchor="ctr">
            <a:spAutoFit/>
          </a:bodyPr>
          <a:lstStyle/>
          <a:p>
            <a:pPr algn="l">
              <a:spcBef>
                <a:spcPts val="0"/>
              </a:spcBef>
              <a:spcAft>
                <a:spcPts val="200"/>
              </a:spcAft>
            </a:pPr>
            <a:r>
              <a:rPr sz="1100" b="0" i="1">
                <a:solidFill>
                  <a:srgbClr val="5A6A7A"/>
                </a:solidFill>
                <a:latin typeface="Consolas"/>
              </a:rPr>
              <a:t>dự đoán deterministic (không dropout)</a:t>
            </a:r>
          </a:p>
          <a:p>
            <a:pPr algn="l">
              <a:spcBef>
                <a:spcPts val="0"/>
              </a:spcBef>
              <a:spcAft>
                <a:spcPts val="600"/>
              </a:spcAft>
            </a:pPr>
            <a:r>
              <a:rPr sz="1400" b="0" i="0">
                <a:solidFill>
                  <a:srgbClr val="1B2733"/>
                </a:solidFill>
                <a:latin typeface="Consolas"/>
              </a:rPr>
              <a:t>y* = argmax_y f_θ(y|x)</a:t>
            </a:r>
          </a:p>
          <a:p>
            <a:pPr algn="l">
              <a:spcBef>
                <a:spcPts val="0"/>
              </a:spcBef>
              <a:spcAft>
                <a:spcPts val="200"/>
              </a:spcAft>
            </a:pPr>
            <a:r>
              <a:rPr sz="1100" b="0" i="1">
                <a:solidFill>
                  <a:srgbClr val="5A6A7A"/>
                </a:solidFill>
                <a:latin typeface="Consolas"/>
              </a:rPr>
              <a:t>N lần forward có dropout, mỗi lần một mặt nạ khác nhau</a:t>
            </a:r>
          </a:p>
          <a:p>
            <a:pPr algn="l">
              <a:spcBef>
                <a:spcPts val="0"/>
              </a:spcBef>
              <a:spcAft>
                <a:spcPts val="600"/>
              </a:spcAft>
            </a:pPr>
            <a:r>
              <a:rPr sz="1400" b="0" i="0">
                <a:solidFill>
                  <a:srgbClr val="1B2733"/>
                </a:solidFill>
                <a:latin typeface="Consolas"/>
              </a:rPr>
              <a:t>π_θ^(t)(y|x) = softmax( f_θ^(t)(x) ),  t = 1..N</a:t>
            </a:r>
          </a:p>
          <a:p>
            <a:pPr algn="l">
              <a:spcBef>
                <a:spcPts val="0"/>
              </a:spcBef>
              <a:spcAft>
                <a:spcPts val="200"/>
              </a:spcAft>
            </a:pPr>
            <a:r>
              <a:rPr sz="1100" b="0" i="1">
                <a:solidFill>
                  <a:srgbClr val="5A6A7A"/>
                </a:solidFill>
                <a:latin typeface="Consolas"/>
              </a:rPr>
              <a:t>độ tự tin = xác suất TRUNG BÌNH của đúng lớp y*</a:t>
            </a:r>
          </a:p>
          <a:p>
            <a:pPr algn="l">
              <a:spcBef>
                <a:spcPts val="0"/>
              </a:spcBef>
              <a:spcAft>
                <a:spcPts val="600"/>
              </a:spcAft>
            </a:pPr>
            <a:r>
              <a:rPr sz="1400" b="0" i="0">
                <a:solidFill>
                  <a:srgbClr val="1B2733"/>
                </a:solidFill>
                <a:latin typeface="Consolas"/>
              </a:rPr>
              <a:t>C(x) = (1/N) · Σ_t π_θ^(t)(y*|x)</a:t>
            </a:r>
          </a:p>
        </p:txBody>
      </p:sp>
      <p:sp>
        <p:nvSpPr>
          <p:cNvPr id="6" name="Rounded Rectangle 5"/>
          <p:cNvSpPr/>
          <p:nvPr/>
        </p:nvSpPr>
        <p:spPr>
          <a:xfrm>
            <a:off x="548640" y="3886200"/>
            <a:ext cx="6126480" cy="246888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017873"/>
            <a:ext cx="5797296" cy="2205532"/>
          </a:xfrm>
          <a:prstGeom prst="rect">
            <a:avLst/>
          </a:prstGeom>
          <a:noFill/>
        </p:spPr>
        <p:txBody>
          <a:bodyPr wrap="square" lIns="0" rIns="0" tIns="0" bIns="0" anchor="t">
            <a:spAutoFit/>
          </a:bodyPr>
          <a:lstStyle/>
          <a:p>
            <a:pPr algn="l">
              <a:spcBef>
                <a:spcPts val="0"/>
              </a:spcBef>
              <a:spcAft>
                <a:spcPts val="400"/>
              </a:spcAft>
            </a:pPr>
            <a:r>
              <a:rPr sz="1350" b="1" i="0">
                <a:solidFill>
                  <a:srgbClr val="0E8F82"/>
                </a:solidFill>
                <a:latin typeface="Calibri"/>
              </a:rPr>
              <a:t>Dropout “tắt ngẫu nhiên neuron” nghĩa là gì?</a:t>
            </a:r>
          </a:p>
          <a:p>
            <a:pPr algn="l">
              <a:spcBef>
                <a:spcPts val="0"/>
              </a:spcBef>
              <a:spcAft>
                <a:spcPts val="300"/>
              </a:spcAft>
            </a:pPr>
            <a:r>
              <a:rPr sz="1200" b="0" i="0">
                <a:solidFill>
                  <a:srgbClr val="1B2733"/>
                </a:solidFill>
                <a:latin typeface="Calibri"/>
              </a:rPr>
              <a:t>Mỗi lớp có nhiều neuron chạy song song. Dropout ép output của một tỉ lệ ngẫu nhiên (ở đây 0.3) neuron về 0 trong lần forward đó.</a:t>
            </a:r>
          </a:p>
          <a:p>
            <a:pPr algn="l">
              <a:spcBef>
                <a:spcPts val="0"/>
              </a:spcBef>
              <a:spcAft>
                <a:spcPts val="300"/>
              </a:spcAft>
            </a:pPr>
            <a:r>
              <a:rPr sz="1200" b="0" i="0">
                <a:solidFill>
                  <a:srgbClr val="1B2733"/>
                </a:solidFill>
                <a:latin typeface="Calibri"/>
              </a:rPr>
              <a:t>Ví dụ 6 neuron [0.4, 0.9, 0.2, 0.7, 0.5, 0.3]: lần 1 tắt neuron 2 và 5 → [0.4, 0, 0.2, 0.7, 0, 0.3]; lần 2 tắt neuron 1 và 4 → [0, 0.9, 0.2, 0, 0.5, 0.3].</a:t>
            </a:r>
          </a:p>
          <a:p>
            <a:pPr algn="l">
              <a:spcBef>
                <a:spcPts val="0"/>
              </a:spcBef>
              <a:spcAft>
                <a:spcPts val="0"/>
              </a:spcAft>
            </a:pPr>
            <a:r>
              <a:rPr sz="1200" b="0" i="0">
                <a:solidFill>
                  <a:srgbClr val="1B2733"/>
                </a:solidFill>
                <a:latin typeface="Calibri"/>
              </a:rPr>
              <a:t>Mỗi lần forward là một “phiên bản” hơi khác của mạng; nếu các phiên bản vẫn đồng ý với nhau thì mô hình thật sự tự tin, nếu dao động mạnh thì không.</a:t>
            </a:r>
          </a:p>
        </p:txBody>
      </p:sp>
      <p:sp>
        <p:nvSpPr>
          <p:cNvPr id="8" name="TextBox 7"/>
          <p:cNvSpPr txBox="1"/>
          <p:nvPr/>
        </p:nvSpPr>
        <p:spPr>
          <a:xfrm>
            <a:off x="6949440" y="1554480"/>
            <a:ext cx="4663440" cy="274320"/>
          </a:xfrm>
          <a:prstGeom prst="rect">
            <a:avLst/>
          </a:prstGeom>
          <a:noFill/>
        </p:spPr>
        <p:txBody>
          <a:bodyPr wrap="square" lIns="0" rIns="0" tIns="0" bIns="0" anchor="t">
            <a:spAutoFit/>
          </a:bodyPr>
          <a:lstStyle/>
          <a:p>
            <a:pPr algn="l">
              <a:spcBef>
                <a:spcPts val="0"/>
              </a:spcBef>
              <a:spcAft>
                <a:spcPts val="0"/>
              </a:spcAft>
            </a:pPr>
            <a:r>
              <a:rPr sz="1100" b="1" i="0">
                <a:solidFill>
                  <a:srgbClr val="0E8F82"/>
                </a:solidFill>
                <a:latin typeface="Calibri"/>
              </a:rPr>
              <a:t>VÍ DỤ TÍNH C(x) — bài toán 3 lớp (mèo / chó / chim)</a:t>
            </a:r>
          </a:p>
        </p:txBody>
      </p:sp>
      <p:graphicFrame>
        <p:nvGraphicFramePr>
          <p:cNvPr id="9" name="Table 8"/>
          <p:cNvGraphicFramePr>
            <a:graphicFrameLocks noGrp="1"/>
          </p:cNvGraphicFramePr>
          <p:nvPr/>
        </p:nvGraphicFramePr>
        <p:xfrm>
          <a:off x="6949440" y="1874519"/>
          <a:ext cx="4663440" cy="2048256"/>
        </p:xfrm>
        <a:graphic>
          <a:graphicData uri="http://schemas.openxmlformats.org/drawingml/2006/table">
            <a:tbl>
              <a:tblPr firstRow="0" bandRow="0">
                <a:tableStyleId>{5C22544A-7EE6-4342-B048-85BDC9FD1C3A}</a:tableStyleId>
              </a:tblPr>
              <a:tblGrid>
                <a:gridCol w="1188720"/>
                <a:gridCol w="2286000"/>
                <a:gridCol w="1188720"/>
              </a:tblGrid>
              <a:tr h="292608">
                <a:tc>
                  <a:txBody>
                    <a:bodyPr wrap="square"/>
                    <a:lstStyle/>
                    <a:p>
                      <a:pPr algn="l">
                        <a:spcBef>
                          <a:spcPts val="0"/>
                        </a:spcBef>
                        <a:spcAft>
                          <a:spcPts val="0"/>
                        </a:spcAft>
                      </a:pPr>
                      <a:r>
                        <a:rPr sz="1150" b="1" i="0">
                          <a:solidFill>
                            <a:srgbClr val="FFFFFF"/>
                          </a:solidFill>
                          <a:latin typeface="Calibri"/>
                        </a:rPr>
                        <a:t>Lần</a:t>
                      </a:r>
                    </a:p>
                  </a:txBody>
                  <a:tcPr marL="64008" marR="64008" marT="18288" marB="18288" anchor="ctr">
                    <a:solidFill>
                      <a:srgbClr val="0F2A43"/>
                    </a:solidFill>
                  </a:tcPr>
                </a:tc>
                <a:tc>
                  <a:txBody>
                    <a:bodyPr wrap="square"/>
                    <a:lstStyle/>
                    <a:p>
                      <a:pPr algn="l">
                        <a:spcBef>
                          <a:spcPts val="0"/>
                        </a:spcBef>
                        <a:spcAft>
                          <a:spcPts val="0"/>
                        </a:spcAft>
                      </a:pPr>
                      <a:r>
                        <a:rPr sz="1150" b="1" i="0">
                          <a:solidFill>
                            <a:srgbClr val="FFFFFF"/>
                          </a:solidFill>
                          <a:latin typeface="Calibri"/>
                        </a:rPr>
                        <a:t>softmax [mèo, chó, chim]</a:t>
                      </a:r>
                    </a:p>
                  </a:txBody>
                  <a:tcPr marL="64008" marR="64008" marT="18288" marB="18288" anchor="ctr">
                    <a:solidFill>
                      <a:srgbClr val="0F2A43"/>
                    </a:solidFill>
                  </a:tcPr>
                </a:tc>
                <a:tc>
                  <a:txBody>
                    <a:bodyPr wrap="square"/>
                    <a:lstStyle/>
                    <a:p>
                      <a:pPr algn="r">
                        <a:spcBef>
                          <a:spcPts val="0"/>
                        </a:spcBef>
                        <a:spcAft>
                          <a:spcPts val="0"/>
                        </a:spcAft>
                      </a:pPr>
                      <a:r>
                        <a:rPr sz="1150" b="1" i="0">
                          <a:solidFill>
                            <a:srgbClr val="FFFFFF"/>
                          </a:solidFill>
                          <a:latin typeface="Calibri"/>
                        </a:rPr>
                        <a:t>P(chó) = y*</a:t>
                      </a:r>
                    </a:p>
                  </a:txBody>
                  <a:tcPr marL="64008" marR="64008" marT="18288" marB="18288" anchor="ctr">
                    <a:solidFill>
                      <a:srgbClr val="0F2A43"/>
                    </a:solidFill>
                  </a:tcPr>
                </a:tc>
              </a:tr>
              <a:tr h="292608">
                <a:tc>
                  <a:txBody>
                    <a:bodyPr wrap="square"/>
                    <a:lstStyle/>
                    <a:p>
                      <a:pPr algn="l">
                        <a:spcBef>
                          <a:spcPts val="0"/>
                        </a:spcBef>
                        <a:spcAft>
                          <a:spcPts val="0"/>
                        </a:spcAft>
                      </a:pPr>
                      <a:r>
                        <a:rPr sz="1150" b="1" i="0">
                          <a:solidFill>
                            <a:srgbClr val="1B2733"/>
                          </a:solidFill>
                          <a:latin typeface="Calibri"/>
                        </a:rPr>
                        <a:t>Deterministic</a:t>
                      </a:r>
                    </a:p>
                  </a:txBody>
                  <a:tcPr marL="64008" marR="64008" marT="18288" marB="18288" anchor="ctr">
                    <a:solidFill>
                      <a:srgbClr val="FFFFFF"/>
                    </a:solidFill>
                  </a:tcPr>
                </a:tc>
                <a:tc>
                  <a:txBody>
                    <a:bodyPr wrap="square"/>
                    <a:lstStyle/>
                    <a:p>
                      <a:pPr algn="l">
                        <a:spcBef>
                          <a:spcPts val="0"/>
                        </a:spcBef>
                        <a:spcAft>
                          <a:spcPts val="0"/>
                        </a:spcAft>
                      </a:pPr>
                      <a:r>
                        <a:rPr sz="1150" b="0" i="0">
                          <a:solidFill>
                            <a:srgbClr val="1B2733"/>
                          </a:solidFill>
                          <a:latin typeface="Consolas"/>
                        </a:rPr>
                        <a:t>[0.20, 0.55, 0.25]</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y* = chó</a:t>
                      </a:r>
                    </a:p>
                  </a:txBody>
                  <a:tcPr marL="64008" marR="64008" marT="18288" marB="18288" anchor="ctr">
                    <a:solidFill>
                      <a:srgbClr val="FFFFFF"/>
                    </a:solidFill>
                  </a:tcPr>
                </a:tc>
              </a:tr>
              <a:tr h="292608">
                <a:tc>
                  <a:txBody>
                    <a:bodyPr wrap="square"/>
                    <a:lstStyle/>
                    <a:p>
                      <a:pPr algn="l">
                        <a:spcBef>
                          <a:spcPts val="0"/>
                        </a:spcBef>
                        <a:spcAft>
                          <a:spcPts val="0"/>
                        </a:spcAft>
                      </a:pPr>
                      <a:r>
                        <a:rPr sz="1150" b="1" i="0">
                          <a:solidFill>
                            <a:srgbClr val="1B2733"/>
                          </a:solidFill>
                          <a:latin typeface="Calibri"/>
                        </a:rPr>
                        <a:t>Dropout 1</a:t>
                      </a:r>
                    </a:p>
                  </a:txBody>
                  <a:tcPr marL="64008" marR="64008" marT="18288" marB="18288" anchor="ctr">
                    <a:solidFill>
                      <a:srgbClr val="F3F6F9"/>
                    </a:solidFill>
                  </a:tcPr>
                </a:tc>
                <a:tc>
                  <a:txBody>
                    <a:bodyPr wrap="square"/>
                    <a:lstStyle/>
                    <a:p>
                      <a:pPr algn="l">
                        <a:spcBef>
                          <a:spcPts val="0"/>
                        </a:spcBef>
                        <a:spcAft>
                          <a:spcPts val="0"/>
                        </a:spcAft>
                      </a:pPr>
                      <a:r>
                        <a:rPr sz="1150" b="0" i="0">
                          <a:solidFill>
                            <a:srgbClr val="1B2733"/>
                          </a:solidFill>
                          <a:latin typeface="Consolas"/>
                        </a:rPr>
                        <a:t>[0.18, 0.60, 0.22]</a:t>
                      </a:r>
                    </a:p>
                  </a:txBody>
                  <a:tcPr marL="64008" marR="64008" marT="18288" marB="18288" anchor="ctr">
                    <a:solidFill>
                      <a:srgbClr val="F3F6F9"/>
                    </a:solidFill>
                  </a:tcPr>
                </a:tc>
                <a:tc>
                  <a:txBody>
                    <a:bodyPr wrap="square"/>
                    <a:lstStyle/>
                    <a:p>
                      <a:pPr algn="r">
                        <a:spcBef>
                          <a:spcPts val="0"/>
                        </a:spcBef>
                        <a:spcAft>
                          <a:spcPts val="0"/>
                        </a:spcAft>
                      </a:pPr>
                      <a:r>
                        <a:rPr sz="1150" b="0" i="0">
                          <a:solidFill>
                            <a:srgbClr val="1B2733"/>
                          </a:solidFill>
                          <a:latin typeface="Consolas"/>
                        </a:rPr>
                        <a:t>0.60</a:t>
                      </a:r>
                    </a:p>
                  </a:txBody>
                  <a:tcPr marL="64008" marR="64008" marT="18288" marB="18288" anchor="ctr">
                    <a:solidFill>
                      <a:srgbClr val="F3F6F9"/>
                    </a:solidFill>
                  </a:tcPr>
                </a:tc>
              </a:tr>
              <a:tr h="292608">
                <a:tc>
                  <a:txBody>
                    <a:bodyPr wrap="square"/>
                    <a:lstStyle/>
                    <a:p>
                      <a:pPr algn="l">
                        <a:spcBef>
                          <a:spcPts val="0"/>
                        </a:spcBef>
                        <a:spcAft>
                          <a:spcPts val="0"/>
                        </a:spcAft>
                      </a:pPr>
                      <a:r>
                        <a:rPr sz="1150" b="1" i="0">
                          <a:solidFill>
                            <a:srgbClr val="1B2733"/>
                          </a:solidFill>
                          <a:latin typeface="Calibri"/>
                        </a:rPr>
                        <a:t>Dropout 2</a:t>
                      </a:r>
                    </a:p>
                  </a:txBody>
                  <a:tcPr marL="64008" marR="64008" marT="18288" marB="18288" anchor="ctr">
                    <a:solidFill>
                      <a:srgbClr val="FFFFFF"/>
                    </a:solidFill>
                  </a:tcPr>
                </a:tc>
                <a:tc>
                  <a:txBody>
                    <a:bodyPr wrap="square"/>
                    <a:lstStyle/>
                    <a:p>
                      <a:pPr algn="l">
                        <a:spcBef>
                          <a:spcPts val="0"/>
                        </a:spcBef>
                        <a:spcAft>
                          <a:spcPts val="0"/>
                        </a:spcAft>
                      </a:pPr>
                      <a:r>
                        <a:rPr sz="1150" b="0" i="0">
                          <a:solidFill>
                            <a:srgbClr val="1B2733"/>
                          </a:solidFill>
                          <a:latin typeface="Consolas"/>
                        </a:rPr>
                        <a:t>[0.25, 0.45, 0.30]</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0.45</a:t>
                      </a:r>
                    </a:p>
                  </a:txBody>
                  <a:tcPr marL="64008" marR="64008" marT="18288" marB="18288" anchor="ctr">
                    <a:solidFill>
                      <a:srgbClr val="FFFFFF"/>
                    </a:solidFill>
                  </a:tcPr>
                </a:tc>
              </a:tr>
              <a:tr h="292608">
                <a:tc>
                  <a:txBody>
                    <a:bodyPr wrap="square"/>
                    <a:lstStyle/>
                    <a:p>
                      <a:pPr algn="l">
                        <a:spcBef>
                          <a:spcPts val="0"/>
                        </a:spcBef>
                        <a:spcAft>
                          <a:spcPts val="0"/>
                        </a:spcAft>
                      </a:pPr>
                      <a:r>
                        <a:rPr sz="1150" b="1" i="0">
                          <a:solidFill>
                            <a:srgbClr val="1B2733"/>
                          </a:solidFill>
                          <a:latin typeface="Calibri"/>
                        </a:rPr>
                        <a:t>Dropout 3</a:t>
                      </a:r>
                    </a:p>
                  </a:txBody>
                  <a:tcPr marL="64008" marR="64008" marT="18288" marB="18288" anchor="ctr">
                    <a:solidFill>
                      <a:srgbClr val="F3F6F9"/>
                    </a:solidFill>
                  </a:tcPr>
                </a:tc>
                <a:tc>
                  <a:txBody>
                    <a:bodyPr wrap="square"/>
                    <a:lstStyle/>
                    <a:p>
                      <a:pPr algn="l">
                        <a:spcBef>
                          <a:spcPts val="0"/>
                        </a:spcBef>
                        <a:spcAft>
                          <a:spcPts val="0"/>
                        </a:spcAft>
                      </a:pPr>
                      <a:r>
                        <a:rPr sz="1150" b="0" i="0">
                          <a:solidFill>
                            <a:srgbClr val="1B2733"/>
                          </a:solidFill>
                          <a:latin typeface="Consolas"/>
                        </a:rPr>
                        <a:t>[0.15, 0.52, 0.33]</a:t>
                      </a:r>
                    </a:p>
                  </a:txBody>
                  <a:tcPr marL="64008" marR="64008" marT="18288" marB="18288" anchor="ctr">
                    <a:solidFill>
                      <a:srgbClr val="F3F6F9"/>
                    </a:solidFill>
                  </a:tcPr>
                </a:tc>
                <a:tc>
                  <a:txBody>
                    <a:bodyPr wrap="square"/>
                    <a:lstStyle/>
                    <a:p>
                      <a:pPr algn="r">
                        <a:spcBef>
                          <a:spcPts val="0"/>
                        </a:spcBef>
                        <a:spcAft>
                          <a:spcPts val="0"/>
                        </a:spcAft>
                      </a:pPr>
                      <a:r>
                        <a:rPr sz="1150" b="0" i="0">
                          <a:solidFill>
                            <a:srgbClr val="1B2733"/>
                          </a:solidFill>
                          <a:latin typeface="Consolas"/>
                        </a:rPr>
                        <a:t>0.52</a:t>
                      </a:r>
                    </a:p>
                  </a:txBody>
                  <a:tcPr marL="64008" marR="64008" marT="18288" marB="18288" anchor="ctr">
                    <a:solidFill>
                      <a:srgbClr val="F3F6F9"/>
                    </a:solidFill>
                  </a:tcPr>
                </a:tc>
              </a:tr>
              <a:tr h="292608">
                <a:tc>
                  <a:txBody>
                    <a:bodyPr wrap="square"/>
                    <a:lstStyle/>
                    <a:p>
                      <a:pPr algn="l">
                        <a:spcBef>
                          <a:spcPts val="0"/>
                        </a:spcBef>
                        <a:spcAft>
                          <a:spcPts val="0"/>
                        </a:spcAft>
                      </a:pPr>
                      <a:r>
                        <a:rPr sz="1150" b="1" i="0">
                          <a:solidFill>
                            <a:srgbClr val="1B2733"/>
                          </a:solidFill>
                          <a:latin typeface="Calibri"/>
                        </a:rPr>
                        <a:t>Dropout 4</a:t>
                      </a:r>
                    </a:p>
                  </a:txBody>
                  <a:tcPr marL="64008" marR="64008" marT="18288" marB="18288" anchor="ctr">
                    <a:solidFill>
                      <a:srgbClr val="FFFFFF"/>
                    </a:solidFill>
                  </a:tcPr>
                </a:tc>
                <a:tc>
                  <a:txBody>
                    <a:bodyPr wrap="square"/>
                    <a:lstStyle/>
                    <a:p>
                      <a:pPr algn="l">
                        <a:spcBef>
                          <a:spcPts val="0"/>
                        </a:spcBef>
                        <a:spcAft>
                          <a:spcPts val="0"/>
                        </a:spcAft>
                      </a:pPr>
                      <a:r>
                        <a:rPr sz="1150" b="0" i="0">
                          <a:solidFill>
                            <a:srgbClr val="1B2733"/>
                          </a:solidFill>
                          <a:latin typeface="Consolas"/>
                        </a:rPr>
                        <a:t>[0.22, 0.48, 0.30]</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0.48</a:t>
                      </a:r>
                    </a:p>
                  </a:txBody>
                  <a:tcPr marL="64008" marR="64008" marT="18288" marB="18288" anchor="ctr">
                    <a:solidFill>
                      <a:srgbClr val="FFFFFF"/>
                    </a:solidFill>
                  </a:tcPr>
                </a:tc>
              </a:tr>
              <a:tr h="292608">
                <a:tc>
                  <a:txBody>
                    <a:bodyPr wrap="square"/>
                    <a:lstStyle/>
                    <a:p>
                      <a:pPr algn="l">
                        <a:spcBef>
                          <a:spcPts val="0"/>
                        </a:spcBef>
                        <a:spcAft>
                          <a:spcPts val="0"/>
                        </a:spcAft>
                      </a:pPr>
                      <a:r>
                        <a:rPr sz="1150" b="1" i="0">
                          <a:solidFill>
                            <a:srgbClr val="1B2733"/>
                          </a:solidFill>
                          <a:latin typeface="Calibri"/>
                        </a:rPr>
                        <a:t>C(x) = trung bình</a:t>
                      </a:r>
                    </a:p>
                  </a:txBody>
                  <a:tcPr marL="64008" marR="64008" marT="18288" marB="18288" anchor="ctr">
                    <a:solidFill>
                      <a:srgbClr val="FBEBD2"/>
                    </a:solidFill>
                  </a:tcPr>
                </a:tc>
                <a:tc>
                  <a:txBody>
                    <a:bodyPr wrap="square"/>
                    <a:lstStyle/>
                    <a:p>
                      <a:pPr algn="l">
                        <a:spcBef>
                          <a:spcPts val="0"/>
                        </a:spcBef>
                        <a:spcAft>
                          <a:spcPts val="0"/>
                        </a:spcAft>
                      </a:pPr>
                      <a:r>
                        <a:rPr sz="1150" b="0" i="0">
                          <a:solidFill>
                            <a:srgbClr val="1B2733"/>
                          </a:solidFill>
                          <a:latin typeface="Consolas"/>
                        </a:rPr>
                        <a:t>(0.60+0.45+0.52+0.48)/4</a:t>
                      </a:r>
                    </a:p>
                  </a:txBody>
                  <a:tcPr marL="64008" marR="64008" marT="18288" marB="18288" anchor="ctr">
                    <a:solidFill>
                      <a:srgbClr val="FBEBD2"/>
                    </a:solidFill>
                  </a:tcPr>
                </a:tc>
                <a:tc>
                  <a:txBody>
                    <a:bodyPr wrap="square"/>
                    <a:lstStyle/>
                    <a:p>
                      <a:pPr algn="r">
                        <a:spcBef>
                          <a:spcPts val="0"/>
                        </a:spcBef>
                        <a:spcAft>
                          <a:spcPts val="0"/>
                        </a:spcAft>
                      </a:pPr>
                      <a:r>
                        <a:rPr sz="1150" b="0" i="0">
                          <a:solidFill>
                            <a:srgbClr val="1B2733"/>
                          </a:solidFill>
                          <a:latin typeface="Consolas"/>
                        </a:rPr>
                        <a:t>0.5125</a:t>
                      </a:r>
                    </a:p>
                  </a:txBody>
                  <a:tcPr marL="64008" marR="64008" marT="18288" marB="18288" anchor="ctr">
                    <a:solidFill>
                      <a:srgbClr val="FBEBD2"/>
                    </a:solidFill>
                  </a:tcPr>
                </a:tc>
              </a:tr>
            </a:tbl>
          </a:graphicData>
        </a:graphic>
      </p:graphicFrame>
      <p:sp>
        <p:nvSpPr>
          <p:cNvPr id="10" name="Rounded Rectangle 9"/>
          <p:cNvSpPr/>
          <p:nvPr/>
        </p:nvSpPr>
        <p:spPr>
          <a:xfrm>
            <a:off x="6949440" y="4069080"/>
            <a:ext cx="4690872" cy="114300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095744" y="421538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2" name="TextBox 11"/>
          <p:cNvSpPr txBox="1"/>
          <p:nvPr/>
        </p:nvSpPr>
        <p:spPr>
          <a:xfrm>
            <a:off x="7534656" y="4178808"/>
            <a:ext cx="3959352" cy="960120"/>
          </a:xfrm>
          <a:prstGeom prst="rect">
            <a:avLst/>
          </a:prstGeom>
          <a:noFill/>
        </p:spPr>
        <p:txBody>
          <a:bodyPr wrap="square" lIns="0" rIns="0" tIns="0" bIns="0" anchor="t">
            <a:spAutoFit/>
          </a:bodyPr>
          <a:lstStyle/>
          <a:p>
            <a:pPr algn="l">
              <a:spcBef>
                <a:spcPts val="0"/>
              </a:spcBef>
              <a:spcAft>
                <a:spcPts val="300"/>
              </a:spcAft>
            </a:pPr>
            <a:r>
              <a:rPr sz="1050" b="1" i="0">
                <a:solidFill>
                  <a:srgbClr val="A5680B"/>
                </a:solidFill>
                <a:latin typeface="Calibri"/>
              </a:rPr>
              <a:t>Câu hỏi: </a:t>
            </a:r>
            <a:r>
              <a:rPr sz="1050" b="1" i="1">
                <a:solidFill>
                  <a:srgbClr val="1B2733"/>
                </a:solidFill>
                <a:latin typeface="Calibri"/>
              </a:rPr>
              <a:t>Vì sao chỉ tính xác suất lớp “chó”, và có so sánh deterministic với MC không?</a:t>
            </a:r>
          </a:p>
          <a:p>
            <a:pPr algn="l">
              <a:spcBef>
                <a:spcPts val="0"/>
              </a:spcBef>
              <a:spcAft>
                <a:spcPts val="0"/>
              </a:spcAft>
            </a:pPr>
            <a:r>
              <a:rPr sz="1050" b="0" i="0">
                <a:solidFill>
                  <a:srgbClr val="1B2733"/>
                </a:solidFill>
                <a:latin typeface="Calibri"/>
              </a:rPr>
              <a:t>Deterministic chỉ để chốt y*. Sau đó bám đúng lớp y* qua N lần dropout xem mạng có ổn định với câu trả lời đã chọn. Tính C(x) chỉ là phép trung bình; phép so sánh argmax là của nhánh ABA.</a:t>
            </a:r>
          </a:p>
        </p:txBody>
      </p:sp>
      <p:sp>
        <p:nvSpPr>
          <p:cNvPr id="13" name="Rounded Rectangle 12"/>
          <p:cNvSpPr/>
          <p:nvPr/>
        </p:nvSpPr>
        <p:spPr>
          <a:xfrm>
            <a:off x="6949440" y="5303520"/>
            <a:ext cx="4690872" cy="105156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95744" y="544982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5" name="TextBox 14"/>
          <p:cNvSpPr txBox="1"/>
          <p:nvPr/>
        </p:nvSpPr>
        <p:spPr>
          <a:xfrm>
            <a:off x="7534656" y="5413248"/>
            <a:ext cx="3959352" cy="868680"/>
          </a:xfrm>
          <a:prstGeom prst="rect">
            <a:avLst/>
          </a:prstGeom>
          <a:noFill/>
        </p:spPr>
        <p:txBody>
          <a:bodyPr wrap="square" lIns="0" rIns="0" tIns="0" bIns="0" anchor="t">
            <a:spAutoFit/>
          </a:bodyPr>
          <a:lstStyle/>
          <a:p>
            <a:pPr algn="l">
              <a:spcBef>
                <a:spcPts val="0"/>
              </a:spcBef>
              <a:spcAft>
                <a:spcPts val="300"/>
              </a:spcAft>
            </a:pPr>
            <a:r>
              <a:rPr sz="1050" b="1" i="0">
                <a:solidFill>
                  <a:srgbClr val="A5680B"/>
                </a:solidFill>
                <a:latin typeface="Calibri"/>
              </a:rPr>
              <a:t>Câu hỏi: </a:t>
            </a:r>
            <a:r>
              <a:rPr sz="1050" b="1" i="1">
                <a:solidFill>
                  <a:srgbClr val="1B2733"/>
                </a:solidFill>
                <a:latin typeface="Calibri"/>
              </a:rPr>
              <a:t>Sao không dùng thẳng softmax 0.55?</a:t>
            </a:r>
          </a:p>
          <a:p>
            <a:pPr algn="l">
              <a:spcBef>
                <a:spcPts val="0"/>
              </a:spcBef>
              <a:spcAft>
                <a:spcPts val="0"/>
              </a:spcAft>
            </a:pPr>
            <a:r>
              <a:rPr sz="1050" b="0" i="0">
                <a:solidFill>
                  <a:srgbClr val="1B2733"/>
                </a:solidFill>
                <a:latin typeface="Calibri"/>
              </a:rPr>
              <a:t>Softmax thường quá tự tin khi lệch phân phối. Paper đo ECE của MC-Dropout = 0.062, thấp hơn softmax 0.100 (giảm 38%).</a:t>
            </a:r>
          </a:p>
        </p:txBody>
      </p:sp>
      <p:sp>
        <p:nvSpPr>
          <p:cNvPr id="16" name="TextBox 15"/>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6 / 19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4 · CƠ SỞ TOÁN HỌC</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Bước 2: hiệu chuẩn Platt — biến C(x) thô thành xác suất đúng thực tế</a:t>
            </a:r>
          </a:p>
        </p:txBody>
      </p:sp>
      <p:sp>
        <p:nvSpPr>
          <p:cNvPr id="4" name="Rounded Rectangle 3"/>
          <p:cNvSpPr/>
          <p:nvPr/>
        </p:nvSpPr>
        <p:spPr>
          <a:xfrm>
            <a:off x="548640" y="1554480"/>
            <a:ext cx="5394960" cy="1737360"/>
          </a:xfrm>
          <a:prstGeom prst="roundRect">
            <a:avLst>
              <a:gd name="adj" fmla="val 4000"/>
            </a:avLst>
          </a:prstGeom>
          <a:solidFill>
            <a:srgbClr val="F3F6F9"/>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82495"/>
            <a:ext cx="5029200" cy="1517904"/>
          </a:xfrm>
          <a:prstGeom prst="rect">
            <a:avLst/>
          </a:prstGeom>
          <a:noFill/>
        </p:spPr>
        <p:txBody>
          <a:bodyPr wrap="square" lIns="0" rIns="0" tIns="0" bIns="0" anchor="ctr">
            <a:spAutoFit/>
          </a:bodyPr>
          <a:lstStyle/>
          <a:p>
            <a:pPr algn="l">
              <a:spcBef>
                <a:spcPts val="0"/>
              </a:spcBef>
              <a:spcAft>
                <a:spcPts val="200"/>
              </a:spcAft>
            </a:pPr>
            <a:r>
              <a:rPr sz="1100" b="0" i="1">
                <a:solidFill>
                  <a:srgbClr val="5A6A7A"/>
                </a:solidFill>
                <a:latin typeface="Consolas"/>
              </a:rPr>
              <a:t>đổi (0,1) → toàn bộ trục số thực (log-odds)</a:t>
            </a:r>
          </a:p>
          <a:p>
            <a:pPr algn="l">
              <a:spcBef>
                <a:spcPts val="0"/>
              </a:spcBef>
              <a:spcAft>
                <a:spcPts val="600"/>
              </a:spcAft>
            </a:pPr>
            <a:r>
              <a:rPr sz="1400" b="0" i="0">
                <a:solidFill>
                  <a:srgbClr val="1B2733"/>
                </a:solidFill>
                <a:latin typeface="Consolas"/>
              </a:rPr>
              <a:t>z = logit(C(x)) = ln( C / (1 − C) )</a:t>
            </a:r>
          </a:p>
          <a:p>
            <a:pPr algn="l">
              <a:spcBef>
                <a:spcPts val="0"/>
              </a:spcBef>
              <a:spcAft>
                <a:spcPts val="200"/>
              </a:spcAft>
            </a:pPr>
            <a:r>
              <a:rPr sz="1100" b="0" i="1">
                <a:solidFill>
                  <a:srgbClr val="5A6A7A"/>
                </a:solidFill>
                <a:latin typeface="Consolas"/>
              </a:rPr>
              <a:t>phép sửa tuyến tính rồi ép về (0,1)</a:t>
            </a:r>
          </a:p>
          <a:p>
            <a:pPr algn="l">
              <a:spcBef>
                <a:spcPts val="0"/>
              </a:spcBef>
              <a:spcAft>
                <a:spcPts val="600"/>
              </a:spcAft>
            </a:pPr>
            <a:r>
              <a:rPr sz="1400" b="1" i="0">
                <a:solidFill>
                  <a:srgbClr val="1B2733"/>
                </a:solidFill>
                <a:latin typeface="Calibri"/>
              </a:rPr>
              <a:t>p̂</a:t>
            </a:r>
            <a:r>
              <a:rPr sz="1400" b="0" i="0">
                <a:solidFill>
                  <a:srgbClr val="1B2733"/>
                </a:solidFill>
                <a:latin typeface="Consolas"/>
              </a:rPr>
              <a:t> = σ( a·z + b ) = 1 / (1 + e^−(a·z+b))</a:t>
            </a:r>
          </a:p>
        </p:txBody>
      </p:sp>
      <p:sp>
        <p:nvSpPr>
          <p:cNvPr id="6" name="Rounded Rectangle 5"/>
          <p:cNvSpPr/>
          <p:nvPr/>
        </p:nvSpPr>
        <p:spPr>
          <a:xfrm>
            <a:off x="548640" y="3474720"/>
            <a:ext cx="5394960" cy="288036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3606393"/>
            <a:ext cx="5065776" cy="2617012"/>
          </a:xfrm>
          <a:prstGeom prst="rect">
            <a:avLst/>
          </a:prstGeom>
          <a:noFill/>
        </p:spPr>
        <p:txBody>
          <a:bodyPr wrap="square" lIns="0" rIns="0" tIns="0" bIns="0" anchor="t">
            <a:spAutoFit/>
          </a:bodyPr>
          <a:lstStyle/>
          <a:p>
            <a:pPr algn="l">
              <a:spcBef>
                <a:spcPts val="0"/>
              </a:spcBef>
              <a:spcAft>
                <a:spcPts val="500"/>
              </a:spcAft>
            </a:pPr>
            <a:r>
              <a:rPr sz="1350" b="1" i="0">
                <a:solidFill>
                  <a:srgbClr val="0E8F82"/>
                </a:solidFill>
                <a:latin typeface="Calibri"/>
              </a:rPr>
              <a:t>Bốn tính chất khiến dạng này phù hợp</a:t>
            </a:r>
          </a:p>
          <a:p>
            <a:pPr algn="l" marL="228600" indent="-228600">
              <a:spcBef>
                <a:spcPts val="0"/>
              </a:spcBef>
              <a:spcAft>
                <a:spcPts val="400"/>
              </a:spcAft>
              <a:buClr>
                <a:srgbClr val="0E8F82"/>
              </a:buClr>
              <a:buFont typeface="Arial"/>
              <a:buChar char="•"/>
            </a:pPr>
            <a:r>
              <a:rPr sz="1200" b="1" i="0">
                <a:solidFill>
                  <a:srgbClr val="1B2733"/>
                </a:solidFill>
                <a:latin typeface="Calibri"/>
              </a:rPr>
              <a:t>Luôn là xác suất hợp lệ: </a:t>
            </a:r>
            <a:r>
              <a:rPr sz="1200" b="0" i="0">
                <a:solidFill>
                  <a:srgbClr val="1B2733"/>
                </a:solidFill>
                <a:latin typeface="Calibri"/>
              </a:rPr>
              <a:t>p̂ ∈ (0,1) với mọi a, b; không cần cắt (clip) thủ công.</a:t>
            </a:r>
          </a:p>
          <a:p>
            <a:pPr algn="l" marL="228600" indent="-228600">
              <a:spcBef>
                <a:spcPts val="0"/>
              </a:spcBef>
              <a:spcAft>
                <a:spcPts val="400"/>
              </a:spcAft>
              <a:buClr>
                <a:srgbClr val="0E8F82"/>
              </a:buClr>
              <a:buFont typeface="Arial"/>
              <a:buChar char="•"/>
            </a:pPr>
            <a:r>
              <a:rPr sz="1200" b="1" i="0">
                <a:solidFill>
                  <a:srgbClr val="1B2733"/>
                </a:solidFill>
                <a:latin typeface="Calibri"/>
              </a:rPr>
              <a:t>Đơn điệu khi a &gt; 0: </a:t>
            </a:r>
            <a:r>
              <a:rPr sz="1200" b="0" i="0">
                <a:solidFill>
                  <a:srgbClr val="1B2733"/>
                </a:solidFill>
                <a:latin typeface="Calibri"/>
              </a:rPr>
              <a:t>C cao hơn thì p̂ không bao giờ thấp hơn; chỉ sửa MỨC, không đảo thứ hạng.</a:t>
            </a:r>
          </a:p>
          <a:p>
            <a:pPr algn="l" marL="228600" indent="-228600">
              <a:spcBef>
                <a:spcPts val="0"/>
              </a:spcBef>
              <a:spcAft>
                <a:spcPts val="400"/>
              </a:spcAft>
              <a:buClr>
                <a:srgbClr val="0E8F82"/>
              </a:buClr>
              <a:buFont typeface="Arial"/>
              <a:buChar char="•"/>
            </a:pPr>
            <a:r>
              <a:rPr sz="1200" b="1" i="0">
                <a:solidFill>
                  <a:srgbClr val="1B2733"/>
                </a:solidFill>
                <a:latin typeface="Calibri"/>
              </a:rPr>
              <a:t>Chỉ 2 tham số: </a:t>
            </a:r>
            <a:r>
              <a:rPr sz="1200" b="0" i="0">
                <a:solidFill>
                  <a:srgbClr val="1B2733"/>
                </a:solidFill>
                <a:latin typeface="Calibri"/>
              </a:rPr>
              <a:t>học được từ vài chục cặp feedback (mỗi batch chỉ có 3 cặp).</a:t>
            </a:r>
          </a:p>
          <a:p>
            <a:pPr algn="l" marL="228600" indent="-228600">
              <a:spcBef>
                <a:spcPts val="0"/>
              </a:spcBef>
              <a:spcAft>
                <a:spcPts val="0"/>
              </a:spcAft>
              <a:buClr>
                <a:srgbClr val="0E8F82"/>
              </a:buClr>
              <a:buFont typeface="Arial"/>
              <a:buChar char="•"/>
            </a:pPr>
            <a:r>
              <a:rPr sz="1200" b="1" i="0">
                <a:solidFill>
                  <a:srgbClr val="1B2733"/>
                </a:solidFill>
                <a:latin typeface="Calibri"/>
              </a:rPr>
              <a:t>Bài toán tối ưu lồi: </a:t>
            </a:r>
            <a:r>
              <a:rPr sz="1200" b="0" i="0">
                <a:solidFill>
                  <a:srgbClr val="1B2733"/>
                </a:solidFill>
                <a:latin typeface="Calibri"/>
              </a:rPr>
              <a:t>hồi quy logistic theo (a, b) có nghiệm toàn cục; a = 1, b = 0 cho p̂ = C (không sửa gì).</a:t>
            </a:r>
          </a:p>
        </p:txBody>
      </p:sp>
      <p:sp>
        <p:nvSpPr>
          <p:cNvPr id="8" name="TextBox 7"/>
          <p:cNvSpPr txBox="1"/>
          <p:nvPr/>
        </p:nvSpPr>
        <p:spPr>
          <a:xfrm>
            <a:off x="6263640" y="1554480"/>
            <a:ext cx="5394960" cy="274320"/>
          </a:xfrm>
          <a:prstGeom prst="rect">
            <a:avLst/>
          </a:prstGeom>
          <a:noFill/>
        </p:spPr>
        <p:txBody>
          <a:bodyPr wrap="square" lIns="0" rIns="0" tIns="0" bIns="0" anchor="t">
            <a:spAutoFit/>
          </a:bodyPr>
          <a:lstStyle/>
          <a:p>
            <a:pPr algn="l">
              <a:spcBef>
                <a:spcPts val="0"/>
              </a:spcBef>
              <a:spcAft>
                <a:spcPts val="0"/>
              </a:spcAft>
            </a:pPr>
            <a:r>
              <a:rPr sz="1100" b="1" i="0">
                <a:solidFill>
                  <a:srgbClr val="0E8F82"/>
                </a:solidFill>
                <a:latin typeface="Calibri"/>
              </a:rPr>
              <a:t>VÌ SAO ĐÚNG BA HÀM NÀY, KHÔNG PHẢI HÀM KHÁC</a:t>
            </a:r>
          </a:p>
        </p:txBody>
      </p:sp>
      <p:graphicFrame>
        <p:nvGraphicFramePr>
          <p:cNvPr id="9" name="Table 8"/>
          <p:cNvGraphicFramePr>
            <a:graphicFrameLocks noGrp="1"/>
          </p:cNvGraphicFramePr>
          <p:nvPr/>
        </p:nvGraphicFramePr>
        <p:xfrm>
          <a:off x="6263640" y="1874519"/>
          <a:ext cx="5376672" cy="2834640"/>
        </p:xfrm>
        <a:graphic>
          <a:graphicData uri="http://schemas.openxmlformats.org/drawingml/2006/table">
            <a:tbl>
              <a:tblPr firstRow="0" bandRow="0">
                <a:tableStyleId>{5C22544A-7EE6-4342-B048-85BDC9FD1C3A}</a:tableStyleId>
              </a:tblPr>
              <a:tblGrid>
                <a:gridCol w="1325880"/>
                <a:gridCol w="1828800"/>
                <a:gridCol w="2221992"/>
              </a:tblGrid>
              <a:tr h="566928">
                <a:tc>
                  <a:txBody>
                    <a:bodyPr wrap="square"/>
                    <a:lstStyle/>
                    <a:p>
                      <a:pPr algn="l">
                        <a:spcBef>
                          <a:spcPts val="0"/>
                        </a:spcBef>
                        <a:spcAft>
                          <a:spcPts val="0"/>
                        </a:spcAft>
                      </a:pPr>
                      <a:r>
                        <a:rPr sz="1050" b="1" i="0">
                          <a:solidFill>
                            <a:srgbClr val="FFFFFF"/>
                          </a:solidFill>
                          <a:latin typeface="Calibri"/>
                        </a:rPr>
                        <a:t>Hàm</a:t>
                      </a:r>
                    </a:p>
                  </a:txBody>
                  <a:tcPr marL="64008" marR="64008" marT="18288" marB="18288" anchor="ctr">
                    <a:solidFill>
                      <a:srgbClr val="0F2A43"/>
                    </a:solidFill>
                  </a:tcPr>
                </a:tc>
                <a:tc>
                  <a:txBody>
                    <a:bodyPr wrap="square"/>
                    <a:lstStyle/>
                    <a:p>
                      <a:pPr algn="l">
                        <a:spcBef>
                          <a:spcPts val="0"/>
                        </a:spcBef>
                        <a:spcAft>
                          <a:spcPts val="0"/>
                        </a:spcAft>
                      </a:pPr>
                      <a:r>
                        <a:rPr sz="1050" b="1" i="0">
                          <a:solidFill>
                            <a:srgbClr val="FFFFFF"/>
                          </a:solidFill>
                          <a:latin typeface="Calibri"/>
                        </a:rPr>
                        <a:t>Vai trò</a:t>
                      </a:r>
                    </a:p>
                  </a:txBody>
                  <a:tcPr marL="64008" marR="64008" marT="18288" marB="18288" anchor="ctr">
                    <a:solidFill>
                      <a:srgbClr val="0F2A43"/>
                    </a:solidFill>
                  </a:tcPr>
                </a:tc>
                <a:tc>
                  <a:txBody>
                    <a:bodyPr wrap="square"/>
                    <a:lstStyle/>
                    <a:p>
                      <a:pPr algn="l">
                        <a:spcBef>
                          <a:spcPts val="0"/>
                        </a:spcBef>
                        <a:spcAft>
                          <a:spcPts val="0"/>
                        </a:spcAft>
                      </a:pPr>
                      <a:r>
                        <a:rPr sz="1050" b="1" i="0">
                          <a:solidFill>
                            <a:srgbClr val="FFFFFF"/>
                          </a:solidFill>
                          <a:latin typeface="Calibri"/>
                        </a:rPr>
                        <a:t>Lý do chọn</a:t>
                      </a:r>
                    </a:p>
                  </a:txBody>
                  <a:tcPr marL="64008" marR="64008" marT="18288" marB="18288" anchor="ctr">
                    <a:solidFill>
                      <a:srgbClr val="0F2A43"/>
                    </a:solidFill>
                  </a:tcPr>
                </a:tc>
              </a:tr>
              <a:tr h="566928">
                <a:tc>
                  <a:txBody>
                    <a:bodyPr wrap="square"/>
                    <a:lstStyle/>
                    <a:p>
                      <a:pPr algn="l">
                        <a:spcBef>
                          <a:spcPts val="0"/>
                        </a:spcBef>
                        <a:spcAft>
                          <a:spcPts val="0"/>
                        </a:spcAft>
                      </a:pPr>
                      <a:r>
                        <a:rPr sz="1050" b="1" i="0">
                          <a:solidFill>
                            <a:srgbClr val="1B2733"/>
                          </a:solidFill>
                          <a:latin typeface="Calibri"/>
                        </a:rPr>
                        <a:t>logit</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alibri"/>
                        </a:rPr>
                        <a:t>đưa C ∈ (0,1) ra trục thực để cộng/nhân có nghĩa</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alibri"/>
                        </a:rPr>
                        <a:t>nghịch đảo đúng của sigmoid; chuẩn của hồi quy logistic</a:t>
                      </a:r>
                    </a:p>
                  </a:txBody>
                  <a:tcPr marL="64008" marR="64008" marT="18288" marB="18288" anchor="ctr">
                    <a:solidFill>
                      <a:srgbClr val="FFFFFF"/>
                    </a:solidFill>
                  </a:tcPr>
                </a:tc>
              </a:tr>
              <a:tr h="566928">
                <a:tc>
                  <a:txBody>
                    <a:bodyPr wrap="square"/>
                    <a:lstStyle/>
                    <a:p>
                      <a:pPr algn="l">
                        <a:spcBef>
                          <a:spcPts val="0"/>
                        </a:spcBef>
                        <a:spcAft>
                          <a:spcPts val="0"/>
                        </a:spcAft>
                      </a:pPr>
                      <a:r>
                        <a:rPr sz="1050" b="1" i="0">
                          <a:solidFill>
                            <a:srgbClr val="1B2733"/>
                          </a:solidFill>
                          <a:latin typeface="Calibri"/>
                        </a:rPr>
                        <a:t>a·z + b</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alibri"/>
                        </a:rPr>
                        <a:t>khuếch đại (a) và dịch mức (b)</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alibri"/>
                        </a:rPr>
                        <a:t>đủ sửa độ dốc lẫn thói quen “quá tự tin”, chỉ 2 tham số</a:t>
                      </a:r>
                    </a:p>
                  </a:txBody>
                  <a:tcPr marL="64008" marR="64008" marT="18288" marB="18288" anchor="ctr">
                    <a:solidFill>
                      <a:srgbClr val="F3F6F9"/>
                    </a:solidFill>
                  </a:tcPr>
                </a:tc>
              </a:tr>
              <a:tr h="566928">
                <a:tc>
                  <a:txBody>
                    <a:bodyPr wrap="square"/>
                    <a:lstStyle/>
                    <a:p>
                      <a:pPr algn="l">
                        <a:spcBef>
                          <a:spcPts val="0"/>
                        </a:spcBef>
                        <a:spcAft>
                          <a:spcPts val="0"/>
                        </a:spcAft>
                      </a:pPr>
                      <a:r>
                        <a:rPr sz="1050" b="1" i="0">
                          <a:solidFill>
                            <a:srgbClr val="1B2733"/>
                          </a:solidFill>
                          <a:latin typeface="Calibri"/>
                        </a:rPr>
                        <a:t>σ (sigmoid)</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alibri"/>
                        </a:rPr>
                        <a:t>ép ngược về (0,1)</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alibri"/>
                        </a:rPr>
                        <a:t>đảm bảo xác suất hợp lệ; σ(logit(C)) = C</a:t>
                      </a:r>
                    </a:p>
                  </a:txBody>
                  <a:tcPr marL="64008" marR="64008" marT="18288" marB="18288" anchor="ctr">
                    <a:solidFill>
                      <a:srgbClr val="FFFFFF"/>
                    </a:solidFill>
                  </a:tcPr>
                </a:tc>
              </a:tr>
              <a:tr h="566928">
                <a:tc>
                  <a:txBody>
                    <a:bodyPr wrap="square"/>
                    <a:lstStyle/>
                    <a:p>
                      <a:pPr algn="l">
                        <a:spcBef>
                          <a:spcPts val="0"/>
                        </a:spcBef>
                        <a:spcAft>
                          <a:spcPts val="0"/>
                        </a:spcAft>
                      </a:pPr>
                      <a:r>
                        <a:rPr sz="1050" b="1" i="0">
                          <a:solidFill>
                            <a:srgbClr val="1B2733"/>
                          </a:solidFill>
                          <a:latin typeface="Calibri"/>
                        </a:rPr>
                        <a:t>h_b( p̂ )</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alibri"/>
                        </a:rPr>
                        <a:t>đo mức “đáng hỏi” (bước 3)</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alibri"/>
                        </a:rPr>
                        <a:t>chính là lượng thông tin kỳ vọng của 1 câu hỏi nhị phân</a:t>
                      </a:r>
                    </a:p>
                  </a:txBody>
                  <a:tcPr marL="64008" marR="64008" marT="18288" marB="18288" anchor="ctr">
                    <a:solidFill>
                      <a:srgbClr val="F3F6F9"/>
                    </a:solidFill>
                  </a:tcPr>
                </a:tc>
              </a:tr>
            </a:tbl>
          </a:graphicData>
        </a:graphic>
      </p:graphicFrame>
      <p:sp>
        <p:nvSpPr>
          <p:cNvPr id="10" name="Rounded Rectangle 9"/>
          <p:cNvSpPr/>
          <p:nvPr/>
        </p:nvSpPr>
        <p:spPr>
          <a:xfrm>
            <a:off x="6263640" y="4846320"/>
            <a:ext cx="5376672" cy="150876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09944" y="499262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2" name="TextBox 11"/>
          <p:cNvSpPr txBox="1"/>
          <p:nvPr/>
        </p:nvSpPr>
        <p:spPr>
          <a:xfrm>
            <a:off x="6848855" y="4956048"/>
            <a:ext cx="4645152" cy="1325880"/>
          </a:xfrm>
          <a:prstGeom prst="rect">
            <a:avLst/>
          </a:prstGeom>
          <a:noFill/>
        </p:spPr>
        <p:txBody>
          <a:bodyPr wrap="square" lIns="0" rIns="0" tIns="0" bIns="0" anchor="t">
            <a:spAutoFit/>
          </a:bodyPr>
          <a:lstStyle/>
          <a:p>
            <a:pPr algn="l">
              <a:spcBef>
                <a:spcPts val="0"/>
              </a:spcBef>
              <a:spcAft>
                <a:spcPts val="300"/>
              </a:spcAft>
            </a:pPr>
            <a:r>
              <a:rPr sz="1150" b="1" i="0">
                <a:solidFill>
                  <a:srgbClr val="A5680B"/>
                </a:solidFill>
                <a:latin typeface="Calibri"/>
              </a:rPr>
              <a:t>Câu hỏi: </a:t>
            </a:r>
            <a:r>
              <a:rPr sz="1150" b="1" i="1">
                <a:solidFill>
                  <a:srgbClr val="1B2733"/>
                </a:solidFill>
                <a:latin typeface="Calibri"/>
              </a:rPr>
              <a:t>Vì sao không dùng hàm hiệu chuẩn phức tạp hơn (isotonic, mạng nơ-ron)?</a:t>
            </a:r>
          </a:p>
          <a:p>
            <a:pPr algn="l">
              <a:spcBef>
                <a:spcPts val="0"/>
              </a:spcBef>
              <a:spcAft>
                <a:spcPts val="0"/>
              </a:spcAft>
            </a:pPr>
            <a:r>
              <a:rPr sz="1150" b="0" i="0">
                <a:solidFill>
                  <a:srgbClr val="1B2733"/>
                </a:solidFill>
                <a:latin typeface="Calibri"/>
              </a:rPr>
              <a:t>Mỗi batch chỉ thu 3 cặp feedback, bộ đệm tối đa 300 cặp. Hàm nhiều tham số sẽ overfit ngay; Platt với 2 tham số là mức đơn giản nhất còn sửa được cả độ dốc lẫn mức lệch.</a:t>
            </a:r>
          </a:p>
        </p:txBody>
      </p:sp>
      <p:sp>
        <p:nvSpPr>
          <p:cNvPr id="13" name="TextBox 12"/>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7 /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4 · CƠ SỞ TOÁN HỌC</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Ý nghĩa của z, a, b và p̂ — kèm ví dụ a = 4.0, b = −1.6</a:t>
            </a:r>
          </a:p>
        </p:txBody>
      </p:sp>
      <p:sp>
        <p:nvSpPr>
          <p:cNvPr id="4" name="Rounded Rectangle 3"/>
          <p:cNvSpPr/>
          <p:nvPr/>
        </p:nvSpPr>
        <p:spPr>
          <a:xfrm>
            <a:off x="548640" y="1554480"/>
            <a:ext cx="5440680" cy="1115568"/>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13232" y="1783080"/>
            <a:ext cx="658368" cy="65836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1783080"/>
            <a:ext cx="658368" cy="658368"/>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mbria"/>
              </a:rPr>
              <a:t>z</a:t>
            </a:r>
          </a:p>
        </p:txBody>
      </p:sp>
      <p:sp>
        <p:nvSpPr>
          <p:cNvPr id="7" name="TextBox 6"/>
          <p:cNvSpPr txBox="1"/>
          <p:nvPr/>
        </p:nvSpPr>
        <p:spPr>
          <a:xfrm>
            <a:off x="1536192" y="1645920"/>
            <a:ext cx="4343400" cy="960120"/>
          </a:xfrm>
          <a:prstGeom prst="rect">
            <a:avLst/>
          </a:prstGeom>
          <a:noFill/>
        </p:spPr>
        <p:txBody>
          <a:bodyPr wrap="square" lIns="0" rIns="0" tIns="0" bIns="0" anchor="ctr">
            <a:spAutoFit/>
          </a:bodyPr>
          <a:lstStyle/>
          <a:p>
            <a:pPr algn="l">
              <a:spcBef>
                <a:spcPts val="0"/>
              </a:spcBef>
              <a:spcAft>
                <a:spcPts val="200"/>
              </a:spcAft>
            </a:pPr>
            <a:r>
              <a:rPr sz="1300" b="1" i="0">
                <a:solidFill>
                  <a:srgbClr val="1B2733"/>
                </a:solidFill>
                <a:latin typeface="Calibri"/>
              </a:rPr>
              <a:t>log-odds của độ tự tin</a:t>
            </a:r>
          </a:p>
          <a:p>
            <a:pPr algn="l">
              <a:spcBef>
                <a:spcPts val="0"/>
              </a:spcBef>
              <a:spcAft>
                <a:spcPts val="0"/>
              </a:spcAft>
            </a:pPr>
            <a:r>
              <a:rPr sz="1150" b="0" i="0">
                <a:solidFill>
                  <a:srgbClr val="5A6A7A"/>
                </a:solidFill>
                <a:latin typeface="Calibri"/>
              </a:rPr>
              <a:t>Phép biến đổi cố định, không học: z = ln(C/(1−C)). Không có tham số nào ở bước này.</a:t>
            </a:r>
          </a:p>
        </p:txBody>
      </p:sp>
      <p:sp>
        <p:nvSpPr>
          <p:cNvPr id="8" name="Rounded Rectangle 7"/>
          <p:cNvSpPr/>
          <p:nvPr/>
        </p:nvSpPr>
        <p:spPr>
          <a:xfrm>
            <a:off x="548640" y="2743200"/>
            <a:ext cx="5440680" cy="1115568"/>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13232" y="2971800"/>
            <a:ext cx="658368" cy="65836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971800"/>
            <a:ext cx="658368" cy="658368"/>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mbria"/>
              </a:rPr>
              <a:t>a</a:t>
            </a:r>
          </a:p>
        </p:txBody>
      </p:sp>
      <p:sp>
        <p:nvSpPr>
          <p:cNvPr id="11" name="TextBox 10"/>
          <p:cNvSpPr txBox="1"/>
          <p:nvPr/>
        </p:nvSpPr>
        <p:spPr>
          <a:xfrm>
            <a:off x="1536192" y="2834640"/>
            <a:ext cx="4343400" cy="960120"/>
          </a:xfrm>
          <a:prstGeom prst="rect">
            <a:avLst/>
          </a:prstGeom>
          <a:noFill/>
        </p:spPr>
        <p:txBody>
          <a:bodyPr wrap="square" lIns="0" rIns="0" tIns="0" bIns="0" anchor="ctr">
            <a:spAutoFit/>
          </a:bodyPr>
          <a:lstStyle/>
          <a:p>
            <a:pPr algn="l">
              <a:spcBef>
                <a:spcPts val="0"/>
              </a:spcBef>
              <a:spcAft>
                <a:spcPts val="200"/>
              </a:spcAft>
            </a:pPr>
            <a:r>
              <a:rPr sz="1300" b="1" i="0">
                <a:solidFill>
                  <a:srgbClr val="1B2733"/>
                </a:solidFill>
                <a:latin typeface="Calibri"/>
              </a:rPr>
              <a:t>độ dốc (slope) — độ mạnh của phép sửa</a:t>
            </a:r>
          </a:p>
          <a:p>
            <a:pPr algn="l">
              <a:spcBef>
                <a:spcPts val="0"/>
              </a:spcBef>
              <a:spcAft>
                <a:spcPts val="0"/>
              </a:spcAft>
            </a:pPr>
            <a:r>
              <a:rPr sz="1150" b="0" i="0">
                <a:solidFill>
                  <a:srgbClr val="5A6A7A"/>
                </a:solidFill>
                <a:latin typeface="Calibri"/>
              </a:rPr>
              <a:t>a lớn: C nhích nhẹ là p̂ nhảy vọt từ ~0 lên ~1. a → 0: p̂ gần như hằng số, hiệu chuẩn vô dụng (bị code từ chối).</a:t>
            </a:r>
          </a:p>
        </p:txBody>
      </p:sp>
      <p:sp>
        <p:nvSpPr>
          <p:cNvPr id="12" name="Rounded Rectangle 11"/>
          <p:cNvSpPr/>
          <p:nvPr/>
        </p:nvSpPr>
        <p:spPr>
          <a:xfrm>
            <a:off x="548640" y="3931920"/>
            <a:ext cx="5440680" cy="1115568"/>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713232" y="4160520"/>
            <a:ext cx="658368" cy="65836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160520"/>
            <a:ext cx="658368" cy="658368"/>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mbria"/>
              </a:rPr>
              <a:t>b</a:t>
            </a:r>
          </a:p>
        </p:txBody>
      </p:sp>
      <p:sp>
        <p:nvSpPr>
          <p:cNvPr id="15" name="TextBox 14"/>
          <p:cNvSpPr txBox="1"/>
          <p:nvPr/>
        </p:nvSpPr>
        <p:spPr>
          <a:xfrm>
            <a:off x="1536192" y="4023359"/>
            <a:ext cx="4343400" cy="960120"/>
          </a:xfrm>
          <a:prstGeom prst="rect">
            <a:avLst/>
          </a:prstGeom>
          <a:noFill/>
        </p:spPr>
        <p:txBody>
          <a:bodyPr wrap="square" lIns="0" rIns="0" tIns="0" bIns="0" anchor="ctr">
            <a:spAutoFit/>
          </a:bodyPr>
          <a:lstStyle/>
          <a:p>
            <a:pPr algn="l">
              <a:spcBef>
                <a:spcPts val="0"/>
              </a:spcBef>
              <a:spcAft>
                <a:spcPts val="200"/>
              </a:spcAft>
            </a:pPr>
            <a:r>
              <a:rPr sz="1300" b="1" i="0">
                <a:solidFill>
                  <a:srgbClr val="1B2733"/>
                </a:solidFill>
                <a:latin typeface="Calibri"/>
              </a:rPr>
              <a:t>độ lệch (bias) — dịch cả đường cong</a:t>
            </a:r>
          </a:p>
          <a:p>
            <a:pPr algn="l">
              <a:spcBef>
                <a:spcPts val="0"/>
              </a:spcBef>
              <a:spcAft>
                <a:spcPts val="0"/>
              </a:spcAft>
            </a:pPr>
            <a:r>
              <a:rPr sz="1150" b="0" i="0">
                <a:solidFill>
                  <a:srgbClr val="5A6A7A"/>
                </a:solidFill>
                <a:latin typeface="Calibri"/>
              </a:rPr>
              <a:t>b âm: dù C trông ổn, p̂ vẫn bị kéo xuống → phát hiện mô hình “quá tự tin” so với thực tế.</a:t>
            </a:r>
          </a:p>
        </p:txBody>
      </p:sp>
      <p:sp>
        <p:nvSpPr>
          <p:cNvPr id="16" name="Rounded Rectangle 15"/>
          <p:cNvSpPr/>
          <p:nvPr/>
        </p:nvSpPr>
        <p:spPr>
          <a:xfrm>
            <a:off x="548640" y="5120640"/>
            <a:ext cx="5440680" cy="1115568"/>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13232" y="5349240"/>
            <a:ext cx="658368" cy="65836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5349240"/>
            <a:ext cx="658368" cy="658368"/>
          </a:xfrm>
          <a:prstGeom prst="rect">
            <a:avLst/>
          </a:prstGeom>
          <a:noFill/>
        </p:spPr>
        <p:txBody>
          <a:bodyPr wrap="square" lIns="0" rIns="0" tIns="0" bIns="0" anchor="ctr">
            <a:spAutoFit/>
          </a:bodyPr>
          <a:lstStyle/>
          <a:p>
            <a:pPr algn="ctr">
              <a:spcBef>
                <a:spcPts val="0"/>
              </a:spcBef>
              <a:spcAft>
                <a:spcPts val="0"/>
              </a:spcAft>
            </a:pPr>
            <a:r>
              <a:rPr sz="2200" b="1" i="0">
                <a:solidFill>
                  <a:srgbClr val="FFFFFF"/>
                </a:solidFill>
                <a:latin typeface="Cambria"/>
              </a:rPr>
              <a:t>p̂</a:t>
            </a:r>
          </a:p>
        </p:txBody>
      </p:sp>
      <p:sp>
        <p:nvSpPr>
          <p:cNvPr id="19" name="TextBox 18"/>
          <p:cNvSpPr txBox="1"/>
          <p:nvPr/>
        </p:nvSpPr>
        <p:spPr>
          <a:xfrm>
            <a:off x="1536192" y="5212079"/>
            <a:ext cx="4343400" cy="960120"/>
          </a:xfrm>
          <a:prstGeom prst="rect">
            <a:avLst/>
          </a:prstGeom>
          <a:noFill/>
        </p:spPr>
        <p:txBody>
          <a:bodyPr wrap="square" lIns="0" rIns="0" tIns="0" bIns="0" anchor="ctr">
            <a:spAutoFit/>
          </a:bodyPr>
          <a:lstStyle/>
          <a:p>
            <a:pPr algn="l">
              <a:spcBef>
                <a:spcPts val="0"/>
              </a:spcBef>
              <a:spcAft>
                <a:spcPts val="200"/>
              </a:spcAft>
            </a:pPr>
            <a:r>
              <a:rPr sz="1300" b="1" i="0">
                <a:solidFill>
                  <a:srgbClr val="1B2733"/>
                </a:solidFill>
                <a:latin typeface="Calibri"/>
              </a:rPr>
              <a:t>xác suất đúng thực tế sau hiệu chuẩn</a:t>
            </a:r>
          </a:p>
          <a:p>
            <a:pPr algn="l">
              <a:spcBef>
                <a:spcPts val="0"/>
              </a:spcBef>
              <a:spcAft>
                <a:spcPts val="0"/>
              </a:spcAft>
            </a:pPr>
            <a:r>
              <a:rPr sz="1150" b="0" i="0">
                <a:solidFill>
                  <a:srgbClr val="5A6A7A"/>
                </a:solidFill>
                <a:latin typeface="Calibri"/>
              </a:rPr>
              <a:t>Ước lượng P(oracle nói ĐÚNG | C(x)), học từ lịch sử feedback. Đây là đầu vào của h_b ở bước chọn mẫu.</a:t>
            </a:r>
          </a:p>
        </p:txBody>
      </p:sp>
      <p:graphicFrame>
        <p:nvGraphicFramePr>
          <p:cNvPr id="20" name="Chart 19"/>
          <p:cNvGraphicFramePr>
            <a:graphicFrameLocks noGrp="1"/>
          </p:cNvGraphicFramePr>
          <p:nvPr/>
        </p:nvGraphicFramePr>
        <p:xfrm>
          <a:off x="6217920" y="1463040"/>
          <a:ext cx="5440680" cy="3108960"/>
        </p:xfrm>
        <a:graphic>
          <a:graphicData uri="http://schemas.openxmlformats.org/drawingml/2006/chart">
            <c:chart xmlns:c="http://schemas.openxmlformats.org/drawingml/2006/chart" r:id="rId2"/>
          </a:graphicData>
        </a:graphic>
      </p:graphicFrame>
      <p:graphicFrame>
        <p:nvGraphicFramePr>
          <p:cNvPr id="21" name="Table 20"/>
          <p:cNvGraphicFramePr>
            <a:graphicFrameLocks noGrp="1"/>
          </p:cNvGraphicFramePr>
          <p:nvPr/>
        </p:nvGraphicFramePr>
        <p:xfrm>
          <a:off x="6217920" y="4709160"/>
          <a:ext cx="5440680" cy="658368"/>
        </p:xfrm>
        <a:graphic>
          <a:graphicData uri="http://schemas.openxmlformats.org/drawingml/2006/table">
            <a:tbl>
              <a:tblPr firstRow="0" bandRow="0">
                <a:tableStyleId>{5C22544A-7EE6-4342-B048-85BDC9FD1C3A}</a:tableStyleId>
              </a:tblPr>
              <a:tblGrid>
                <a:gridCol w="1783080"/>
                <a:gridCol w="731520"/>
                <a:gridCol w="731520"/>
                <a:gridCol w="731520"/>
                <a:gridCol w="731520"/>
                <a:gridCol w="731520"/>
              </a:tblGrid>
              <a:tr h="329184">
                <a:tc>
                  <a:txBody>
                    <a:bodyPr wrap="square"/>
                    <a:lstStyle/>
                    <a:p>
                      <a:pPr algn="l">
                        <a:spcBef>
                          <a:spcPts val="0"/>
                        </a:spcBef>
                        <a:spcAft>
                          <a:spcPts val="0"/>
                        </a:spcAft>
                      </a:pPr>
                      <a:r>
                        <a:rPr sz="1100" b="1" i="0">
                          <a:solidFill>
                            <a:srgbClr val="FFFFFF"/>
                          </a:solidFill>
                          <a:latin typeface="Calibri"/>
                        </a:rPr>
                        <a:t>C(x) thô</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0.10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0.30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0.50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0.70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0.90</a:t>
                      </a:r>
                    </a:p>
                  </a:txBody>
                  <a:tcPr marL="64008" marR="64008" marT="18288" marB="18288" anchor="ctr">
                    <a:solidFill>
                      <a:srgbClr val="0F2A43"/>
                    </a:solidFill>
                  </a:tcPr>
                </a:tc>
              </a:tr>
              <a:tr h="329184">
                <a:tc>
                  <a:txBody>
                    <a:bodyPr wrap="square"/>
                    <a:lstStyle/>
                    <a:p>
                      <a:pPr algn="l">
                        <a:spcBef>
                          <a:spcPts val="0"/>
                        </a:spcBef>
                        <a:spcAft>
                          <a:spcPts val="0"/>
                        </a:spcAft>
                      </a:pPr>
                      <a:r>
                        <a:rPr sz="1100" b="1" i="0">
                          <a:solidFill>
                            <a:srgbClr val="1B2733"/>
                          </a:solidFill>
                          <a:latin typeface="Calibri"/>
                        </a:rPr>
                        <a:t>p̂ (a = 4, b = −1.6)</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0.0%</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0.7%</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16.8%</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85.7%</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99.9%</a:t>
                      </a:r>
                    </a:p>
                  </a:txBody>
                  <a:tcPr marL="64008" marR="64008" marT="18288" marB="18288" anchor="ctr">
                    <a:solidFill>
                      <a:srgbClr val="FFFFFF"/>
                    </a:solidFill>
                  </a:tcPr>
                </a:tc>
              </a:tr>
            </a:tbl>
          </a:graphicData>
        </a:graphic>
      </p:graphicFrame>
      <p:sp>
        <p:nvSpPr>
          <p:cNvPr id="22" name="TextBox 21"/>
          <p:cNvSpPr txBox="1"/>
          <p:nvPr/>
        </p:nvSpPr>
        <p:spPr>
          <a:xfrm>
            <a:off x="6217920" y="5440680"/>
            <a:ext cx="5440680" cy="914400"/>
          </a:xfrm>
          <a:prstGeom prst="rect">
            <a:avLst/>
          </a:prstGeom>
          <a:noFill/>
        </p:spPr>
        <p:txBody>
          <a:bodyPr wrap="square" lIns="0" rIns="0" tIns="0" bIns="0" anchor="t">
            <a:spAutoFit/>
          </a:bodyPr>
          <a:lstStyle/>
          <a:p>
            <a:pPr algn="l">
              <a:spcBef>
                <a:spcPts val="0"/>
              </a:spcBef>
              <a:spcAft>
                <a:spcPts val="0"/>
              </a:spcAft>
            </a:pPr>
            <a:r>
              <a:rPr sz="1200" b="0" i="0">
                <a:solidFill>
                  <a:srgbClr val="1B2733"/>
                </a:solidFill>
                <a:latin typeface="Calibri"/>
              </a:rPr>
              <a:t>Đọc bảng: mô hình tự tin thô 50% nhưng theo lịch sử chỉ đúng khoảng 17% — độ tự tin thô đang bị “thổi phồng” khi gặp dữ liệu lạ. Chính khoảng cách này là thứ Eq. 6 gốc không nhìn thấy.</a:t>
            </a:r>
          </a:p>
        </p:txBody>
      </p:sp>
      <p:sp>
        <p:nvSpPr>
          <p:cNvPr id="23" name="TextBox 22"/>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8 / 19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4 · CƠ SỞ TOÁN HỌC</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Cách tìm a, b (1/3): thu thập dữ liệu và thiết lập bài toán tối ưu</a:t>
            </a:r>
          </a:p>
        </p:txBody>
      </p:sp>
      <p:sp>
        <p:nvSpPr>
          <p:cNvPr id="4" name="Oval 3"/>
          <p:cNvSpPr/>
          <p:nvPr/>
        </p:nvSpPr>
        <p:spPr>
          <a:xfrm>
            <a:off x="548640" y="1591056"/>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1</a:t>
            </a:r>
          </a:p>
        </p:txBody>
      </p:sp>
      <p:sp>
        <p:nvSpPr>
          <p:cNvPr id="5" name="TextBox 4"/>
          <p:cNvSpPr txBox="1"/>
          <p:nvPr/>
        </p:nvSpPr>
        <p:spPr>
          <a:xfrm>
            <a:off x="1097280" y="1554480"/>
            <a:ext cx="5212080" cy="914400"/>
          </a:xfrm>
          <a:prstGeom prst="rect">
            <a:avLst/>
          </a:prstGeom>
          <a:noFill/>
        </p:spPr>
        <p:txBody>
          <a:bodyPr wrap="square" lIns="0" rIns="0" tIns="0" bIns="0" anchor="t">
            <a:spAutoFit/>
          </a:bodyPr>
          <a:lstStyle/>
          <a:p>
            <a:pPr algn="l">
              <a:spcBef>
                <a:spcPts val="0"/>
              </a:spcBef>
              <a:spcAft>
                <a:spcPts val="100"/>
              </a:spcAft>
            </a:pPr>
            <a:r>
              <a:rPr sz="1400" b="1" i="0">
                <a:solidFill>
                  <a:srgbClr val="1B2733"/>
                </a:solidFill>
                <a:latin typeface="Calibri"/>
              </a:rPr>
              <a:t>Ghi cặp feedback</a:t>
            </a:r>
          </a:p>
          <a:p>
            <a:pPr algn="l">
              <a:spcBef>
                <a:spcPts val="0"/>
              </a:spcBef>
              <a:spcAft>
                <a:spcPts val="0"/>
              </a:spcAft>
            </a:pPr>
            <a:r>
              <a:rPr sz="1150" b="0" i="0">
                <a:solidFill>
                  <a:srgbClr val="5A6A7A"/>
                </a:solidFill>
                <a:latin typeface="Calibri"/>
              </a:rPr>
              <a:t>Mỗi lần oracle trả lời, lưu (C(x) lúc hỏi, y ∈ {1 = đúng, 0 = sai}) vào bộ đệm deque, tối đa platt_buffer_size = 300 cặp gần nhất (cặp cũ tự rơi ra).</a:t>
            </a:r>
          </a:p>
        </p:txBody>
      </p:sp>
      <p:sp>
        <p:nvSpPr>
          <p:cNvPr id="6" name="Oval 5"/>
          <p:cNvSpPr/>
          <p:nvPr/>
        </p:nvSpPr>
        <p:spPr>
          <a:xfrm>
            <a:off x="548640" y="2523744"/>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2</a:t>
            </a:r>
          </a:p>
        </p:txBody>
      </p:sp>
      <p:sp>
        <p:nvSpPr>
          <p:cNvPr id="7" name="TextBox 6"/>
          <p:cNvSpPr txBox="1"/>
          <p:nvPr/>
        </p:nvSpPr>
        <p:spPr>
          <a:xfrm>
            <a:off x="1097280" y="2487168"/>
            <a:ext cx="5212080" cy="914400"/>
          </a:xfrm>
          <a:prstGeom prst="rect">
            <a:avLst/>
          </a:prstGeom>
          <a:noFill/>
        </p:spPr>
        <p:txBody>
          <a:bodyPr wrap="square" lIns="0" rIns="0" tIns="0" bIns="0" anchor="t">
            <a:spAutoFit/>
          </a:bodyPr>
          <a:lstStyle/>
          <a:p>
            <a:pPr algn="l">
              <a:spcBef>
                <a:spcPts val="0"/>
              </a:spcBef>
              <a:spcAft>
                <a:spcPts val="100"/>
              </a:spcAft>
            </a:pPr>
            <a:r>
              <a:rPr sz="1400" b="1" i="0">
                <a:solidFill>
                  <a:srgbClr val="1B2733"/>
                </a:solidFill>
                <a:latin typeface="Calibri"/>
              </a:rPr>
              <a:t>Chờ đủ dữ liệu</a:t>
            </a:r>
          </a:p>
          <a:p>
            <a:pPr algn="l">
              <a:spcBef>
                <a:spcPts val="0"/>
              </a:spcBef>
              <a:spcAft>
                <a:spcPts val="0"/>
              </a:spcAft>
            </a:pPr>
            <a:r>
              <a:rPr sz="1150" b="0" i="0">
                <a:solidFill>
                  <a:srgbClr val="5A6A7A"/>
                </a:solidFill>
                <a:latin typeface="Calibri"/>
              </a:rPr>
              <a:t>Chỉ fit khi có ≥ platt_min_samples cặp (20 trong cấu hình báo cáo; mặc định code là 60). Trước đó dùng lại Eq. 6.</a:t>
            </a:r>
          </a:p>
        </p:txBody>
      </p:sp>
      <p:sp>
        <p:nvSpPr>
          <p:cNvPr id="8" name="Oval 7"/>
          <p:cNvSpPr/>
          <p:nvPr/>
        </p:nvSpPr>
        <p:spPr>
          <a:xfrm>
            <a:off x="548640" y="3456432"/>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3</a:t>
            </a:r>
          </a:p>
        </p:txBody>
      </p:sp>
      <p:sp>
        <p:nvSpPr>
          <p:cNvPr id="9" name="TextBox 8"/>
          <p:cNvSpPr txBox="1"/>
          <p:nvPr/>
        </p:nvSpPr>
        <p:spPr>
          <a:xfrm>
            <a:off x="1097280" y="3419856"/>
            <a:ext cx="5212080" cy="914400"/>
          </a:xfrm>
          <a:prstGeom prst="rect">
            <a:avLst/>
          </a:prstGeom>
          <a:noFill/>
        </p:spPr>
        <p:txBody>
          <a:bodyPr wrap="square" lIns="0" rIns="0" tIns="0" bIns="0" anchor="t">
            <a:spAutoFit/>
          </a:bodyPr>
          <a:lstStyle/>
          <a:p>
            <a:pPr algn="l">
              <a:spcBef>
                <a:spcPts val="0"/>
              </a:spcBef>
              <a:spcAft>
                <a:spcPts val="100"/>
              </a:spcAft>
            </a:pPr>
            <a:r>
              <a:rPr sz="1400" b="1" i="0">
                <a:solidFill>
                  <a:srgbClr val="1B2733"/>
                </a:solidFill>
                <a:latin typeface="Calibri"/>
              </a:rPr>
              <a:t>Đổi sang log-odds</a:t>
            </a:r>
          </a:p>
          <a:p>
            <a:pPr algn="l">
              <a:spcBef>
                <a:spcPts val="0"/>
              </a:spcBef>
              <a:spcAft>
                <a:spcPts val="0"/>
              </a:spcAft>
            </a:pPr>
            <a:r>
              <a:rPr sz="1150" b="0" i="0">
                <a:solidFill>
                  <a:srgbClr val="5A6A7A"/>
                </a:solidFill>
                <a:latin typeface="Calibri"/>
              </a:rPr>
              <a:t>z_i = logit( clamp(C_i, 10⁻⁶, 1 − 10⁻⁶) ). Clamp tránh logit(0) hoặc logit(1) = ∞.</a:t>
            </a:r>
          </a:p>
        </p:txBody>
      </p:sp>
      <p:sp>
        <p:nvSpPr>
          <p:cNvPr id="10" name="Oval 9"/>
          <p:cNvSpPr/>
          <p:nvPr/>
        </p:nvSpPr>
        <p:spPr>
          <a:xfrm>
            <a:off x="548640" y="4389120"/>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4</a:t>
            </a:r>
          </a:p>
        </p:txBody>
      </p:sp>
      <p:sp>
        <p:nvSpPr>
          <p:cNvPr id="11" name="TextBox 10"/>
          <p:cNvSpPr txBox="1"/>
          <p:nvPr/>
        </p:nvSpPr>
        <p:spPr>
          <a:xfrm>
            <a:off x="1097280" y="4352544"/>
            <a:ext cx="5212080" cy="914400"/>
          </a:xfrm>
          <a:prstGeom prst="rect">
            <a:avLst/>
          </a:prstGeom>
          <a:noFill/>
        </p:spPr>
        <p:txBody>
          <a:bodyPr wrap="square" lIns="0" rIns="0" tIns="0" bIns="0" anchor="t">
            <a:spAutoFit/>
          </a:bodyPr>
          <a:lstStyle/>
          <a:p>
            <a:pPr algn="l">
              <a:spcBef>
                <a:spcPts val="0"/>
              </a:spcBef>
              <a:spcAft>
                <a:spcPts val="100"/>
              </a:spcAft>
            </a:pPr>
            <a:r>
              <a:rPr sz="1400" b="1" i="0">
                <a:solidFill>
                  <a:srgbClr val="1B2733"/>
                </a:solidFill>
                <a:latin typeface="Calibri"/>
              </a:rPr>
              <a:t>Làm mịn nhãn</a:t>
            </a:r>
          </a:p>
          <a:p>
            <a:pPr algn="l">
              <a:spcBef>
                <a:spcPts val="0"/>
              </a:spcBef>
              <a:spcAft>
                <a:spcPts val="0"/>
              </a:spcAft>
            </a:pPr>
            <a:r>
              <a:rPr sz="1150" b="0" i="0">
                <a:solidFill>
                  <a:srgbClr val="5A6A7A"/>
                </a:solidFill>
                <a:latin typeface="Calibri"/>
              </a:rPr>
              <a:t>Nhãn “đúng” → (n₊+1)/(n₊+2); nhãn “sai” → 1/(n₋+2). Với ~3 cặp/batch, dữ liệu dễ tách tuyến tính hoàn hảo làm a → ∞; làm mịn giữ nghiệm hữu hạn.</a:t>
            </a:r>
          </a:p>
        </p:txBody>
      </p:sp>
      <p:sp>
        <p:nvSpPr>
          <p:cNvPr id="12" name="Oval 11"/>
          <p:cNvSpPr/>
          <p:nvPr/>
        </p:nvSpPr>
        <p:spPr>
          <a:xfrm>
            <a:off x="548640" y="5321807"/>
            <a:ext cx="384048" cy="384048"/>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Calibri"/>
              </a:rPr>
              <a:t>5</a:t>
            </a:r>
          </a:p>
        </p:txBody>
      </p:sp>
      <p:sp>
        <p:nvSpPr>
          <p:cNvPr id="13" name="TextBox 12"/>
          <p:cNvSpPr txBox="1"/>
          <p:nvPr/>
        </p:nvSpPr>
        <p:spPr>
          <a:xfrm>
            <a:off x="1097280" y="5285231"/>
            <a:ext cx="5212080" cy="914400"/>
          </a:xfrm>
          <a:prstGeom prst="rect">
            <a:avLst/>
          </a:prstGeom>
          <a:noFill/>
        </p:spPr>
        <p:txBody>
          <a:bodyPr wrap="square" lIns="0" rIns="0" tIns="0" bIns="0" anchor="t">
            <a:spAutoFit/>
          </a:bodyPr>
          <a:lstStyle/>
          <a:p>
            <a:pPr algn="l">
              <a:spcBef>
                <a:spcPts val="0"/>
              </a:spcBef>
              <a:spcAft>
                <a:spcPts val="100"/>
              </a:spcAft>
            </a:pPr>
            <a:r>
              <a:rPr sz="1400" b="1" i="0">
                <a:solidFill>
                  <a:srgbClr val="1B2733"/>
                </a:solidFill>
                <a:latin typeface="Calibri"/>
              </a:rPr>
              <a:t>Tối thiểu hoá BCE</a:t>
            </a:r>
          </a:p>
          <a:p>
            <a:pPr algn="l">
              <a:spcBef>
                <a:spcPts val="0"/>
              </a:spcBef>
              <a:spcAft>
                <a:spcPts val="0"/>
              </a:spcAft>
            </a:pPr>
            <a:r>
              <a:rPr sz="1150" b="0" i="0">
                <a:solidFill>
                  <a:srgbClr val="5A6A7A"/>
                </a:solidFill>
                <a:latin typeface="Calibri"/>
              </a:rPr>
              <a:t>Tìm (a, b) làm hàm mất mát nhị phân nhỏ nhất bằng LBFGS (trang kế tiếp). Refit mỗi platt_refit_every = 1 batch.</a:t>
            </a:r>
          </a:p>
        </p:txBody>
      </p:sp>
      <p:sp>
        <p:nvSpPr>
          <p:cNvPr id="14" name="Rounded Rectangle 13"/>
          <p:cNvSpPr/>
          <p:nvPr/>
        </p:nvSpPr>
        <p:spPr>
          <a:xfrm>
            <a:off x="6583680" y="1554480"/>
            <a:ext cx="5074920" cy="2331720"/>
          </a:xfrm>
          <a:prstGeom prst="roundRect">
            <a:avLst>
              <a:gd name="adj" fmla="val 4000"/>
            </a:avLst>
          </a:prstGeom>
          <a:solidFill>
            <a:srgbClr val="F3F6F9"/>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1682495"/>
            <a:ext cx="4709159" cy="2112263"/>
          </a:xfrm>
          <a:prstGeom prst="rect">
            <a:avLst/>
          </a:prstGeom>
          <a:noFill/>
        </p:spPr>
        <p:txBody>
          <a:bodyPr wrap="square" lIns="0" rIns="0" tIns="0" bIns="0" anchor="ctr">
            <a:spAutoFit/>
          </a:bodyPr>
          <a:lstStyle/>
          <a:p>
            <a:pPr algn="l">
              <a:spcBef>
                <a:spcPts val="0"/>
              </a:spcBef>
              <a:spcAft>
                <a:spcPts val="200"/>
              </a:spcAft>
            </a:pPr>
            <a:r>
              <a:rPr sz="900" b="0" i="1">
                <a:solidFill>
                  <a:srgbClr val="5A6A7A"/>
                </a:solidFill>
                <a:latin typeface="Consolas"/>
              </a:rPr>
              <a:t>hàm mục tiêu: binary cross-entropy trên n cặp</a:t>
            </a:r>
          </a:p>
          <a:p>
            <a:pPr algn="l">
              <a:spcBef>
                <a:spcPts val="0"/>
              </a:spcBef>
              <a:spcAft>
                <a:spcPts val="600"/>
              </a:spcAft>
            </a:pPr>
            <a:r>
              <a:rPr sz="1200" b="0" i="0">
                <a:solidFill>
                  <a:srgbClr val="1B2733"/>
                </a:solidFill>
                <a:latin typeface="Consolas"/>
              </a:rPr>
              <a:t>L(a,b) = −(1/n) Σ_i [ ỹ_i·ln σ_i + (1−ỹ_i)·ln(1−σ_i) ]</a:t>
            </a:r>
          </a:p>
          <a:p>
            <a:pPr algn="l">
              <a:spcBef>
                <a:spcPts val="0"/>
              </a:spcBef>
              <a:spcAft>
                <a:spcPts val="200"/>
              </a:spcAft>
            </a:pPr>
            <a:r>
              <a:rPr sz="900" b="0" i="1">
                <a:solidFill>
                  <a:srgbClr val="5A6A7A"/>
                </a:solidFill>
                <a:latin typeface="Consolas"/>
              </a:rPr>
              <a:t>với σ_i = σ(a·z_i + b),  ỹ_i = nhãn đã làm mịn</a:t>
            </a:r>
          </a:p>
        </p:txBody>
      </p:sp>
      <p:sp>
        <p:nvSpPr>
          <p:cNvPr id="16" name="Rounded Rectangle 15"/>
          <p:cNvSpPr/>
          <p:nvPr/>
        </p:nvSpPr>
        <p:spPr>
          <a:xfrm>
            <a:off x="6583680" y="4023360"/>
            <a:ext cx="5074920" cy="1463040"/>
          </a:xfrm>
          <a:prstGeom prst="roundRect">
            <a:avLst>
              <a:gd name="adj" fmla="val 4000"/>
            </a:avLst>
          </a:prstGeom>
          <a:solidFill>
            <a:srgbClr val="F3F6F9"/>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66560" y="4151376"/>
            <a:ext cx="4709159" cy="1243584"/>
          </a:xfrm>
          <a:prstGeom prst="rect">
            <a:avLst/>
          </a:prstGeom>
          <a:noFill/>
        </p:spPr>
        <p:txBody>
          <a:bodyPr wrap="square" lIns="0" rIns="0" tIns="0" bIns="0" anchor="ctr">
            <a:spAutoFit/>
          </a:bodyPr>
          <a:lstStyle/>
          <a:p>
            <a:pPr algn="l">
              <a:spcBef>
                <a:spcPts val="0"/>
              </a:spcBef>
              <a:spcAft>
                <a:spcPts val="200"/>
              </a:spcAft>
            </a:pPr>
            <a:r>
              <a:rPr sz="1000" b="0" i="1">
                <a:solidFill>
                  <a:srgbClr val="5A6A7A"/>
                </a:solidFill>
                <a:latin typeface="Consolas"/>
              </a:rPr>
              <a:t>gradient (dùng cho LBFGS)</a:t>
            </a:r>
          </a:p>
          <a:p>
            <a:pPr algn="l">
              <a:spcBef>
                <a:spcPts val="0"/>
              </a:spcBef>
              <a:spcAft>
                <a:spcPts val="600"/>
              </a:spcAft>
            </a:pPr>
            <a:r>
              <a:rPr sz="1300" b="0" i="0">
                <a:solidFill>
                  <a:srgbClr val="1B2733"/>
                </a:solidFill>
                <a:latin typeface="Consolas"/>
              </a:rPr>
              <a:t>∂L/∂a = (1/n) Σ_i (σ_i − ỹ_i)·z_i</a:t>
            </a:r>
          </a:p>
          <a:p>
            <a:pPr algn="l">
              <a:spcBef>
                <a:spcPts val="0"/>
              </a:spcBef>
              <a:spcAft>
                <a:spcPts val="600"/>
              </a:spcAft>
            </a:pPr>
            <a:r>
              <a:rPr sz="1300" b="0" i="0">
                <a:solidFill>
                  <a:srgbClr val="1B2733"/>
                </a:solidFill>
                <a:latin typeface="Consolas"/>
              </a:rPr>
              <a:t>∂L/∂b = (1/n) Σ_i (σ_i − ỹ_i)</a:t>
            </a:r>
          </a:p>
        </p:txBody>
      </p:sp>
      <p:sp>
        <p:nvSpPr>
          <p:cNvPr id="18" name="TextBox 17"/>
          <p:cNvSpPr txBox="1"/>
          <p:nvPr/>
        </p:nvSpPr>
        <p:spPr>
          <a:xfrm>
            <a:off x="6583680" y="5623560"/>
            <a:ext cx="5074920" cy="777240"/>
          </a:xfrm>
          <a:prstGeom prst="rect">
            <a:avLst/>
          </a:prstGeom>
          <a:noFill/>
        </p:spPr>
        <p:txBody>
          <a:bodyPr wrap="square" lIns="0" rIns="0" tIns="0" bIns="0" anchor="t">
            <a:spAutoFit/>
          </a:bodyPr>
          <a:lstStyle/>
          <a:p>
            <a:pPr algn="l">
              <a:spcBef>
                <a:spcPts val="0"/>
              </a:spcBef>
              <a:spcAft>
                <a:spcPts val="0"/>
              </a:spcAft>
            </a:pPr>
            <a:r>
              <a:rPr sz="1150" b="1" i="0">
                <a:solidFill>
                  <a:srgbClr val="0E8F82"/>
                </a:solidFill>
                <a:latin typeface="Calibri"/>
              </a:rPr>
              <a:t>Lồi theo (a, b): </a:t>
            </a:r>
            <a:r>
              <a:rPr sz="1150" b="0" i="0">
                <a:solidFill>
                  <a:srgbClr val="1B2733"/>
                </a:solidFill>
                <a:latin typeface="Calibri"/>
              </a:rPr>
              <a:t>chỉ có một cực tiểu toàn cục, nên LBFGS không bị kẹt ở cực tiểu địa phương. Trong code dùng nn.BCEWithLogitsLoss trên logit a·z + b để ổn định số học.</a:t>
            </a:r>
          </a:p>
        </p:txBody>
      </p:sp>
      <p:sp>
        <p:nvSpPr>
          <p:cNvPr id="19" name="TextBox 18"/>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4 · CƠ SỞ TOÁN HỌC</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Cách tìm a, b (2/3): LBFGS là gì và được chạy thế nào</a:t>
            </a:r>
          </a:p>
        </p:txBody>
      </p:sp>
      <p:sp>
        <p:nvSpPr>
          <p:cNvPr id="4" name="Rounded Rectangle 3"/>
          <p:cNvSpPr/>
          <p:nvPr/>
        </p:nvSpPr>
        <p:spPr>
          <a:xfrm>
            <a:off x="548640" y="1554480"/>
            <a:ext cx="5623560" cy="118872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45920"/>
            <a:ext cx="5303520" cy="1051560"/>
          </a:xfrm>
          <a:prstGeom prst="rect">
            <a:avLst/>
          </a:prstGeom>
          <a:noFill/>
        </p:spPr>
        <p:txBody>
          <a:bodyPr wrap="square" lIns="0" rIns="0" tIns="0" bIns="0" anchor="t">
            <a:spAutoFit/>
          </a:bodyPr>
          <a:lstStyle/>
          <a:p>
            <a:pPr algn="l">
              <a:spcBef>
                <a:spcPts val="0"/>
              </a:spcBef>
              <a:spcAft>
                <a:spcPts val="100"/>
              </a:spcAft>
            </a:pPr>
            <a:r>
              <a:rPr sz="1350" b="1" i="0">
                <a:solidFill>
                  <a:srgbClr val="1B2733"/>
                </a:solidFill>
                <a:latin typeface="Calibri"/>
              </a:rPr>
              <a:t>Gradient Descent (bậc 1)</a:t>
            </a:r>
          </a:p>
          <a:p>
            <a:pPr algn="l">
              <a:spcBef>
                <a:spcPts val="0"/>
              </a:spcBef>
              <a:spcAft>
                <a:spcPts val="200"/>
              </a:spcAft>
            </a:pPr>
            <a:r>
              <a:rPr sz="1300" b="1" i="0">
                <a:solidFill>
                  <a:srgbClr val="1B2733"/>
                </a:solidFill>
                <a:latin typeface="Consolas"/>
              </a:rPr>
              <a:t>θ ← θ − η∇L</a:t>
            </a:r>
          </a:p>
          <a:p>
            <a:pPr algn="l">
              <a:spcBef>
                <a:spcPts val="0"/>
              </a:spcBef>
              <a:spcAft>
                <a:spcPts val="0"/>
              </a:spcAft>
            </a:pPr>
            <a:r>
              <a:rPr sz="1150" b="0" i="0">
                <a:solidFill>
                  <a:srgbClr val="5A6A7A"/>
                </a:solidFill>
                <a:latin typeface="Calibri"/>
              </a:rPr>
              <a:t>Chỉ biết hướng dốc; phải chọn η và số bước, hội tụ chậm khi hàm “méo”.</a:t>
            </a:r>
          </a:p>
        </p:txBody>
      </p:sp>
      <p:sp>
        <p:nvSpPr>
          <p:cNvPr id="6" name="Rounded Rectangle 5"/>
          <p:cNvSpPr/>
          <p:nvPr/>
        </p:nvSpPr>
        <p:spPr>
          <a:xfrm>
            <a:off x="548640" y="2834639"/>
            <a:ext cx="5623560" cy="118872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926079"/>
            <a:ext cx="5303520" cy="1051560"/>
          </a:xfrm>
          <a:prstGeom prst="rect">
            <a:avLst/>
          </a:prstGeom>
          <a:noFill/>
        </p:spPr>
        <p:txBody>
          <a:bodyPr wrap="square" lIns="0" rIns="0" tIns="0" bIns="0" anchor="t">
            <a:spAutoFit/>
          </a:bodyPr>
          <a:lstStyle/>
          <a:p>
            <a:pPr algn="l">
              <a:spcBef>
                <a:spcPts val="0"/>
              </a:spcBef>
              <a:spcAft>
                <a:spcPts val="100"/>
              </a:spcAft>
            </a:pPr>
            <a:r>
              <a:rPr sz="1350" b="1" i="0">
                <a:solidFill>
                  <a:srgbClr val="1B2733"/>
                </a:solidFill>
                <a:latin typeface="Calibri"/>
              </a:rPr>
              <a:t>Newton (bậc 2)</a:t>
            </a:r>
          </a:p>
          <a:p>
            <a:pPr algn="l">
              <a:spcBef>
                <a:spcPts val="0"/>
              </a:spcBef>
              <a:spcAft>
                <a:spcPts val="200"/>
              </a:spcAft>
            </a:pPr>
            <a:r>
              <a:rPr sz="1300" b="1" i="0">
                <a:solidFill>
                  <a:srgbClr val="1B2733"/>
                </a:solidFill>
                <a:latin typeface="Consolas"/>
              </a:rPr>
              <a:t>θ ← θ − H⁻¹∇L</a:t>
            </a:r>
          </a:p>
          <a:p>
            <a:pPr algn="l">
              <a:spcBef>
                <a:spcPts val="0"/>
              </a:spcBef>
              <a:spcAft>
                <a:spcPts val="0"/>
              </a:spcAft>
            </a:pPr>
            <a:r>
              <a:rPr sz="1150" b="0" i="0">
                <a:solidFill>
                  <a:srgbClr val="5A6A7A"/>
                </a:solidFill>
                <a:latin typeface="Calibri"/>
              </a:rPr>
              <a:t>Dùng độ cong H (Hessian) nên đi thẳng tới đáy, nhưng tính và nghịch đảo H rất đắt.</a:t>
            </a:r>
          </a:p>
        </p:txBody>
      </p:sp>
      <p:sp>
        <p:nvSpPr>
          <p:cNvPr id="8" name="Rounded Rectangle 7"/>
          <p:cNvSpPr/>
          <p:nvPr/>
        </p:nvSpPr>
        <p:spPr>
          <a:xfrm>
            <a:off x="548640" y="4114800"/>
            <a:ext cx="5623560" cy="1188720"/>
          </a:xfrm>
          <a:prstGeom prst="roundRect">
            <a:avLst>
              <a:gd name="adj" fmla="val 5000"/>
            </a:avLst>
          </a:prstGeom>
          <a:solidFill>
            <a:srgbClr val="FBEBD2"/>
          </a:solidFill>
          <a:ln w="12700">
            <a:solidFill>
              <a:srgbClr val="A568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206240"/>
            <a:ext cx="5303520" cy="1051560"/>
          </a:xfrm>
          <a:prstGeom prst="rect">
            <a:avLst/>
          </a:prstGeom>
          <a:noFill/>
        </p:spPr>
        <p:txBody>
          <a:bodyPr wrap="square" lIns="0" rIns="0" tIns="0" bIns="0" anchor="t">
            <a:spAutoFit/>
          </a:bodyPr>
          <a:lstStyle/>
          <a:p>
            <a:pPr algn="l">
              <a:spcBef>
                <a:spcPts val="0"/>
              </a:spcBef>
              <a:spcAft>
                <a:spcPts val="100"/>
              </a:spcAft>
            </a:pPr>
            <a:r>
              <a:rPr sz="1350" b="1" i="0">
                <a:solidFill>
                  <a:srgbClr val="A5680B"/>
                </a:solidFill>
                <a:latin typeface="Calibri"/>
              </a:rPr>
              <a:t>LBFGS (quasi-Newton, limited-memory)</a:t>
            </a:r>
          </a:p>
          <a:p>
            <a:pPr algn="l">
              <a:spcBef>
                <a:spcPts val="0"/>
              </a:spcBef>
              <a:spcAft>
                <a:spcPts val="200"/>
              </a:spcAft>
            </a:pPr>
            <a:r>
              <a:rPr sz="1300" b="1" i="0">
                <a:solidFill>
                  <a:srgbClr val="1B2733"/>
                </a:solidFill>
                <a:latin typeface="Consolas"/>
              </a:rPr>
              <a:t>θ ← θ − t·H_k∇L</a:t>
            </a:r>
          </a:p>
          <a:p>
            <a:pPr algn="l">
              <a:spcBef>
                <a:spcPts val="0"/>
              </a:spcBef>
              <a:spcAft>
                <a:spcPts val="0"/>
              </a:spcAft>
            </a:pPr>
            <a:r>
              <a:rPr sz="1150" b="0" i="0">
                <a:solidFill>
                  <a:srgbClr val="5A6A7A"/>
                </a:solidFill>
                <a:latin typeface="Calibri"/>
              </a:rPr>
              <a:t>Xấp xỉ H⁻¹ từ m cặp gần nhất s = Δθ, y = Δ∇L bằng two-loop recursion; không lưu ma trận đầy đủ.</a:t>
            </a:r>
          </a:p>
        </p:txBody>
      </p:sp>
      <p:sp>
        <p:nvSpPr>
          <p:cNvPr id="10" name="Rounded Rectangle 9"/>
          <p:cNvSpPr/>
          <p:nvPr/>
        </p:nvSpPr>
        <p:spPr>
          <a:xfrm>
            <a:off x="548640" y="5440680"/>
            <a:ext cx="5623560" cy="914400"/>
          </a:xfrm>
          <a:prstGeom prst="roundRect">
            <a:avLst>
              <a:gd name="adj" fmla="val 5000"/>
            </a:avLst>
          </a:prstGeom>
          <a:solidFill>
            <a:srgbClr val="D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 y="5572353"/>
            <a:ext cx="5294376" cy="651052"/>
          </a:xfrm>
          <a:prstGeom prst="rect">
            <a:avLst/>
          </a:prstGeom>
          <a:noFill/>
        </p:spPr>
        <p:txBody>
          <a:bodyPr wrap="square" lIns="0" rIns="0" tIns="0" bIns="0" anchor="ctr">
            <a:spAutoFit/>
          </a:bodyPr>
          <a:lstStyle/>
          <a:p>
            <a:pPr algn="l">
              <a:spcBef>
                <a:spcPts val="0"/>
              </a:spcBef>
              <a:spcAft>
                <a:spcPts val="0"/>
              </a:spcAft>
            </a:pPr>
            <a:r>
              <a:rPr sz="1150" b="1" i="0">
                <a:solidFill>
                  <a:srgbClr val="0E8F82"/>
                </a:solidFill>
                <a:latin typeface="Calibri"/>
              </a:rPr>
              <a:t>Vì sao hợp bài toán này: </a:t>
            </a:r>
            <a:r>
              <a:rPr sz="1150" b="0" i="0">
                <a:solidFill>
                  <a:srgbClr val="1B2733"/>
                </a:solidFill>
                <a:latin typeface="Calibri"/>
              </a:rPr>
              <a:t>chỉ 2 tham số, hàm lồi, ≤ 300 điểm dữ liệu → quasi-Newton hội tụ trong vài chục lần đánh giá, không cần chỉnh η hay số epoch.</a:t>
            </a:r>
          </a:p>
        </p:txBody>
      </p:sp>
      <p:sp>
        <p:nvSpPr>
          <p:cNvPr id="12" name="Rounded Rectangle 11"/>
          <p:cNvSpPr/>
          <p:nvPr/>
        </p:nvSpPr>
        <p:spPr>
          <a:xfrm>
            <a:off x="6400800" y="1554480"/>
            <a:ext cx="5257800" cy="2103120"/>
          </a:xfrm>
          <a:prstGeom prst="roundRect">
            <a:avLst>
              <a:gd name="adj" fmla="val 4000"/>
            </a:avLst>
          </a:prstGeom>
          <a:solidFill>
            <a:srgbClr val="F3F6F9"/>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0" y="1682495"/>
            <a:ext cx="4892040" cy="1883663"/>
          </a:xfrm>
          <a:prstGeom prst="rect">
            <a:avLst/>
          </a:prstGeom>
          <a:noFill/>
        </p:spPr>
        <p:txBody>
          <a:bodyPr wrap="square" lIns="0" rIns="0" tIns="0" bIns="0" anchor="ctr">
            <a:spAutoFit/>
          </a:bodyPr>
          <a:lstStyle/>
          <a:p>
            <a:pPr algn="l">
              <a:spcBef>
                <a:spcPts val="0"/>
              </a:spcBef>
              <a:spcAft>
                <a:spcPts val="200"/>
              </a:spcAft>
            </a:pPr>
            <a:r>
              <a:rPr sz="900" b="0" i="1">
                <a:solidFill>
                  <a:srgbClr val="5A6A7A"/>
                </a:solidFill>
                <a:latin typeface="Consolas"/>
              </a:rPr>
              <a:t>cấu hình đúng như trong _fit_platt() của code</a:t>
            </a:r>
          </a:p>
          <a:p>
            <a:pPr algn="l">
              <a:spcBef>
                <a:spcPts val="0"/>
              </a:spcBef>
              <a:spcAft>
                <a:spcPts val="600"/>
              </a:spcAft>
            </a:pPr>
            <a:r>
              <a:rPr sz="1200" b="0" i="0">
                <a:solidFill>
                  <a:srgbClr val="1B2733"/>
                </a:solidFill>
                <a:latin typeface="Consolas"/>
              </a:rPr>
              <a:t>opt = torch.optim.LBFGS([a, b], lr=0.1, max_iter=50)</a:t>
            </a:r>
          </a:p>
          <a:p>
            <a:pPr algn="l">
              <a:spcBef>
                <a:spcPts val="0"/>
              </a:spcBef>
              <a:spcAft>
                <a:spcPts val="600"/>
              </a:spcAft>
            </a:pPr>
            <a:r>
              <a:rPr sz="1200" b="0" i="0">
                <a:solidFill>
                  <a:srgbClr val="1B2733"/>
                </a:solidFill>
                <a:latin typeface="Consolas"/>
              </a:rPr>
              <a:t>closure: zero_grad → loss = BCE(a·z+b, ỹ)</a:t>
            </a:r>
          </a:p>
          <a:p>
            <a:pPr algn="l">
              <a:spcBef>
                <a:spcPts val="0"/>
              </a:spcBef>
              <a:spcAft>
                <a:spcPts val="600"/>
              </a:spcAft>
            </a:pPr>
            <a:r>
              <a:rPr sz="1200" b="0" i="0">
                <a:solidFill>
                  <a:srgbClr val="1B2733"/>
                </a:solidFill>
                <a:latin typeface="Consolas"/>
              </a:rPr>
              <a:t>         → backward → return loss</a:t>
            </a:r>
          </a:p>
          <a:p>
            <a:pPr algn="l">
              <a:spcBef>
                <a:spcPts val="0"/>
              </a:spcBef>
              <a:spcAft>
                <a:spcPts val="600"/>
              </a:spcAft>
            </a:pPr>
            <a:r>
              <a:rPr sz="1200" b="0" i="0">
                <a:solidFill>
                  <a:srgbClr val="1B2733"/>
                </a:solidFill>
                <a:latin typeface="Consolas"/>
              </a:rPr>
              <a:t>opt.step(closure)</a:t>
            </a:r>
          </a:p>
        </p:txBody>
      </p:sp>
      <p:sp>
        <p:nvSpPr>
          <p:cNvPr id="14" name="Rounded Rectangle 13"/>
          <p:cNvSpPr/>
          <p:nvPr/>
        </p:nvSpPr>
        <p:spPr>
          <a:xfrm>
            <a:off x="6400800" y="3794760"/>
            <a:ext cx="5257800" cy="146304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2" y="3926433"/>
            <a:ext cx="4928616" cy="1199692"/>
          </a:xfrm>
          <a:prstGeom prst="rect">
            <a:avLst/>
          </a:prstGeom>
          <a:noFill/>
        </p:spPr>
        <p:txBody>
          <a:bodyPr wrap="square" lIns="0" rIns="0" tIns="0" bIns="0" anchor="t">
            <a:spAutoFit/>
          </a:bodyPr>
          <a:lstStyle/>
          <a:p>
            <a:pPr algn="l">
              <a:spcBef>
                <a:spcPts val="0"/>
              </a:spcBef>
              <a:spcAft>
                <a:spcPts val="300"/>
              </a:spcAft>
            </a:pPr>
            <a:r>
              <a:rPr sz="1300" b="1" i="0">
                <a:solidFill>
                  <a:srgbClr val="0E8F82"/>
                </a:solidFill>
                <a:latin typeface="Calibri"/>
              </a:rPr>
              <a:t>Bốn lớp kiểm tra trước khi nhận (a, b) mới</a:t>
            </a:r>
          </a:p>
          <a:p>
            <a:pPr algn="l" marL="228600" indent="-228600">
              <a:spcBef>
                <a:spcPts val="0"/>
              </a:spcBef>
              <a:spcAft>
                <a:spcPts val="100"/>
              </a:spcAft>
              <a:buClr>
                <a:srgbClr val="0E8F82"/>
              </a:buClr>
              <a:buFont typeface="Arial"/>
              <a:buChar char="•"/>
            </a:pPr>
            <a:r>
              <a:rPr sz="1150" b="0" i="0">
                <a:solidFill>
                  <a:srgbClr val="1B2733"/>
                </a:solidFill>
                <a:latin typeface="Calibri"/>
              </a:rPr>
              <a:t>Lỗi khi tối ưu → giữ bản đồ cũ.</a:t>
            </a:r>
          </a:p>
          <a:p>
            <a:pPr algn="l" marL="228600" indent="-228600">
              <a:spcBef>
                <a:spcPts val="0"/>
              </a:spcBef>
              <a:spcAft>
                <a:spcPts val="100"/>
              </a:spcAft>
              <a:buClr>
                <a:srgbClr val="0E8F82"/>
              </a:buClr>
              <a:buFont typeface="Arial"/>
              <a:buChar char="•"/>
            </a:pPr>
            <a:r>
              <a:rPr sz="1150" b="0" i="0">
                <a:solidFill>
                  <a:srgbClr val="1B2733"/>
                </a:solidFill>
                <a:latin typeface="Calibri"/>
              </a:rPr>
              <a:t>a hoặc b là NaN/Inf → từ chối, tăng đếm platt_n_rejected.</a:t>
            </a:r>
          </a:p>
          <a:p>
            <a:pPr algn="l" marL="228600" indent="-228600">
              <a:spcBef>
                <a:spcPts val="0"/>
              </a:spcBef>
              <a:spcAft>
                <a:spcPts val="100"/>
              </a:spcAft>
              <a:buClr>
                <a:srgbClr val="0E8F82"/>
              </a:buClr>
              <a:buFont typeface="Arial"/>
              <a:buChar char="•"/>
            </a:pPr>
            <a:r>
              <a:rPr sz="1150" b="0" i="0">
                <a:solidFill>
                  <a:srgbClr val="1B2733"/>
                </a:solidFill>
                <a:latin typeface="Calibri"/>
              </a:rPr>
              <a:t>a ≤ 10⁻³ (phẳng hoặc đảo chiều) → từ chối, giữ bản cũ.</a:t>
            </a:r>
          </a:p>
          <a:p>
            <a:pPr algn="l" marL="228600" indent="-228600">
              <a:spcBef>
                <a:spcPts val="0"/>
              </a:spcBef>
              <a:spcAft>
                <a:spcPts val="0"/>
              </a:spcAft>
              <a:buClr>
                <a:srgbClr val="0E8F82"/>
              </a:buClr>
              <a:buFont typeface="Arial"/>
              <a:buChar char="•"/>
            </a:pPr>
            <a:r>
              <a:rPr sz="1150" b="0" i="0">
                <a:solidFill>
                  <a:srgbClr val="1B2733"/>
                </a:solidFill>
                <a:latin typeface="Calibri"/>
              </a:rPr>
              <a:t>Nhận thì kẹp a ∈ [10⁻³, 50]; khởi động lại từ (a, b) cũ (lần đầu a = 1, b = 0).</a:t>
            </a:r>
          </a:p>
        </p:txBody>
      </p:sp>
      <p:sp>
        <p:nvSpPr>
          <p:cNvPr id="16" name="Rounded Rectangle 15"/>
          <p:cNvSpPr/>
          <p:nvPr/>
        </p:nvSpPr>
        <p:spPr>
          <a:xfrm>
            <a:off x="6400800" y="5394960"/>
            <a:ext cx="5257800" cy="96012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547104" y="554126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8" name="TextBox 17"/>
          <p:cNvSpPr txBox="1"/>
          <p:nvPr/>
        </p:nvSpPr>
        <p:spPr>
          <a:xfrm>
            <a:off x="6986016" y="5504688"/>
            <a:ext cx="4526280" cy="777240"/>
          </a:xfrm>
          <a:prstGeom prst="rect">
            <a:avLst/>
          </a:prstGeom>
          <a:noFill/>
        </p:spPr>
        <p:txBody>
          <a:bodyPr wrap="square" lIns="0" rIns="0" tIns="0" bIns="0" anchor="t">
            <a:spAutoFit/>
          </a:bodyPr>
          <a:lstStyle/>
          <a:p>
            <a:pPr algn="l">
              <a:spcBef>
                <a:spcPts val="0"/>
              </a:spcBef>
              <a:spcAft>
                <a:spcPts val="300"/>
              </a:spcAft>
            </a:pPr>
            <a:r>
              <a:rPr sz="1100" b="1" i="0">
                <a:solidFill>
                  <a:srgbClr val="A5680B"/>
                </a:solidFill>
                <a:latin typeface="Calibri"/>
              </a:rPr>
              <a:t>Câu hỏi: </a:t>
            </a:r>
            <a:r>
              <a:rPr sz="1100" b="1" i="1">
                <a:solidFill>
                  <a:srgbClr val="1B2733"/>
                </a:solidFill>
                <a:latin typeface="Calibri"/>
              </a:rPr>
              <a:t>Vì sao a ≤ 0 phải bị từ chối chứ không kẹp về 0?</a:t>
            </a:r>
          </a:p>
          <a:p>
            <a:pPr algn="l">
              <a:spcBef>
                <a:spcPts val="0"/>
              </a:spcBef>
              <a:spcAft>
                <a:spcPts val="0"/>
              </a:spcAft>
            </a:pPr>
            <a:r>
              <a:rPr sz="1100" b="0" i="0">
                <a:solidFill>
                  <a:srgbClr val="1B2733"/>
                </a:solidFill>
                <a:latin typeface="Calibri"/>
              </a:rPr>
              <a:t>a = 0 làm p̂ hằng số nên top-k thành chọn tuỳ ý; a &lt; 0 đảo thứ hạng. Cả hai tệ hơn Eq. 6.</a:t>
            </a:r>
          </a:p>
        </p:txBody>
      </p:sp>
      <p:sp>
        <p:nvSpPr>
          <p:cNvPr id="19" name="TextBox 18"/>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10 / 19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4 · CƠ SỞ TOÁN HỌC</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Cách tìm a, b (3/3): ví dụ số thật chạy đúng logic _fit_platt()</a:t>
            </a:r>
          </a:p>
        </p:txBody>
      </p:sp>
      <p:sp>
        <p:nvSpPr>
          <p:cNvPr id="4" name="TextBox 3"/>
          <p:cNvSpPr txBox="1"/>
          <p:nvPr/>
        </p:nvSpPr>
        <p:spPr>
          <a:xfrm>
            <a:off x="548640" y="1481328"/>
            <a:ext cx="5669280" cy="274320"/>
          </a:xfrm>
          <a:prstGeom prst="rect">
            <a:avLst/>
          </a:prstGeom>
          <a:noFill/>
        </p:spPr>
        <p:txBody>
          <a:bodyPr wrap="square" lIns="0" rIns="0" tIns="0" bIns="0" anchor="t">
            <a:spAutoFit/>
          </a:bodyPr>
          <a:lstStyle/>
          <a:p>
            <a:pPr algn="l">
              <a:spcBef>
                <a:spcPts val="0"/>
              </a:spcBef>
              <a:spcAft>
                <a:spcPts val="0"/>
              </a:spcAft>
            </a:pPr>
            <a:r>
              <a:rPr sz="1100" b="1" i="0">
                <a:solidFill>
                  <a:srgbClr val="0E8F82"/>
                </a:solidFill>
                <a:latin typeface="Calibri"/>
              </a:rPr>
              <a:t>DỮ LIỆU: 6 CẶP FEEDBACK (mô hình chỉ đúng khi rất tự tin)</a:t>
            </a:r>
          </a:p>
        </p:txBody>
      </p:sp>
      <p:graphicFrame>
        <p:nvGraphicFramePr>
          <p:cNvPr id="5" name="Table 4"/>
          <p:cNvGraphicFramePr>
            <a:graphicFrameLocks noGrp="1"/>
          </p:cNvGraphicFramePr>
          <p:nvPr/>
        </p:nvGraphicFramePr>
        <p:xfrm>
          <a:off x="548640" y="1783080"/>
          <a:ext cx="5669280" cy="2112264"/>
        </p:xfrm>
        <a:graphic>
          <a:graphicData uri="http://schemas.openxmlformats.org/drawingml/2006/table">
            <a:tbl>
              <a:tblPr firstRow="0" bandRow="0">
                <a:tableStyleId>{5C22544A-7EE6-4342-B048-85BDC9FD1C3A}</a:tableStyleId>
              </a:tblPr>
              <a:tblGrid>
                <a:gridCol w="1097280"/>
                <a:gridCol w="1463040"/>
                <a:gridCol w="1463040"/>
                <a:gridCol w="1645920"/>
              </a:tblGrid>
              <a:tr h="301752">
                <a:tc>
                  <a:txBody>
                    <a:bodyPr wrap="square"/>
                    <a:lstStyle/>
                    <a:p>
                      <a:pPr algn="r">
                        <a:spcBef>
                          <a:spcPts val="0"/>
                        </a:spcBef>
                        <a:spcAft>
                          <a:spcPts val="0"/>
                        </a:spcAft>
                      </a:pPr>
                      <a:r>
                        <a:rPr sz="1150" b="1" i="0">
                          <a:solidFill>
                            <a:srgbClr val="FFFFFF"/>
                          </a:solidFill>
                          <a:latin typeface="Calibri"/>
                        </a:rPr>
                        <a:t>C(x)</a:t>
                      </a:r>
                    </a:p>
                  </a:txBody>
                  <a:tcPr marL="64008" marR="64008" marT="18288" marB="18288" anchor="ctr">
                    <a:solidFill>
                      <a:srgbClr val="0F2A43"/>
                    </a:solidFill>
                  </a:tcPr>
                </a:tc>
                <a:tc>
                  <a:txBody>
                    <a:bodyPr wrap="square"/>
                    <a:lstStyle/>
                    <a:p>
                      <a:pPr algn="r">
                        <a:spcBef>
                          <a:spcPts val="0"/>
                        </a:spcBef>
                        <a:spcAft>
                          <a:spcPts val="0"/>
                        </a:spcAft>
                      </a:pPr>
                      <a:r>
                        <a:rPr sz="1150" b="1" i="0">
                          <a:solidFill>
                            <a:srgbClr val="FFFFFF"/>
                          </a:solidFill>
                          <a:latin typeface="Calibri"/>
                        </a:rPr>
                        <a:t>z = logit</a:t>
                      </a:r>
                    </a:p>
                  </a:txBody>
                  <a:tcPr marL="64008" marR="64008" marT="18288" marB="18288" anchor="ctr">
                    <a:solidFill>
                      <a:srgbClr val="0F2A43"/>
                    </a:solidFill>
                  </a:tcPr>
                </a:tc>
                <a:tc>
                  <a:txBody>
                    <a:bodyPr wrap="square"/>
                    <a:lstStyle/>
                    <a:p>
                      <a:pPr algn="l">
                        <a:spcBef>
                          <a:spcPts val="0"/>
                        </a:spcBef>
                        <a:spcAft>
                          <a:spcPts val="0"/>
                        </a:spcAft>
                      </a:pPr>
                      <a:r>
                        <a:rPr sz="1150" b="1" i="0">
                          <a:solidFill>
                            <a:srgbClr val="FFFFFF"/>
                          </a:solidFill>
                          <a:latin typeface="Calibri"/>
                        </a:rPr>
                        <a:t>Đúng/Sai</a:t>
                      </a:r>
                    </a:p>
                  </a:txBody>
                  <a:tcPr marL="64008" marR="64008" marT="18288" marB="18288" anchor="ctr">
                    <a:solidFill>
                      <a:srgbClr val="0F2A43"/>
                    </a:solidFill>
                  </a:tcPr>
                </a:tc>
                <a:tc>
                  <a:txBody>
                    <a:bodyPr wrap="square"/>
                    <a:lstStyle/>
                    <a:p>
                      <a:pPr algn="r">
                        <a:spcBef>
                          <a:spcPts val="0"/>
                        </a:spcBef>
                        <a:spcAft>
                          <a:spcPts val="0"/>
                        </a:spcAft>
                      </a:pPr>
                      <a:r>
                        <a:rPr sz="1150" b="1" i="0">
                          <a:solidFill>
                            <a:srgbClr val="FFFFFF"/>
                          </a:solidFill>
                          <a:latin typeface="Calibri"/>
                        </a:rPr>
                        <a:t>ỹ (làm mịn)</a:t>
                      </a:r>
                    </a:p>
                  </a:txBody>
                  <a:tcPr marL="64008" marR="64008" marT="18288" marB="18288" anchor="ctr">
                    <a:solidFill>
                      <a:srgbClr val="0F2A43"/>
                    </a:solidFill>
                  </a:tcPr>
                </a:tc>
              </a:tr>
              <a:tr h="301752">
                <a:tc>
                  <a:txBody>
                    <a:bodyPr wrap="square"/>
                    <a:lstStyle/>
                    <a:p>
                      <a:pPr algn="r">
                        <a:spcBef>
                          <a:spcPts val="0"/>
                        </a:spcBef>
                        <a:spcAft>
                          <a:spcPts val="0"/>
                        </a:spcAft>
                      </a:pPr>
                      <a:r>
                        <a:rPr sz="1150" b="0" i="0">
                          <a:solidFill>
                            <a:srgbClr val="1B2733"/>
                          </a:solidFill>
                          <a:latin typeface="Consolas"/>
                        </a:rPr>
                        <a:t>0.20</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-1.386</a:t>
                      </a:r>
                    </a:p>
                  </a:txBody>
                  <a:tcPr marL="64008" marR="64008" marT="18288" marB="18288" anchor="ctr">
                    <a:solidFill>
                      <a:srgbClr val="FFFFFF"/>
                    </a:solidFill>
                  </a:tcPr>
                </a:tc>
                <a:tc>
                  <a:txBody>
                    <a:bodyPr wrap="square"/>
                    <a:lstStyle/>
                    <a:p>
                      <a:pPr algn="l">
                        <a:spcBef>
                          <a:spcPts val="0"/>
                        </a:spcBef>
                        <a:spcAft>
                          <a:spcPts val="0"/>
                        </a:spcAft>
                      </a:pPr>
                      <a:r>
                        <a:rPr sz="1150" b="0" i="0">
                          <a:solidFill>
                            <a:srgbClr val="1B2733"/>
                          </a:solidFill>
                          <a:latin typeface="Calibri"/>
                        </a:rPr>
                        <a:t>Sai (0)</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0.167</a:t>
                      </a:r>
                    </a:p>
                  </a:txBody>
                  <a:tcPr marL="64008" marR="64008" marT="18288" marB="18288" anchor="ctr">
                    <a:solidFill>
                      <a:srgbClr val="FFFFFF"/>
                    </a:solidFill>
                  </a:tcPr>
                </a:tc>
              </a:tr>
              <a:tr h="301752">
                <a:tc>
                  <a:txBody>
                    <a:bodyPr wrap="square"/>
                    <a:lstStyle/>
                    <a:p>
                      <a:pPr algn="r">
                        <a:spcBef>
                          <a:spcPts val="0"/>
                        </a:spcBef>
                        <a:spcAft>
                          <a:spcPts val="0"/>
                        </a:spcAft>
                      </a:pPr>
                      <a:r>
                        <a:rPr sz="1150" b="0" i="0">
                          <a:solidFill>
                            <a:srgbClr val="1B2733"/>
                          </a:solidFill>
                          <a:latin typeface="Consolas"/>
                        </a:rPr>
                        <a:t>0.35</a:t>
                      </a:r>
                    </a:p>
                  </a:txBody>
                  <a:tcPr marL="64008" marR="64008" marT="18288" marB="18288" anchor="ctr">
                    <a:solidFill>
                      <a:srgbClr val="F3F6F9"/>
                    </a:solidFill>
                  </a:tcPr>
                </a:tc>
                <a:tc>
                  <a:txBody>
                    <a:bodyPr wrap="square"/>
                    <a:lstStyle/>
                    <a:p>
                      <a:pPr algn="r">
                        <a:spcBef>
                          <a:spcPts val="0"/>
                        </a:spcBef>
                        <a:spcAft>
                          <a:spcPts val="0"/>
                        </a:spcAft>
                      </a:pPr>
                      <a:r>
                        <a:rPr sz="1150" b="0" i="0">
                          <a:solidFill>
                            <a:srgbClr val="1B2733"/>
                          </a:solidFill>
                          <a:latin typeface="Consolas"/>
                        </a:rPr>
                        <a:t>-0.619</a:t>
                      </a:r>
                    </a:p>
                  </a:txBody>
                  <a:tcPr marL="64008" marR="64008" marT="18288" marB="18288" anchor="ctr">
                    <a:solidFill>
                      <a:srgbClr val="F3F6F9"/>
                    </a:solidFill>
                  </a:tcPr>
                </a:tc>
                <a:tc>
                  <a:txBody>
                    <a:bodyPr wrap="square"/>
                    <a:lstStyle/>
                    <a:p>
                      <a:pPr algn="l">
                        <a:spcBef>
                          <a:spcPts val="0"/>
                        </a:spcBef>
                        <a:spcAft>
                          <a:spcPts val="0"/>
                        </a:spcAft>
                      </a:pPr>
                      <a:r>
                        <a:rPr sz="1150" b="0" i="0">
                          <a:solidFill>
                            <a:srgbClr val="1B2733"/>
                          </a:solidFill>
                          <a:latin typeface="Calibri"/>
                        </a:rPr>
                        <a:t>Sai (0)</a:t>
                      </a:r>
                    </a:p>
                  </a:txBody>
                  <a:tcPr marL="64008" marR="64008" marT="18288" marB="18288" anchor="ctr">
                    <a:solidFill>
                      <a:srgbClr val="F3F6F9"/>
                    </a:solidFill>
                  </a:tcPr>
                </a:tc>
                <a:tc>
                  <a:txBody>
                    <a:bodyPr wrap="square"/>
                    <a:lstStyle/>
                    <a:p>
                      <a:pPr algn="r">
                        <a:spcBef>
                          <a:spcPts val="0"/>
                        </a:spcBef>
                        <a:spcAft>
                          <a:spcPts val="0"/>
                        </a:spcAft>
                      </a:pPr>
                      <a:r>
                        <a:rPr sz="1150" b="0" i="0">
                          <a:solidFill>
                            <a:srgbClr val="1B2733"/>
                          </a:solidFill>
                          <a:latin typeface="Consolas"/>
                        </a:rPr>
                        <a:t>0.167</a:t>
                      </a:r>
                    </a:p>
                  </a:txBody>
                  <a:tcPr marL="64008" marR="64008" marT="18288" marB="18288" anchor="ctr">
                    <a:solidFill>
                      <a:srgbClr val="F3F6F9"/>
                    </a:solidFill>
                  </a:tcPr>
                </a:tc>
              </a:tr>
              <a:tr h="301752">
                <a:tc>
                  <a:txBody>
                    <a:bodyPr wrap="square"/>
                    <a:lstStyle/>
                    <a:p>
                      <a:pPr algn="r">
                        <a:spcBef>
                          <a:spcPts val="0"/>
                        </a:spcBef>
                        <a:spcAft>
                          <a:spcPts val="0"/>
                        </a:spcAft>
                      </a:pPr>
                      <a:r>
                        <a:rPr sz="1150" b="0" i="0">
                          <a:solidFill>
                            <a:srgbClr val="1B2733"/>
                          </a:solidFill>
                          <a:latin typeface="Consolas"/>
                        </a:rPr>
                        <a:t>0.50</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+0.000</a:t>
                      </a:r>
                    </a:p>
                  </a:txBody>
                  <a:tcPr marL="64008" marR="64008" marT="18288" marB="18288" anchor="ctr">
                    <a:solidFill>
                      <a:srgbClr val="FFFFFF"/>
                    </a:solidFill>
                  </a:tcPr>
                </a:tc>
                <a:tc>
                  <a:txBody>
                    <a:bodyPr wrap="square"/>
                    <a:lstStyle/>
                    <a:p>
                      <a:pPr algn="l">
                        <a:spcBef>
                          <a:spcPts val="0"/>
                        </a:spcBef>
                        <a:spcAft>
                          <a:spcPts val="0"/>
                        </a:spcAft>
                      </a:pPr>
                      <a:r>
                        <a:rPr sz="1150" b="0" i="0">
                          <a:solidFill>
                            <a:srgbClr val="1B2733"/>
                          </a:solidFill>
                          <a:latin typeface="Calibri"/>
                        </a:rPr>
                        <a:t>Sai (0)</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0.167</a:t>
                      </a:r>
                    </a:p>
                  </a:txBody>
                  <a:tcPr marL="64008" marR="64008" marT="18288" marB="18288" anchor="ctr">
                    <a:solidFill>
                      <a:srgbClr val="FFFFFF"/>
                    </a:solidFill>
                  </a:tcPr>
                </a:tc>
              </a:tr>
              <a:tr h="301752">
                <a:tc>
                  <a:txBody>
                    <a:bodyPr wrap="square"/>
                    <a:lstStyle/>
                    <a:p>
                      <a:pPr algn="r">
                        <a:spcBef>
                          <a:spcPts val="0"/>
                        </a:spcBef>
                        <a:spcAft>
                          <a:spcPts val="0"/>
                        </a:spcAft>
                      </a:pPr>
                      <a:r>
                        <a:rPr sz="1150" b="0" i="0">
                          <a:solidFill>
                            <a:srgbClr val="1B2733"/>
                          </a:solidFill>
                          <a:latin typeface="Consolas"/>
                        </a:rPr>
                        <a:t>0.65</a:t>
                      </a:r>
                    </a:p>
                  </a:txBody>
                  <a:tcPr marL="64008" marR="64008" marT="18288" marB="18288" anchor="ctr">
                    <a:solidFill>
                      <a:srgbClr val="F3F6F9"/>
                    </a:solidFill>
                  </a:tcPr>
                </a:tc>
                <a:tc>
                  <a:txBody>
                    <a:bodyPr wrap="square"/>
                    <a:lstStyle/>
                    <a:p>
                      <a:pPr algn="r">
                        <a:spcBef>
                          <a:spcPts val="0"/>
                        </a:spcBef>
                        <a:spcAft>
                          <a:spcPts val="0"/>
                        </a:spcAft>
                      </a:pPr>
                      <a:r>
                        <a:rPr sz="1150" b="0" i="0">
                          <a:solidFill>
                            <a:srgbClr val="1B2733"/>
                          </a:solidFill>
                          <a:latin typeface="Consolas"/>
                        </a:rPr>
                        <a:t>+0.619</a:t>
                      </a:r>
                    </a:p>
                  </a:txBody>
                  <a:tcPr marL="64008" marR="64008" marT="18288" marB="18288" anchor="ctr">
                    <a:solidFill>
                      <a:srgbClr val="F3F6F9"/>
                    </a:solidFill>
                  </a:tcPr>
                </a:tc>
                <a:tc>
                  <a:txBody>
                    <a:bodyPr wrap="square"/>
                    <a:lstStyle/>
                    <a:p>
                      <a:pPr algn="l">
                        <a:spcBef>
                          <a:spcPts val="0"/>
                        </a:spcBef>
                        <a:spcAft>
                          <a:spcPts val="0"/>
                        </a:spcAft>
                      </a:pPr>
                      <a:r>
                        <a:rPr sz="1150" b="0" i="0">
                          <a:solidFill>
                            <a:srgbClr val="1B2733"/>
                          </a:solidFill>
                          <a:latin typeface="Calibri"/>
                        </a:rPr>
                        <a:t>Sai (0)</a:t>
                      </a:r>
                    </a:p>
                  </a:txBody>
                  <a:tcPr marL="64008" marR="64008" marT="18288" marB="18288" anchor="ctr">
                    <a:solidFill>
                      <a:srgbClr val="F3F6F9"/>
                    </a:solidFill>
                  </a:tcPr>
                </a:tc>
                <a:tc>
                  <a:txBody>
                    <a:bodyPr wrap="square"/>
                    <a:lstStyle/>
                    <a:p>
                      <a:pPr algn="r">
                        <a:spcBef>
                          <a:spcPts val="0"/>
                        </a:spcBef>
                        <a:spcAft>
                          <a:spcPts val="0"/>
                        </a:spcAft>
                      </a:pPr>
                      <a:r>
                        <a:rPr sz="1150" b="0" i="0">
                          <a:solidFill>
                            <a:srgbClr val="1B2733"/>
                          </a:solidFill>
                          <a:latin typeface="Consolas"/>
                        </a:rPr>
                        <a:t>0.167</a:t>
                      </a:r>
                    </a:p>
                  </a:txBody>
                  <a:tcPr marL="64008" marR="64008" marT="18288" marB="18288" anchor="ctr">
                    <a:solidFill>
                      <a:srgbClr val="F3F6F9"/>
                    </a:solidFill>
                  </a:tcPr>
                </a:tc>
              </a:tr>
              <a:tr h="301752">
                <a:tc>
                  <a:txBody>
                    <a:bodyPr wrap="square"/>
                    <a:lstStyle/>
                    <a:p>
                      <a:pPr algn="r">
                        <a:spcBef>
                          <a:spcPts val="0"/>
                        </a:spcBef>
                        <a:spcAft>
                          <a:spcPts val="0"/>
                        </a:spcAft>
                      </a:pPr>
                      <a:r>
                        <a:rPr sz="1150" b="0" i="0">
                          <a:solidFill>
                            <a:srgbClr val="1B2733"/>
                          </a:solidFill>
                          <a:latin typeface="Consolas"/>
                        </a:rPr>
                        <a:t>0.80</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+1.386</a:t>
                      </a:r>
                    </a:p>
                  </a:txBody>
                  <a:tcPr marL="64008" marR="64008" marT="18288" marB="18288" anchor="ctr">
                    <a:solidFill>
                      <a:srgbClr val="FFFFFF"/>
                    </a:solidFill>
                  </a:tcPr>
                </a:tc>
                <a:tc>
                  <a:txBody>
                    <a:bodyPr wrap="square"/>
                    <a:lstStyle/>
                    <a:p>
                      <a:pPr algn="l">
                        <a:spcBef>
                          <a:spcPts val="0"/>
                        </a:spcBef>
                        <a:spcAft>
                          <a:spcPts val="0"/>
                        </a:spcAft>
                      </a:pPr>
                      <a:r>
                        <a:rPr sz="1150" b="0" i="0">
                          <a:solidFill>
                            <a:srgbClr val="1B2733"/>
                          </a:solidFill>
                          <a:latin typeface="Calibri"/>
                        </a:rPr>
                        <a:t>Đúng (1)</a:t>
                      </a:r>
                    </a:p>
                  </a:txBody>
                  <a:tcPr marL="64008" marR="64008" marT="18288" marB="18288" anchor="ctr">
                    <a:solidFill>
                      <a:srgbClr val="FFFFFF"/>
                    </a:solidFill>
                  </a:tcPr>
                </a:tc>
                <a:tc>
                  <a:txBody>
                    <a:bodyPr wrap="square"/>
                    <a:lstStyle/>
                    <a:p>
                      <a:pPr algn="r">
                        <a:spcBef>
                          <a:spcPts val="0"/>
                        </a:spcBef>
                        <a:spcAft>
                          <a:spcPts val="0"/>
                        </a:spcAft>
                      </a:pPr>
                      <a:r>
                        <a:rPr sz="1150" b="0" i="0">
                          <a:solidFill>
                            <a:srgbClr val="1B2733"/>
                          </a:solidFill>
                          <a:latin typeface="Consolas"/>
                        </a:rPr>
                        <a:t>0.750</a:t>
                      </a:r>
                    </a:p>
                  </a:txBody>
                  <a:tcPr marL="64008" marR="64008" marT="18288" marB="18288" anchor="ctr">
                    <a:solidFill>
                      <a:srgbClr val="FFFFFF"/>
                    </a:solidFill>
                  </a:tcPr>
                </a:tc>
              </a:tr>
              <a:tr h="301752">
                <a:tc>
                  <a:txBody>
                    <a:bodyPr wrap="square"/>
                    <a:lstStyle/>
                    <a:p>
                      <a:pPr algn="r">
                        <a:spcBef>
                          <a:spcPts val="0"/>
                        </a:spcBef>
                        <a:spcAft>
                          <a:spcPts val="0"/>
                        </a:spcAft>
                      </a:pPr>
                      <a:r>
                        <a:rPr sz="1150" b="0" i="0">
                          <a:solidFill>
                            <a:srgbClr val="1B2733"/>
                          </a:solidFill>
                          <a:latin typeface="Consolas"/>
                        </a:rPr>
                        <a:t>0.90</a:t>
                      </a:r>
                    </a:p>
                  </a:txBody>
                  <a:tcPr marL="64008" marR="64008" marT="18288" marB="18288" anchor="ctr">
                    <a:solidFill>
                      <a:srgbClr val="F3F6F9"/>
                    </a:solidFill>
                  </a:tcPr>
                </a:tc>
                <a:tc>
                  <a:txBody>
                    <a:bodyPr wrap="square"/>
                    <a:lstStyle/>
                    <a:p>
                      <a:pPr algn="r">
                        <a:spcBef>
                          <a:spcPts val="0"/>
                        </a:spcBef>
                        <a:spcAft>
                          <a:spcPts val="0"/>
                        </a:spcAft>
                      </a:pPr>
                      <a:r>
                        <a:rPr sz="1150" b="0" i="0">
                          <a:solidFill>
                            <a:srgbClr val="1B2733"/>
                          </a:solidFill>
                          <a:latin typeface="Consolas"/>
                        </a:rPr>
                        <a:t>+2.197</a:t>
                      </a:r>
                    </a:p>
                  </a:txBody>
                  <a:tcPr marL="64008" marR="64008" marT="18288" marB="18288" anchor="ctr">
                    <a:solidFill>
                      <a:srgbClr val="F3F6F9"/>
                    </a:solidFill>
                  </a:tcPr>
                </a:tc>
                <a:tc>
                  <a:txBody>
                    <a:bodyPr wrap="square"/>
                    <a:lstStyle/>
                    <a:p>
                      <a:pPr algn="l">
                        <a:spcBef>
                          <a:spcPts val="0"/>
                        </a:spcBef>
                        <a:spcAft>
                          <a:spcPts val="0"/>
                        </a:spcAft>
                      </a:pPr>
                      <a:r>
                        <a:rPr sz="1150" b="0" i="0">
                          <a:solidFill>
                            <a:srgbClr val="1B2733"/>
                          </a:solidFill>
                          <a:latin typeface="Calibri"/>
                        </a:rPr>
                        <a:t>Đúng (1)</a:t>
                      </a:r>
                    </a:p>
                  </a:txBody>
                  <a:tcPr marL="64008" marR="64008" marT="18288" marB="18288" anchor="ctr">
                    <a:solidFill>
                      <a:srgbClr val="F3F6F9"/>
                    </a:solidFill>
                  </a:tcPr>
                </a:tc>
                <a:tc>
                  <a:txBody>
                    <a:bodyPr wrap="square"/>
                    <a:lstStyle/>
                    <a:p>
                      <a:pPr algn="r">
                        <a:spcBef>
                          <a:spcPts val="0"/>
                        </a:spcBef>
                        <a:spcAft>
                          <a:spcPts val="0"/>
                        </a:spcAft>
                      </a:pPr>
                      <a:r>
                        <a:rPr sz="1150" b="0" i="0">
                          <a:solidFill>
                            <a:srgbClr val="1B2733"/>
                          </a:solidFill>
                          <a:latin typeface="Consolas"/>
                        </a:rPr>
                        <a:t>0.750</a:t>
                      </a:r>
                    </a:p>
                  </a:txBody>
                  <a:tcPr marL="64008" marR="64008" marT="18288" marB="18288" anchor="ctr">
                    <a:solidFill>
                      <a:srgbClr val="F3F6F9"/>
                    </a:solidFill>
                  </a:tcPr>
                </a:tc>
              </a:tr>
            </a:tbl>
          </a:graphicData>
        </a:graphic>
      </p:graphicFrame>
      <p:sp>
        <p:nvSpPr>
          <p:cNvPr id="6" name="TextBox 5"/>
          <p:cNvSpPr txBox="1"/>
          <p:nvPr/>
        </p:nvSpPr>
        <p:spPr>
          <a:xfrm>
            <a:off x="548640" y="3977639"/>
            <a:ext cx="5669280" cy="274320"/>
          </a:xfrm>
          <a:prstGeom prst="rect">
            <a:avLst/>
          </a:prstGeom>
          <a:noFill/>
        </p:spPr>
        <p:txBody>
          <a:bodyPr wrap="square" lIns="0" rIns="0" tIns="0" bIns="0" anchor="t">
            <a:spAutoFit/>
          </a:bodyPr>
          <a:lstStyle/>
          <a:p>
            <a:pPr algn="l">
              <a:spcBef>
                <a:spcPts val="0"/>
              </a:spcBef>
              <a:spcAft>
                <a:spcPts val="0"/>
              </a:spcAft>
            </a:pPr>
            <a:r>
              <a:rPr sz="1100" b="1" i="0">
                <a:solidFill>
                  <a:srgbClr val="0E8F82"/>
                </a:solidFill>
                <a:latin typeface="Calibri"/>
              </a:rPr>
              <a:t>QUÁ TRÌNH LBFGS: khởi đầu a = 1, b = 0</a:t>
            </a:r>
          </a:p>
        </p:txBody>
      </p:sp>
      <p:graphicFrame>
        <p:nvGraphicFramePr>
          <p:cNvPr id="7" name="Table 6"/>
          <p:cNvGraphicFramePr>
            <a:graphicFrameLocks noGrp="1"/>
          </p:cNvGraphicFramePr>
          <p:nvPr/>
        </p:nvGraphicFramePr>
        <p:xfrm>
          <a:off x="548640" y="4279392"/>
          <a:ext cx="5669280" cy="1755648"/>
        </p:xfrm>
        <a:graphic>
          <a:graphicData uri="http://schemas.openxmlformats.org/drawingml/2006/table">
            <a:tbl>
              <a:tblPr firstRow="0" bandRow="0">
                <a:tableStyleId>{5C22544A-7EE6-4342-B048-85BDC9FD1C3A}</a:tableStyleId>
              </a:tblPr>
              <a:tblGrid>
                <a:gridCol w="1280160"/>
                <a:gridCol w="1463040"/>
                <a:gridCol w="1463040"/>
                <a:gridCol w="1463040"/>
              </a:tblGrid>
              <a:tr h="292608">
                <a:tc>
                  <a:txBody>
                    <a:bodyPr wrap="square"/>
                    <a:lstStyle/>
                    <a:p>
                      <a:pPr algn="l">
                        <a:spcBef>
                          <a:spcPts val="0"/>
                        </a:spcBef>
                        <a:spcAft>
                          <a:spcPts val="0"/>
                        </a:spcAft>
                      </a:pPr>
                      <a:r>
                        <a:rPr sz="1100" b="1" i="0">
                          <a:solidFill>
                            <a:srgbClr val="FFFFFF"/>
                          </a:solidFill>
                          <a:latin typeface="Calibri"/>
                        </a:rPr>
                        <a:t>Lần đánh giá</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a</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b</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Loss BCE</a:t>
                      </a:r>
                    </a:p>
                  </a:txBody>
                  <a:tcPr marL="64008" marR="64008" marT="18288" marB="18288" anchor="ctr">
                    <a:solidFill>
                      <a:srgbClr val="0F2A43"/>
                    </a:solidFill>
                  </a:tcPr>
                </a:tc>
              </a:tr>
              <a:tr h="292608">
                <a:tc>
                  <a:txBody>
                    <a:bodyPr wrap="square"/>
                    <a:lstStyle/>
                    <a:p>
                      <a:pPr algn="l">
                        <a:spcBef>
                          <a:spcPts val="0"/>
                        </a:spcBef>
                        <a:spcAft>
                          <a:spcPts val="0"/>
                        </a:spcAft>
                      </a:pPr>
                      <a:r>
                        <a:rPr sz="1100" b="0" i="0">
                          <a:solidFill>
                            <a:srgbClr val="1B2733"/>
                          </a:solidFill>
                          <a:latin typeface="Calibri"/>
                        </a:rPr>
                        <a:t>0 (khởi đầu)</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1.0000</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0.0000</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0.6421</a:t>
                      </a:r>
                    </a:p>
                  </a:txBody>
                  <a:tcPr marL="64008" marR="64008" marT="18288" marB="18288" anchor="ctr">
                    <a:solidFill>
                      <a:srgbClr val="FFFFFF"/>
                    </a:solidFill>
                  </a:tcPr>
                </a:tc>
              </a:tr>
              <a:tr h="292608">
                <a:tc>
                  <a:txBody>
                    <a:bodyPr wrap="square"/>
                    <a:lstStyle/>
                    <a:p>
                      <a:pPr algn="l">
                        <a:spcBef>
                          <a:spcPts val="0"/>
                        </a:spcBef>
                        <a:spcAft>
                          <a:spcPts val="0"/>
                        </a:spcAft>
                      </a:pPr>
                      <a:r>
                        <a:rPr sz="1100" b="0" i="0">
                          <a:solidFill>
                            <a:srgbClr val="1B2733"/>
                          </a:solidFill>
                          <a:latin typeface="Calibri"/>
                        </a:rPr>
                        <a:t>5</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0.9216</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−0.3678</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0.5742</a:t>
                      </a:r>
                    </a:p>
                  </a:txBody>
                  <a:tcPr marL="64008" marR="64008" marT="18288" marB="18288" anchor="ctr">
                    <a:solidFill>
                      <a:srgbClr val="F3F6F9"/>
                    </a:solidFill>
                  </a:tcPr>
                </a:tc>
              </a:tr>
              <a:tr h="292608">
                <a:tc>
                  <a:txBody>
                    <a:bodyPr wrap="square"/>
                    <a:lstStyle/>
                    <a:p>
                      <a:pPr algn="l">
                        <a:spcBef>
                          <a:spcPts val="0"/>
                        </a:spcBef>
                        <a:spcAft>
                          <a:spcPts val="0"/>
                        </a:spcAft>
                      </a:pPr>
                      <a:r>
                        <a:rPr sz="1100" b="0" i="0">
                          <a:solidFill>
                            <a:srgbClr val="1B2733"/>
                          </a:solidFill>
                          <a:latin typeface="Calibri"/>
                        </a:rPr>
                        <a:t>15</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0.9365</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−0.8207</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0.5347</a:t>
                      </a:r>
                    </a:p>
                  </a:txBody>
                  <a:tcPr marL="64008" marR="64008" marT="18288" marB="18288" anchor="ctr">
                    <a:solidFill>
                      <a:srgbClr val="FFFFFF"/>
                    </a:solidFill>
                  </a:tcPr>
                </a:tc>
              </a:tr>
              <a:tr h="292608">
                <a:tc>
                  <a:txBody>
                    <a:bodyPr wrap="square"/>
                    <a:lstStyle/>
                    <a:p>
                      <a:pPr algn="l">
                        <a:spcBef>
                          <a:spcPts val="0"/>
                        </a:spcBef>
                        <a:spcAft>
                          <a:spcPts val="0"/>
                        </a:spcAft>
                      </a:pPr>
                      <a:r>
                        <a:rPr sz="1100" b="0" i="0">
                          <a:solidFill>
                            <a:srgbClr val="1B2733"/>
                          </a:solidFill>
                          <a:latin typeface="Calibri"/>
                        </a:rPr>
                        <a:t>30</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0.9777</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−1.0451</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0.5289</a:t>
                      </a:r>
                    </a:p>
                  </a:txBody>
                  <a:tcPr marL="64008" marR="64008" marT="18288" marB="18288" anchor="ctr">
                    <a:solidFill>
                      <a:srgbClr val="F3F6F9"/>
                    </a:solidFill>
                  </a:tcPr>
                </a:tc>
              </a:tr>
              <a:tr h="292608">
                <a:tc>
                  <a:txBody>
                    <a:bodyPr wrap="square"/>
                    <a:lstStyle/>
                    <a:p>
                      <a:pPr algn="l">
                        <a:spcBef>
                          <a:spcPts val="0"/>
                        </a:spcBef>
                        <a:spcAft>
                          <a:spcPts val="0"/>
                        </a:spcAft>
                      </a:pPr>
                      <a:r>
                        <a:rPr sz="1100" b="0" i="0">
                          <a:solidFill>
                            <a:srgbClr val="1B2733"/>
                          </a:solidFill>
                          <a:latin typeface="Calibri"/>
                        </a:rPr>
                        <a:t>49 (hội tụ)</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0.9907</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−1.1003</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0.5286</a:t>
                      </a:r>
                    </a:p>
                  </a:txBody>
                  <a:tcPr marL="64008" marR="64008" marT="18288" marB="18288" anchor="ctr">
                    <a:solidFill>
                      <a:srgbClr val="FBEBD2"/>
                    </a:solidFill>
                  </a:tcPr>
                </a:tc>
              </a:tr>
            </a:tbl>
          </a:graphicData>
        </a:graphic>
      </p:graphicFrame>
      <p:graphicFrame>
        <p:nvGraphicFramePr>
          <p:cNvPr id="8" name="Chart 7"/>
          <p:cNvGraphicFramePr>
            <a:graphicFrameLocks noGrp="1"/>
          </p:cNvGraphicFramePr>
          <p:nvPr/>
        </p:nvGraphicFramePr>
        <p:xfrm>
          <a:off x="6492240" y="1463040"/>
          <a:ext cx="5166360" cy="2697480"/>
        </p:xfrm>
        <a:graphic>
          <a:graphicData uri="http://schemas.openxmlformats.org/drawingml/2006/chart">
            <c:chart xmlns:c="http://schemas.openxmlformats.org/drawingml/2006/chart" r:id="rId2"/>
          </a:graphicData>
        </a:graphic>
      </p:graphicFrame>
      <p:graphicFrame>
        <p:nvGraphicFramePr>
          <p:cNvPr id="9" name="Table 8"/>
          <p:cNvGraphicFramePr>
            <a:graphicFrameLocks noGrp="1"/>
          </p:cNvGraphicFramePr>
          <p:nvPr/>
        </p:nvGraphicFramePr>
        <p:xfrm>
          <a:off x="6492240" y="4343400"/>
          <a:ext cx="5148072" cy="658368"/>
        </p:xfrm>
        <a:graphic>
          <a:graphicData uri="http://schemas.openxmlformats.org/drawingml/2006/table">
            <a:tbl>
              <a:tblPr firstRow="0" bandRow="0">
                <a:tableStyleId>{5C22544A-7EE6-4342-B048-85BDC9FD1C3A}</a:tableStyleId>
              </a:tblPr>
              <a:tblGrid>
                <a:gridCol w="1143000"/>
                <a:gridCol w="667512"/>
                <a:gridCol w="667512"/>
                <a:gridCol w="667512"/>
                <a:gridCol w="667512"/>
                <a:gridCol w="667512"/>
                <a:gridCol w="667512"/>
              </a:tblGrid>
              <a:tr h="329184">
                <a:tc>
                  <a:txBody>
                    <a:bodyPr wrap="square"/>
                    <a:lstStyle/>
                    <a:p>
                      <a:pPr algn="l">
                        <a:spcBef>
                          <a:spcPts val="0"/>
                        </a:spcBef>
                        <a:spcAft>
                          <a:spcPts val="0"/>
                        </a:spcAft>
                      </a:pPr>
                      <a:r>
                        <a:rPr sz="1100" b="1" i="0">
                          <a:solidFill>
                            <a:srgbClr val="FFFFFF"/>
                          </a:solidFill>
                          <a:latin typeface="Calibri"/>
                        </a:rPr>
                        <a:t>C(x) thô</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0.20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0.35</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0.50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0.65</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0.80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0.90</a:t>
                      </a:r>
                    </a:p>
                  </a:txBody>
                  <a:tcPr marL="64008" marR="64008" marT="18288" marB="18288" anchor="ctr">
                    <a:solidFill>
                      <a:srgbClr val="0F2A43"/>
                    </a:solidFill>
                  </a:tcPr>
                </a:tc>
              </a:tr>
              <a:tr h="329184">
                <a:tc>
                  <a:txBody>
                    <a:bodyPr wrap="square"/>
                    <a:lstStyle/>
                    <a:p>
                      <a:pPr algn="l">
                        <a:spcBef>
                          <a:spcPts val="0"/>
                        </a:spcBef>
                        <a:spcAft>
                          <a:spcPts val="0"/>
                        </a:spcAft>
                      </a:pPr>
                      <a:r>
                        <a:rPr sz="1100" b="1" i="0">
                          <a:solidFill>
                            <a:srgbClr val="1B2733"/>
                          </a:solidFill>
                          <a:latin typeface="Calibri"/>
                        </a:rPr>
                        <a:t>p̂ sau fit</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7.8%</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15.3%</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25.0%</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38.0%</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56.8%</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74.6%</a:t>
                      </a:r>
                    </a:p>
                  </a:txBody>
                  <a:tcPr marL="64008" marR="64008" marT="18288" marB="18288" anchor="ctr">
                    <a:solidFill>
                      <a:srgbClr val="FFFFFF"/>
                    </a:solidFill>
                  </a:tcPr>
                </a:tc>
              </a:tr>
            </a:tbl>
          </a:graphicData>
        </a:graphic>
      </p:graphicFrame>
      <p:sp>
        <p:nvSpPr>
          <p:cNvPr id="10" name="TextBox 9"/>
          <p:cNvSpPr txBox="1"/>
          <p:nvPr/>
        </p:nvSpPr>
        <p:spPr>
          <a:xfrm>
            <a:off x="6492240" y="5120640"/>
            <a:ext cx="5166360" cy="1234440"/>
          </a:xfrm>
          <a:prstGeom prst="rect">
            <a:avLst/>
          </a:prstGeom>
          <a:noFill/>
        </p:spPr>
        <p:txBody>
          <a:bodyPr wrap="square" lIns="0" rIns="0" tIns="0" bIns="0" anchor="t">
            <a:spAutoFit/>
          </a:bodyPr>
          <a:lstStyle/>
          <a:p>
            <a:pPr algn="l">
              <a:spcBef>
                <a:spcPts val="0"/>
              </a:spcBef>
              <a:spcAft>
                <a:spcPts val="0"/>
              </a:spcAft>
            </a:pPr>
            <a:r>
              <a:rPr sz="1150" b="1" i="0">
                <a:solidFill>
                  <a:srgbClr val="0E8F82"/>
                </a:solidFill>
                <a:latin typeface="Calibri"/>
              </a:rPr>
              <a:t>Kết quả: a = 0.9909, b = −1.1012. </a:t>
            </a:r>
            <a:r>
              <a:rPr sz="1150" b="0" i="0">
                <a:solidFill>
                  <a:srgbClr val="1B2733"/>
                </a:solidFill>
                <a:latin typeface="Calibri"/>
              </a:rPr>
              <a:t>b âm mạnh dịch cả đường cong sang phải: mô hình chỉ đáng tin khi C thô rất cao. Ảnh có C thô 0.50 chỉ có 25.0% khả năng đúng. Ảnh C thô 0.80 có p̂ = 56.8%, gần 0.5 nhất nên h_b cao nhất và được ưu tiên hỏi, còn ảnh C thô thấp nhất (0.20 → 7.8%) lại ít đáng hỏi.</a:t>
            </a:r>
          </a:p>
        </p:txBody>
      </p:sp>
      <p:sp>
        <p:nvSpPr>
          <p:cNvPr id="11" name="TextBox 10"/>
          <p:cNvSpPr txBox="1"/>
          <p:nvPr/>
        </p:nvSpPr>
        <p:spPr>
          <a:xfrm>
            <a:off x="548640" y="6108192"/>
            <a:ext cx="5669280" cy="274320"/>
          </a:xfrm>
          <a:prstGeom prst="rect">
            <a:avLst/>
          </a:prstGeom>
          <a:noFill/>
        </p:spPr>
        <p:txBody>
          <a:bodyPr wrap="square" lIns="0" rIns="0" tIns="0" bIns="0" anchor="t">
            <a:spAutoFit/>
          </a:bodyPr>
          <a:lstStyle/>
          <a:p>
            <a:pPr algn="l">
              <a:spcBef>
                <a:spcPts val="0"/>
              </a:spcBef>
              <a:spcAft>
                <a:spcPts val="0"/>
              </a:spcAft>
            </a:pPr>
            <a:r>
              <a:rPr sz="1050" b="0" i="1">
                <a:solidFill>
                  <a:srgbClr val="5A6A7A"/>
                </a:solidFill>
                <a:latin typeface="Calibri"/>
              </a:rPr>
              <a:t>Số liệu chạy thật bằng LBFGS(lr=0.1, max_iter=50) trên dữ liệu giả lập ở trên.</a:t>
            </a:r>
          </a:p>
        </p:txBody>
      </p:sp>
      <p:sp>
        <p:nvSpPr>
          <p:cNvPr id="12" name="TextBox 11"/>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11 / 19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4 · CƠ SỞ TOÁN HỌC</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Bước 3: entropy nhị phân đo đúng “giá trị thông tin” của một câu hỏi</a:t>
            </a:r>
          </a:p>
        </p:txBody>
      </p:sp>
      <p:sp>
        <p:nvSpPr>
          <p:cNvPr id="4" name="Rounded Rectangle 3"/>
          <p:cNvSpPr/>
          <p:nvPr/>
        </p:nvSpPr>
        <p:spPr>
          <a:xfrm>
            <a:off x="548640" y="1554480"/>
            <a:ext cx="5760720" cy="1143000"/>
          </a:xfrm>
          <a:prstGeom prst="roundRect">
            <a:avLst>
              <a:gd name="adj" fmla="val 4000"/>
            </a:avLst>
          </a:prstGeom>
          <a:solidFill>
            <a:srgbClr val="F3F6F9"/>
          </a:solidFill>
          <a:ln w="12700">
            <a:solidFill>
              <a:srgbClr val="D6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682495"/>
            <a:ext cx="5394959" cy="923544"/>
          </a:xfrm>
          <a:prstGeom prst="rect">
            <a:avLst/>
          </a:prstGeom>
          <a:noFill/>
        </p:spPr>
        <p:txBody>
          <a:bodyPr wrap="square" lIns="0" rIns="0" tIns="0" bIns="0" anchor="ctr">
            <a:spAutoFit/>
          </a:bodyPr>
          <a:lstStyle/>
          <a:p>
            <a:pPr algn="l">
              <a:spcBef>
                <a:spcPts val="0"/>
              </a:spcBef>
              <a:spcAft>
                <a:spcPts val="200"/>
              </a:spcAft>
            </a:pPr>
            <a:r>
              <a:rPr sz="1100" b="0" i="1">
                <a:solidFill>
                  <a:srgbClr val="5A6A7A"/>
                </a:solidFill>
                <a:latin typeface="Consolas"/>
              </a:rPr>
              <a:t>entropy nhị phân (đơn vị nat, logarit tự nhiên)</a:t>
            </a:r>
          </a:p>
          <a:p>
            <a:pPr algn="l">
              <a:spcBef>
                <a:spcPts val="0"/>
              </a:spcBef>
              <a:spcAft>
                <a:spcPts val="600"/>
              </a:spcAft>
            </a:pPr>
            <a:r>
              <a:rPr sz="1400" b="0" i="0">
                <a:solidFill>
                  <a:srgbClr val="1B2733"/>
                </a:solidFill>
                <a:latin typeface="Consolas"/>
              </a:rPr>
              <a:t>h_b(</a:t>
            </a:r>
            <a:r>
              <a:rPr sz="1400" b="1" i="0">
                <a:solidFill>
                  <a:srgbClr val="1B2733"/>
                </a:solidFill>
                <a:latin typeface="Calibri"/>
              </a:rPr>
              <a:t>p̂</a:t>
            </a:r>
            <a:r>
              <a:rPr sz="1400" b="0" i="0">
                <a:solidFill>
                  <a:srgbClr val="1B2733"/>
                </a:solidFill>
                <a:latin typeface="Consolas"/>
              </a:rPr>
              <a:t>) = −</a:t>
            </a:r>
            <a:r>
              <a:rPr sz="1400" b="1" i="0">
                <a:solidFill>
                  <a:srgbClr val="1B2733"/>
                </a:solidFill>
                <a:latin typeface="Calibri"/>
              </a:rPr>
              <a:t>p̂</a:t>
            </a:r>
            <a:r>
              <a:rPr sz="1400" b="0" i="0">
                <a:solidFill>
                  <a:srgbClr val="1B2733"/>
                </a:solidFill>
                <a:latin typeface="Consolas"/>
              </a:rPr>
              <a:t>·ln </a:t>
            </a:r>
            <a:r>
              <a:rPr sz="1400" b="1" i="0">
                <a:solidFill>
                  <a:srgbClr val="1B2733"/>
                </a:solidFill>
                <a:latin typeface="Calibri"/>
              </a:rPr>
              <a:t>p̂</a:t>
            </a:r>
            <a:r>
              <a:rPr sz="1400" b="0" i="0">
                <a:solidFill>
                  <a:srgbClr val="1B2733"/>
                </a:solidFill>
                <a:latin typeface="Consolas"/>
              </a:rPr>
              <a:t> − (1−</a:t>
            </a:r>
            <a:r>
              <a:rPr sz="1400" b="1" i="0">
                <a:solidFill>
                  <a:srgbClr val="1B2733"/>
                </a:solidFill>
                <a:latin typeface="Calibri"/>
              </a:rPr>
              <a:t>p̂</a:t>
            </a:r>
            <a:r>
              <a:rPr sz="1400" b="0" i="0">
                <a:solidFill>
                  <a:srgbClr val="1B2733"/>
                </a:solidFill>
                <a:latin typeface="Consolas"/>
              </a:rPr>
              <a:t>)·ln(1−</a:t>
            </a:r>
            <a:r>
              <a:rPr sz="1400" b="1" i="0">
                <a:solidFill>
                  <a:srgbClr val="1B2733"/>
                </a:solidFill>
                <a:latin typeface="Calibri"/>
              </a:rPr>
              <a:t>p̂</a:t>
            </a:r>
            <a:r>
              <a:rPr sz="1400" b="0" i="0">
                <a:solidFill>
                  <a:srgbClr val="1B2733"/>
                </a:solidFill>
                <a:latin typeface="Consolas"/>
              </a:rPr>
              <a:t>)</a:t>
            </a:r>
          </a:p>
        </p:txBody>
      </p:sp>
      <p:sp>
        <p:nvSpPr>
          <p:cNvPr id="6" name="Rounded Rectangle 5"/>
          <p:cNvSpPr/>
          <p:nvPr/>
        </p:nvSpPr>
        <p:spPr>
          <a:xfrm>
            <a:off x="548640" y="2834640"/>
            <a:ext cx="5760720" cy="214884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966313"/>
            <a:ext cx="5431536" cy="1885492"/>
          </a:xfrm>
          <a:prstGeom prst="rect">
            <a:avLst/>
          </a:prstGeom>
          <a:noFill/>
        </p:spPr>
        <p:txBody>
          <a:bodyPr wrap="square" lIns="0" rIns="0" tIns="0" bIns="0" anchor="t">
            <a:spAutoFit/>
          </a:bodyPr>
          <a:lstStyle/>
          <a:p>
            <a:pPr algn="l">
              <a:spcBef>
                <a:spcPts val="0"/>
              </a:spcBef>
              <a:spcAft>
                <a:spcPts val="400"/>
              </a:spcAft>
            </a:pPr>
            <a:r>
              <a:rPr sz="1300" b="1" i="0">
                <a:solidFill>
                  <a:srgbClr val="0E8F82"/>
                </a:solidFill>
                <a:latin typeface="Calibri"/>
              </a:rPr>
              <a:t>Vì sao h_b là lượng thông tin kỳ vọng của một câu hỏi?</a:t>
            </a:r>
          </a:p>
          <a:p>
            <a:pPr algn="l">
              <a:spcBef>
                <a:spcPts val="0"/>
              </a:spcBef>
              <a:spcAft>
                <a:spcPts val="300"/>
              </a:spcAft>
            </a:pPr>
            <a:r>
              <a:rPr sz="1150" b="0" i="0">
                <a:solidFill>
                  <a:srgbClr val="1B2733"/>
                </a:solidFill>
                <a:latin typeface="Calibri"/>
              </a:rPr>
              <a:t>Gọi E = “dự đoán đúng”, P(E) = p̂. Theo quy tắc phân nhóm (chain rule) của entropy:</a:t>
            </a:r>
          </a:p>
          <a:p>
            <a:pPr algn="l">
              <a:spcBef>
                <a:spcPts val="0"/>
              </a:spcBef>
              <a:spcAft>
                <a:spcPts val="300"/>
              </a:spcAft>
            </a:pPr>
            <a:r>
              <a:rPr sz="1150" b="1" i="0">
                <a:solidFill>
                  <a:srgbClr val="1B2733"/>
                </a:solidFill>
                <a:latin typeface="Consolas"/>
              </a:rPr>
              <a:t>H(Y|x) = h_b(</a:t>
            </a:r>
            <a:r>
              <a:rPr sz="1150" b="1" i="0">
                <a:solidFill>
                  <a:srgbClr val="1B2733"/>
                </a:solidFill>
                <a:latin typeface="Calibri"/>
              </a:rPr>
              <a:t>p̂</a:t>
            </a:r>
            <a:r>
              <a:rPr sz="1150" b="1" i="0">
                <a:solidFill>
                  <a:srgbClr val="1B2733"/>
                </a:solidFill>
                <a:latin typeface="Consolas"/>
              </a:rPr>
              <a:t>) + </a:t>
            </a:r>
            <a:r>
              <a:rPr sz="1150" b="1" i="0">
                <a:solidFill>
                  <a:srgbClr val="1B2733"/>
                </a:solidFill>
                <a:latin typeface="Calibri"/>
              </a:rPr>
              <a:t>p̂</a:t>
            </a:r>
            <a:r>
              <a:rPr sz="1150" b="1" i="0">
                <a:solidFill>
                  <a:srgbClr val="1B2733"/>
                </a:solidFill>
                <a:latin typeface="Consolas"/>
              </a:rPr>
              <a:t>·H(Y|E) + (1−</a:t>
            </a:r>
            <a:r>
              <a:rPr sz="1150" b="1" i="0">
                <a:solidFill>
                  <a:srgbClr val="1B2733"/>
                </a:solidFill>
                <a:latin typeface="Calibri"/>
              </a:rPr>
              <a:t>p̂</a:t>
            </a:r>
            <a:r>
              <a:rPr sz="1150" b="1" i="0">
                <a:solidFill>
                  <a:srgbClr val="1B2733"/>
                </a:solidFill>
                <a:latin typeface="Consolas"/>
              </a:rPr>
              <a:t>)·H(Y|¬E)</a:t>
            </a:r>
          </a:p>
          <a:p>
            <a:pPr algn="l">
              <a:spcBef>
                <a:spcPts val="0"/>
              </a:spcBef>
              <a:spcAft>
                <a:spcPts val="300"/>
              </a:spcAft>
            </a:pPr>
            <a:r>
              <a:rPr sz="1150" b="0" i="0">
                <a:solidFill>
                  <a:srgbClr val="1B2733"/>
                </a:solidFill>
                <a:latin typeface="Calibri"/>
              </a:rPr>
              <a:t>Vế phải = h_b(p̂) + (1−p̂)·H(phần bất định còn lại sau khi biết dự đoán SAI).</a:t>
            </a:r>
          </a:p>
          <a:p>
            <a:pPr algn="l">
              <a:spcBef>
                <a:spcPts val="0"/>
              </a:spcBef>
              <a:spcAft>
                <a:spcPts val="0"/>
              </a:spcAft>
            </a:pPr>
            <a:r>
              <a:rPr sz="1150" b="0" i="0">
                <a:solidFill>
                  <a:srgbClr val="1B2733"/>
                </a:solidFill>
                <a:latin typeface="Calibri"/>
              </a:rPr>
              <a:t>Nếu oracle nói “đúng” thì hết bất định (H = 0); nếu “sai” vẫn còn bất định về lớp thật. Vậy h_b(p̂) chính là phần bất định được xoá bỏ chỉ nhờ biết đúng/sai.</a:t>
            </a:r>
          </a:p>
        </p:txBody>
      </p:sp>
      <p:graphicFrame>
        <p:nvGraphicFramePr>
          <p:cNvPr id="8" name="Table 7"/>
          <p:cNvGraphicFramePr>
            <a:graphicFrameLocks noGrp="1"/>
          </p:cNvGraphicFramePr>
          <p:nvPr/>
        </p:nvGraphicFramePr>
        <p:xfrm>
          <a:off x="548640" y="5120640"/>
          <a:ext cx="5760720" cy="658368"/>
        </p:xfrm>
        <a:graphic>
          <a:graphicData uri="http://schemas.openxmlformats.org/drawingml/2006/table">
            <a:tbl>
              <a:tblPr firstRow="0" bandRow="0">
                <a:tableStyleId>{5C22544A-7EE6-4342-B048-85BDC9FD1C3A}</a:tableStyleId>
              </a:tblPr>
              <a:tblGrid>
                <a:gridCol w="640080"/>
                <a:gridCol w="731520"/>
                <a:gridCol w="731520"/>
                <a:gridCol w="731520"/>
                <a:gridCol w="731520"/>
                <a:gridCol w="731520"/>
                <a:gridCol w="731520"/>
                <a:gridCol w="731520"/>
              </a:tblGrid>
              <a:tr h="329184">
                <a:tc>
                  <a:txBody>
                    <a:bodyPr wrap="square"/>
                    <a:lstStyle/>
                    <a:p>
                      <a:pPr algn="l">
                        <a:spcBef>
                          <a:spcPts val="0"/>
                        </a:spcBef>
                        <a:spcAft>
                          <a:spcPts val="0"/>
                        </a:spcAft>
                      </a:pPr>
                      <a:r>
                        <a:rPr sz="1100" b="1" i="0">
                          <a:solidFill>
                            <a:srgbClr val="FFFFFF"/>
                          </a:solidFill>
                          <a:latin typeface="Calibri"/>
                        </a:rPr>
                        <a:t>p̂</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0.01</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0.10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0.31</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0.42</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0.50</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0.59</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0.99</a:t>
                      </a:r>
                    </a:p>
                  </a:txBody>
                  <a:tcPr marL="64008" marR="64008" marT="18288" marB="18288" anchor="ctr">
                    <a:solidFill>
                      <a:srgbClr val="0F2A43"/>
                    </a:solidFill>
                  </a:tcPr>
                </a:tc>
              </a:tr>
              <a:tr h="329184">
                <a:tc>
                  <a:txBody>
                    <a:bodyPr wrap="square"/>
                    <a:lstStyle/>
                    <a:p>
                      <a:pPr algn="l">
                        <a:spcBef>
                          <a:spcPts val="0"/>
                        </a:spcBef>
                        <a:spcAft>
                          <a:spcPts val="0"/>
                        </a:spcAft>
                      </a:pPr>
                      <a:r>
                        <a:rPr sz="1100" b="1" i="0">
                          <a:solidFill>
                            <a:srgbClr val="1B2733"/>
                          </a:solidFill>
                          <a:latin typeface="Calibri"/>
                        </a:rPr>
                        <a:t>h_b</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0.056</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0.325</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0.619</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0.680</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0.693</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0.677</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0.056</a:t>
                      </a:r>
                    </a:p>
                  </a:txBody>
                  <a:tcPr marL="64008" marR="64008" marT="18288" marB="18288" anchor="ctr">
                    <a:solidFill>
                      <a:srgbClr val="FFFFFF"/>
                    </a:solidFill>
                  </a:tcPr>
                </a:tc>
              </a:tr>
            </a:tbl>
          </a:graphicData>
        </a:graphic>
      </p:graphicFrame>
      <p:graphicFrame>
        <p:nvGraphicFramePr>
          <p:cNvPr id="9" name="Chart 8"/>
          <p:cNvGraphicFramePr>
            <a:graphicFrameLocks noGrp="1"/>
          </p:cNvGraphicFramePr>
          <p:nvPr/>
        </p:nvGraphicFramePr>
        <p:xfrm>
          <a:off x="6583680" y="1463040"/>
          <a:ext cx="5074920" cy="2788920"/>
        </p:xfrm>
        <a:graphic>
          <a:graphicData uri="http://schemas.openxmlformats.org/drawingml/2006/chart">
            <c:chart xmlns:c="http://schemas.openxmlformats.org/drawingml/2006/chart" r:id="rId2"/>
          </a:graphicData>
        </a:graphic>
      </p:graphicFrame>
      <p:sp>
        <p:nvSpPr>
          <p:cNvPr id="10" name="Rounded Rectangle 9"/>
          <p:cNvSpPr/>
          <p:nvPr/>
        </p:nvSpPr>
        <p:spPr>
          <a:xfrm>
            <a:off x="6583680" y="4389120"/>
            <a:ext cx="5074920" cy="196596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729984" y="453542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2" name="TextBox 11"/>
          <p:cNvSpPr txBox="1"/>
          <p:nvPr/>
        </p:nvSpPr>
        <p:spPr>
          <a:xfrm>
            <a:off x="7168896" y="4498848"/>
            <a:ext cx="4343400" cy="1783080"/>
          </a:xfrm>
          <a:prstGeom prst="rect">
            <a:avLst/>
          </a:prstGeom>
          <a:noFill/>
        </p:spPr>
        <p:txBody>
          <a:bodyPr wrap="square" lIns="0" rIns="0" tIns="0" bIns="0" anchor="t">
            <a:spAutoFit/>
          </a:bodyPr>
          <a:lstStyle/>
          <a:p>
            <a:pPr algn="l">
              <a:spcBef>
                <a:spcPts val="0"/>
              </a:spcBef>
              <a:spcAft>
                <a:spcPts val="300"/>
              </a:spcAft>
            </a:pPr>
            <a:r>
              <a:rPr sz="1150" b="1" i="0">
                <a:solidFill>
                  <a:srgbClr val="A5680B"/>
                </a:solidFill>
                <a:latin typeface="Calibri"/>
              </a:rPr>
              <a:t>Câu hỏi: </a:t>
            </a:r>
            <a:r>
              <a:rPr sz="1150" b="1" i="1">
                <a:solidFill>
                  <a:srgbClr val="1B2733"/>
                </a:solidFill>
                <a:latin typeface="Calibri"/>
              </a:rPr>
              <a:t>Vì sao dùng entropy mà không phải |p̂ − 0.5| hay p̂(1 − p̂)?</a:t>
            </a:r>
          </a:p>
          <a:p>
            <a:pPr algn="l">
              <a:spcBef>
                <a:spcPts val="0"/>
              </a:spcBef>
              <a:spcAft>
                <a:spcPts val="0"/>
              </a:spcAft>
            </a:pPr>
            <a:r>
              <a:rPr sz="1150" b="0" i="0">
                <a:solidFill>
                  <a:srgbClr val="1B2733"/>
                </a:solidFill>
                <a:latin typeface="Calibri"/>
              </a:rPr>
              <a:t>Cả hai cũng cực đại tại 0.5 nhưng chỉ là “đo độ phân vân”. Entropy là đại lượng DUY NHẤT có ý nghĩa chính xác là số nat thông tin kỳ vọng thu được từ một câu hỏi nhị phân, nên chọn theo entropy là tối ưu theo đúng định nghĩa của “giá trị câu hỏi”, không phải một mẹo cảm tính.</a:t>
            </a:r>
          </a:p>
        </p:txBody>
      </p:sp>
      <p:sp>
        <p:nvSpPr>
          <p:cNvPr id="13" name="TextBox 12"/>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12 / 19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3 · CÁCH GIẢI QUYẾT</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Thuật toán chọn mẫu của Proposal (C1) và ví dụ lật kết quả</a:t>
            </a:r>
          </a:p>
        </p:txBody>
      </p:sp>
      <p:sp>
        <p:nvSpPr>
          <p:cNvPr id="4" name="Oval 3"/>
          <p:cNvSpPr/>
          <p:nvPr/>
        </p:nvSpPr>
        <p:spPr>
          <a:xfrm>
            <a:off x="548640" y="1554480"/>
            <a:ext cx="329184" cy="329184"/>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00" b="1" i="0">
                <a:solidFill>
                  <a:srgbClr val="FFFFFF"/>
                </a:solidFill>
                <a:latin typeface="Calibri"/>
              </a:rPr>
              <a:t>1</a:t>
            </a:r>
          </a:p>
        </p:txBody>
      </p:sp>
      <p:sp>
        <p:nvSpPr>
          <p:cNvPr id="5" name="TextBox 4"/>
          <p:cNvSpPr txBox="1"/>
          <p:nvPr/>
        </p:nvSpPr>
        <p:spPr>
          <a:xfrm>
            <a:off x="1005840" y="1536192"/>
            <a:ext cx="5029200" cy="658368"/>
          </a:xfrm>
          <a:prstGeom prst="rect">
            <a:avLst/>
          </a:prstGeom>
          <a:noFill/>
        </p:spPr>
        <p:txBody>
          <a:bodyPr wrap="square" lIns="0" rIns="0" tIns="0" bIns="0" anchor="t">
            <a:spAutoFit/>
          </a:bodyPr>
          <a:lstStyle/>
          <a:p>
            <a:pPr algn="l">
              <a:spcBef>
                <a:spcPts val="0"/>
              </a:spcBef>
              <a:spcAft>
                <a:spcPts val="0"/>
              </a:spcAft>
            </a:pPr>
            <a:r>
              <a:rPr sz="1150" b="0" i="0">
                <a:solidFill>
                  <a:srgbClr val="1B2733"/>
                </a:solidFill>
                <a:latin typeface="Calibri"/>
              </a:rPr>
              <a:t>Chạy MC-Dropout với N = n_dropouts_select (16) → C(x) cho từng ảnh trong pool.</a:t>
            </a:r>
          </a:p>
        </p:txBody>
      </p:sp>
      <p:sp>
        <p:nvSpPr>
          <p:cNvPr id="6" name="Oval 5"/>
          <p:cNvSpPr/>
          <p:nvPr/>
        </p:nvSpPr>
        <p:spPr>
          <a:xfrm>
            <a:off x="548640" y="2194560"/>
            <a:ext cx="329184" cy="329184"/>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00" b="1" i="0">
                <a:solidFill>
                  <a:srgbClr val="FFFFFF"/>
                </a:solidFill>
                <a:latin typeface="Calibri"/>
              </a:rPr>
              <a:t>2</a:t>
            </a:r>
          </a:p>
        </p:txBody>
      </p:sp>
      <p:sp>
        <p:nvSpPr>
          <p:cNvPr id="7" name="TextBox 6"/>
          <p:cNvSpPr txBox="1"/>
          <p:nvPr/>
        </p:nvSpPr>
        <p:spPr>
          <a:xfrm>
            <a:off x="1005840" y="2176272"/>
            <a:ext cx="5029200" cy="658368"/>
          </a:xfrm>
          <a:prstGeom prst="rect">
            <a:avLst/>
          </a:prstGeom>
          <a:noFill/>
        </p:spPr>
        <p:txBody>
          <a:bodyPr wrap="square" lIns="0" rIns="0" tIns="0" bIns="0" anchor="t">
            <a:spAutoFit/>
          </a:bodyPr>
          <a:lstStyle/>
          <a:p>
            <a:pPr algn="l">
              <a:spcBef>
                <a:spcPts val="0"/>
              </a:spcBef>
              <a:spcAft>
                <a:spcPts val="0"/>
              </a:spcAft>
            </a:pPr>
            <a:r>
              <a:rPr sz="1150" b="0" i="0">
                <a:solidFill>
                  <a:srgbClr val="1B2733"/>
                </a:solidFill>
                <a:latin typeface="Calibri"/>
              </a:rPr>
              <a:t>Nếu Platt chưa fit (chưa đủ cặp) → cold start: chọn 3 ảnh C thấp nhất như Eq. 6.</a:t>
            </a:r>
          </a:p>
        </p:txBody>
      </p:sp>
      <p:sp>
        <p:nvSpPr>
          <p:cNvPr id="8" name="Oval 7"/>
          <p:cNvSpPr/>
          <p:nvPr/>
        </p:nvSpPr>
        <p:spPr>
          <a:xfrm>
            <a:off x="548640" y="2834640"/>
            <a:ext cx="329184" cy="329184"/>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00" b="1" i="0">
                <a:solidFill>
                  <a:srgbClr val="FFFFFF"/>
                </a:solidFill>
                <a:latin typeface="Calibri"/>
              </a:rPr>
              <a:t>3</a:t>
            </a:r>
          </a:p>
        </p:txBody>
      </p:sp>
      <p:sp>
        <p:nvSpPr>
          <p:cNvPr id="9" name="TextBox 8"/>
          <p:cNvSpPr txBox="1"/>
          <p:nvPr/>
        </p:nvSpPr>
        <p:spPr>
          <a:xfrm>
            <a:off x="1005840" y="2816352"/>
            <a:ext cx="5029200" cy="658368"/>
          </a:xfrm>
          <a:prstGeom prst="rect">
            <a:avLst/>
          </a:prstGeom>
          <a:noFill/>
        </p:spPr>
        <p:txBody>
          <a:bodyPr wrap="square" lIns="0" rIns="0" tIns="0" bIns="0" anchor="t">
            <a:spAutoFit/>
          </a:bodyPr>
          <a:lstStyle/>
          <a:p>
            <a:pPr algn="l">
              <a:spcBef>
                <a:spcPts val="0"/>
              </a:spcBef>
              <a:spcAft>
                <a:spcPts val="0"/>
              </a:spcAft>
            </a:pPr>
            <a:r>
              <a:rPr sz="1150" b="0" i="0">
                <a:solidFill>
                  <a:srgbClr val="1B2733"/>
                </a:solidFill>
                <a:latin typeface="Calibri"/>
              </a:rPr>
              <a:t>Tính p̂ = σ(a·logit C + b) rồi h_b(p̂) cho từng ảnh.</a:t>
            </a:r>
          </a:p>
        </p:txBody>
      </p:sp>
      <p:sp>
        <p:nvSpPr>
          <p:cNvPr id="10" name="Oval 9"/>
          <p:cNvSpPr/>
          <p:nvPr/>
        </p:nvSpPr>
        <p:spPr>
          <a:xfrm>
            <a:off x="548640" y="3474720"/>
            <a:ext cx="329184" cy="329184"/>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00" b="1" i="0">
                <a:solidFill>
                  <a:srgbClr val="FFFFFF"/>
                </a:solidFill>
                <a:latin typeface="Calibri"/>
              </a:rPr>
              <a:t>4</a:t>
            </a:r>
          </a:p>
        </p:txBody>
      </p:sp>
      <p:sp>
        <p:nvSpPr>
          <p:cNvPr id="11" name="TextBox 10"/>
          <p:cNvSpPr txBox="1"/>
          <p:nvPr/>
        </p:nvSpPr>
        <p:spPr>
          <a:xfrm>
            <a:off x="1005840" y="3456432"/>
            <a:ext cx="5029200" cy="658368"/>
          </a:xfrm>
          <a:prstGeom prst="rect">
            <a:avLst/>
          </a:prstGeom>
          <a:noFill/>
        </p:spPr>
        <p:txBody>
          <a:bodyPr wrap="square" lIns="0" rIns="0" tIns="0" bIns="0" anchor="t">
            <a:spAutoFit/>
          </a:bodyPr>
          <a:lstStyle/>
          <a:p>
            <a:pPr algn="l">
              <a:spcBef>
                <a:spcPts val="0"/>
              </a:spcBef>
              <a:spcAft>
                <a:spcPts val="0"/>
              </a:spcAft>
            </a:pPr>
            <a:r>
              <a:rPr sz="1150" b="0" i="0">
                <a:solidFill>
                  <a:srgbClr val="1B2733"/>
                </a:solidFill>
                <a:latin typeface="Calibri"/>
              </a:rPr>
              <a:t>Nếu điểm số không phân hoá (max − min ≤ 10⁻⁹) → cũng rơi về Eq. 6.</a:t>
            </a:r>
          </a:p>
        </p:txBody>
      </p:sp>
      <p:sp>
        <p:nvSpPr>
          <p:cNvPr id="12" name="Oval 11"/>
          <p:cNvSpPr/>
          <p:nvPr/>
        </p:nvSpPr>
        <p:spPr>
          <a:xfrm>
            <a:off x="548640" y="4114800"/>
            <a:ext cx="329184" cy="329184"/>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00" b="1" i="0">
                <a:solidFill>
                  <a:srgbClr val="FFFFFF"/>
                </a:solidFill>
                <a:latin typeface="Calibri"/>
              </a:rPr>
              <a:t>5</a:t>
            </a:r>
          </a:p>
        </p:txBody>
      </p:sp>
      <p:sp>
        <p:nvSpPr>
          <p:cNvPr id="13" name="TextBox 12"/>
          <p:cNvSpPr txBox="1"/>
          <p:nvPr/>
        </p:nvSpPr>
        <p:spPr>
          <a:xfrm>
            <a:off x="1005840" y="4096512"/>
            <a:ext cx="5029200" cy="658368"/>
          </a:xfrm>
          <a:prstGeom prst="rect">
            <a:avLst/>
          </a:prstGeom>
          <a:noFill/>
        </p:spPr>
        <p:txBody>
          <a:bodyPr wrap="square" lIns="0" rIns="0" tIns="0" bIns="0" anchor="t">
            <a:spAutoFit/>
          </a:bodyPr>
          <a:lstStyle/>
          <a:p>
            <a:pPr algn="l">
              <a:spcBef>
                <a:spcPts val="0"/>
              </a:spcBef>
              <a:spcAft>
                <a:spcPts val="0"/>
              </a:spcAft>
            </a:pPr>
            <a:r>
              <a:rPr sz="1150" b="0" i="0">
                <a:solidFill>
                  <a:srgbClr val="1B2733"/>
                </a:solidFill>
                <a:latin typeface="Calibri"/>
              </a:rPr>
              <a:t>Chọn top-k = 3 theo h_b lớn nhất.</a:t>
            </a:r>
          </a:p>
        </p:txBody>
      </p:sp>
      <p:sp>
        <p:nvSpPr>
          <p:cNvPr id="14" name="Oval 13"/>
          <p:cNvSpPr/>
          <p:nvPr/>
        </p:nvSpPr>
        <p:spPr>
          <a:xfrm>
            <a:off x="548640" y="4754880"/>
            <a:ext cx="329184" cy="329184"/>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00" b="1" i="0">
                <a:solidFill>
                  <a:srgbClr val="FFFFFF"/>
                </a:solidFill>
                <a:latin typeface="Calibri"/>
              </a:rPr>
              <a:t>6</a:t>
            </a:r>
          </a:p>
        </p:txBody>
      </p:sp>
      <p:sp>
        <p:nvSpPr>
          <p:cNvPr id="15" name="TextBox 14"/>
          <p:cNvSpPr txBox="1"/>
          <p:nvPr/>
        </p:nvSpPr>
        <p:spPr>
          <a:xfrm>
            <a:off x="1005840" y="4736592"/>
            <a:ext cx="5029200" cy="658368"/>
          </a:xfrm>
          <a:prstGeom prst="rect">
            <a:avLst/>
          </a:prstGeom>
          <a:noFill/>
        </p:spPr>
        <p:txBody>
          <a:bodyPr wrap="square" lIns="0" rIns="0" tIns="0" bIns="0" anchor="t">
            <a:spAutoFit/>
          </a:bodyPr>
          <a:lstStyle/>
          <a:p>
            <a:pPr algn="l">
              <a:spcBef>
                <a:spcPts val="0"/>
              </a:spcBef>
              <a:spcAft>
                <a:spcPts val="0"/>
              </a:spcAft>
            </a:pPr>
            <a:r>
              <a:rPr sz="1150" b="0" i="0">
                <a:solidFill>
                  <a:srgbClr val="1B2733"/>
                </a:solidFill>
                <a:latin typeface="Calibri"/>
              </a:rPr>
              <a:t>(Tuỳ chọn) ε-explore: với xác suất explore_eps thay 1 suất bằng ảnh ngẫu nhiên. Cấu hình báo cáo đặt 0.0 vì bật nó từng gây hồi quy trên CIFAR-10-C.</a:t>
            </a:r>
          </a:p>
        </p:txBody>
      </p:sp>
      <p:sp>
        <p:nvSpPr>
          <p:cNvPr id="16" name="Oval 15"/>
          <p:cNvSpPr/>
          <p:nvPr/>
        </p:nvSpPr>
        <p:spPr>
          <a:xfrm>
            <a:off x="548640" y="5577840"/>
            <a:ext cx="329184" cy="329184"/>
          </a:xfrm>
          <a:prstGeom prst="ellipse">
            <a:avLst/>
          </a:prstGeom>
          <a:solidFill>
            <a:srgbClr val="0E8F8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00" b="1" i="0">
                <a:solidFill>
                  <a:srgbClr val="FFFFFF"/>
                </a:solidFill>
                <a:latin typeface="Calibri"/>
              </a:rPr>
              <a:t>7</a:t>
            </a:r>
          </a:p>
        </p:txBody>
      </p:sp>
      <p:sp>
        <p:nvSpPr>
          <p:cNvPr id="17" name="TextBox 16"/>
          <p:cNvSpPr txBox="1"/>
          <p:nvPr/>
        </p:nvSpPr>
        <p:spPr>
          <a:xfrm>
            <a:off x="1005840" y="5559552"/>
            <a:ext cx="5029200" cy="658368"/>
          </a:xfrm>
          <a:prstGeom prst="rect">
            <a:avLst/>
          </a:prstGeom>
          <a:noFill/>
        </p:spPr>
        <p:txBody>
          <a:bodyPr wrap="square" lIns="0" rIns="0" tIns="0" bIns="0" anchor="t">
            <a:spAutoFit/>
          </a:bodyPr>
          <a:lstStyle/>
          <a:p>
            <a:pPr algn="l">
              <a:spcBef>
                <a:spcPts val="0"/>
              </a:spcBef>
              <a:spcAft>
                <a:spcPts val="0"/>
              </a:spcAft>
            </a:pPr>
            <a:r>
              <a:rPr sz="1150" b="0" i="0">
                <a:solidFill>
                  <a:srgbClr val="1B2733"/>
                </a:solidFill>
                <a:latin typeface="Calibri"/>
              </a:rPr>
              <a:t>Hỏi oracle → đưa vào M_C / M_I, ghi (C, đúng/sai) vào bộ đệm, refit (a, b).</a:t>
            </a:r>
          </a:p>
        </p:txBody>
      </p:sp>
      <p:graphicFrame>
        <p:nvGraphicFramePr>
          <p:cNvPr id="18" name="Table 17"/>
          <p:cNvGraphicFramePr>
            <a:graphicFrameLocks noGrp="1"/>
          </p:cNvGraphicFramePr>
          <p:nvPr/>
        </p:nvGraphicFramePr>
        <p:xfrm>
          <a:off x="6355080" y="1554480"/>
          <a:ext cx="5303520" cy="2962656"/>
        </p:xfrm>
        <a:graphic>
          <a:graphicData uri="http://schemas.openxmlformats.org/drawingml/2006/table">
            <a:tbl>
              <a:tblPr firstRow="0" bandRow="0">
                <a:tableStyleId>{5C22544A-7EE6-4342-B048-85BDC9FD1C3A}</a:tableStyleId>
              </a:tblPr>
              <a:tblGrid>
                <a:gridCol w="685800"/>
                <a:gridCol w="777240"/>
                <a:gridCol w="822960"/>
                <a:gridCol w="822960"/>
                <a:gridCol w="1005840"/>
                <a:gridCol w="1188720"/>
              </a:tblGrid>
              <a:tr h="329184">
                <a:tc>
                  <a:txBody>
                    <a:bodyPr wrap="square"/>
                    <a:lstStyle/>
                    <a:p>
                      <a:pPr algn="l">
                        <a:spcBef>
                          <a:spcPts val="0"/>
                        </a:spcBef>
                        <a:spcAft>
                          <a:spcPts val="0"/>
                        </a:spcAft>
                      </a:pPr>
                      <a:r>
                        <a:rPr sz="1100" b="1" i="0">
                          <a:solidFill>
                            <a:srgbClr val="FFFFFF"/>
                          </a:solidFill>
                          <a:latin typeface="Calibri"/>
                        </a:rPr>
                        <a:t>Ảnh</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C(x)</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p̂</a:t>
                      </a:r>
                    </a:p>
                  </a:txBody>
                  <a:tcPr marL="64008" marR="64008" marT="18288" marB="18288" anchor="ctr">
                    <a:solidFill>
                      <a:srgbClr val="0F2A43"/>
                    </a:solidFill>
                  </a:tcPr>
                </a:tc>
                <a:tc>
                  <a:txBody>
                    <a:bodyPr wrap="square"/>
                    <a:lstStyle/>
                    <a:p>
                      <a:pPr algn="r">
                        <a:spcBef>
                          <a:spcPts val="0"/>
                        </a:spcBef>
                        <a:spcAft>
                          <a:spcPts val="0"/>
                        </a:spcAft>
                      </a:pPr>
                      <a:r>
                        <a:rPr sz="1100" b="1" i="0">
                          <a:solidFill>
                            <a:srgbClr val="FFFFFF"/>
                          </a:solidFill>
                          <a:latin typeface="Calibri"/>
                        </a:rPr>
                        <a:t>h_b</a:t>
                      </a:r>
                    </a:p>
                  </a:txBody>
                  <a:tcPr marL="64008" marR="64008" marT="18288" marB="18288" anchor="ctr">
                    <a:solidFill>
                      <a:srgbClr val="0F2A43"/>
                    </a:solidFill>
                  </a:tcPr>
                </a:tc>
                <a:tc>
                  <a:txBody>
                    <a:bodyPr wrap="square"/>
                    <a:lstStyle/>
                    <a:p>
                      <a:pPr algn="l">
                        <a:spcBef>
                          <a:spcPts val="0"/>
                        </a:spcBef>
                        <a:spcAft>
                          <a:spcPts val="0"/>
                        </a:spcAft>
                      </a:pPr>
                      <a:r>
                        <a:rPr sz="1100" b="1" i="0">
                          <a:solidFill>
                            <a:srgbClr val="FFFFFF"/>
                          </a:solidFill>
                          <a:latin typeface="Calibri"/>
                        </a:rPr>
                        <a:t>Eq. 6</a:t>
                      </a:r>
                    </a:p>
                  </a:txBody>
                  <a:tcPr marL="64008" marR="64008" marT="18288" marB="18288" anchor="ctr">
                    <a:solidFill>
                      <a:srgbClr val="0F2A43"/>
                    </a:solidFill>
                  </a:tcPr>
                </a:tc>
                <a:tc>
                  <a:txBody>
                    <a:bodyPr wrap="square"/>
                    <a:lstStyle/>
                    <a:p>
                      <a:pPr algn="l">
                        <a:spcBef>
                          <a:spcPts val="0"/>
                        </a:spcBef>
                        <a:spcAft>
                          <a:spcPts val="0"/>
                        </a:spcAft>
                      </a:pPr>
                      <a:r>
                        <a:rPr sz="1100" b="1" i="0">
                          <a:solidFill>
                            <a:srgbClr val="FFFFFF"/>
                          </a:solidFill>
                          <a:latin typeface="Calibri"/>
                        </a:rPr>
                        <a:t>Proposal</a:t>
                      </a:r>
                    </a:p>
                  </a:txBody>
                  <a:tcPr marL="64008" marR="64008" marT="18288" marB="18288" anchor="ctr">
                    <a:solidFill>
                      <a:srgbClr val="0F2A43"/>
                    </a:solidFill>
                  </a:tcPr>
                </a:tc>
              </a:tr>
              <a:tr h="329184">
                <a:tc>
                  <a:txBody>
                    <a:bodyPr wrap="square"/>
                    <a:lstStyle/>
                    <a:p>
                      <a:pPr algn="l">
                        <a:spcBef>
                          <a:spcPts val="0"/>
                        </a:spcBef>
                        <a:spcAft>
                          <a:spcPts val="0"/>
                        </a:spcAft>
                      </a:pPr>
                      <a:r>
                        <a:rPr sz="1100" b="1" i="0">
                          <a:solidFill>
                            <a:srgbClr val="1B2733"/>
                          </a:solidFill>
                          <a:latin typeface="Calibri"/>
                        </a:rPr>
                        <a:t>x1</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0.31</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0.008</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0.047</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 chọn</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BEBD2"/>
                    </a:solidFill>
                  </a:tcPr>
                </a:tc>
              </a:tr>
              <a:tr h="329184">
                <a:tc>
                  <a:txBody>
                    <a:bodyPr wrap="square"/>
                    <a:lstStyle/>
                    <a:p>
                      <a:pPr algn="l">
                        <a:spcBef>
                          <a:spcPts val="0"/>
                        </a:spcBef>
                        <a:spcAft>
                          <a:spcPts val="0"/>
                        </a:spcAft>
                      </a:pPr>
                      <a:r>
                        <a:rPr sz="1100" b="1" i="0">
                          <a:solidFill>
                            <a:srgbClr val="1B2733"/>
                          </a:solidFill>
                          <a:latin typeface="Calibri"/>
                        </a:rPr>
                        <a:t>x2</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0.42</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0.053</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0.206</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 chọn</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BEBD2"/>
                    </a:solidFill>
                  </a:tcPr>
                </a:tc>
              </a:tr>
              <a:tr h="329184">
                <a:tc>
                  <a:txBody>
                    <a:bodyPr wrap="square"/>
                    <a:lstStyle/>
                    <a:p>
                      <a:pPr algn="l">
                        <a:spcBef>
                          <a:spcPts val="0"/>
                        </a:spcBef>
                        <a:spcAft>
                          <a:spcPts val="0"/>
                        </a:spcAft>
                      </a:pPr>
                      <a:r>
                        <a:rPr sz="1100" b="1" i="0">
                          <a:solidFill>
                            <a:srgbClr val="1B2733"/>
                          </a:solidFill>
                          <a:latin typeface="Calibri"/>
                        </a:rPr>
                        <a:t>x3</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0.55</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0.311</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0.620</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 chọn</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 chọn</a:t>
                      </a:r>
                    </a:p>
                  </a:txBody>
                  <a:tcPr marL="64008" marR="64008" marT="18288" marB="18288" anchor="ctr">
                    <a:solidFill>
                      <a:srgbClr val="FBEBD2"/>
                    </a:solidFill>
                  </a:tcPr>
                </a:tc>
              </a:tr>
              <a:tr h="329184">
                <a:tc>
                  <a:txBody>
                    <a:bodyPr wrap="square"/>
                    <a:lstStyle/>
                    <a:p>
                      <a:pPr algn="l">
                        <a:spcBef>
                          <a:spcPts val="0"/>
                        </a:spcBef>
                        <a:spcAft>
                          <a:spcPts val="0"/>
                        </a:spcAft>
                      </a:pPr>
                      <a:r>
                        <a:rPr sz="1100" b="1" i="0">
                          <a:solidFill>
                            <a:srgbClr val="1B2733"/>
                          </a:solidFill>
                          <a:latin typeface="Calibri"/>
                        </a:rPr>
                        <a:t>x4</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0.58</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0.423</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0.681</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 chọn</a:t>
                      </a:r>
                    </a:p>
                  </a:txBody>
                  <a:tcPr marL="64008" marR="64008" marT="18288" marB="18288" anchor="ctr">
                    <a:solidFill>
                      <a:srgbClr val="FBEBD2"/>
                    </a:solidFill>
                  </a:tcPr>
                </a:tc>
              </a:tr>
              <a:tr h="329184">
                <a:tc>
                  <a:txBody>
                    <a:bodyPr wrap="square"/>
                    <a:lstStyle/>
                    <a:p>
                      <a:pPr algn="l">
                        <a:spcBef>
                          <a:spcPts val="0"/>
                        </a:spcBef>
                        <a:spcAft>
                          <a:spcPts val="0"/>
                        </a:spcAft>
                      </a:pPr>
                      <a:r>
                        <a:rPr sz="1100" b="1" i="0">
                          <a:solidFill>
                            <a:srgbClr val="1B2733"/>
                          </a:solidFill>
                          <a:latin typeface="Calibri"/>
                        </a:rPr>
                        <a:t>x5</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0.62</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0.589</a:t>
                      </a:r>
                    </a:p>
                  </a:txBody>
                  <a:tcPr marL="64008" marR="64008" marT="18288" marB="18288" anchor="ctr">
                    <a:solidFill>
                      <a:srgbClr val="FBEBD2"/>
                    </a:solidFill>
                  </a:tcPr>
                </a:tc>
                <a:tc>
                  <a:txBody>
                    <a:bodyPr wrap="square"/>
                    <a:lstStyle/>
                    <a:p>
                      <a:pPr algn="r">
                        <a:spcBef>
                          <a:spcPts val="0"/>
                        </a:spcBef>
                        <a:spcAft>
                          <a:spcPts val="0"/>
                        </a:spcAft>
                      </a:pPr>
                      <a:r>
                        <a:rPr sz="1100" b="0" i="0">
                          <a:solidFill>
                            <a:srgbClr val="1B2733"/>
                          </a:solidFill>
                          <a:latin typeface="Consolas"/>
                        </a:rPr>
                        <a:t>0.677</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BEBD2"/>
                    </a:solidFill>
                  </a:tcPr>
                </a:tc>
                <a:tc>
                  <a:txBody>
                    <a:bodyPr wrap="square"/>
                    <a:lstStyle/>
                    <a:p>
                      <a:pPr algn="l">
                        <a:spcBef>
                          <a:spcPts val="0"/>
                        </a:spcBef>
                        <a:spcAft>
                          <a:spcPts val="0"/>
                        </a:spcAft>
                      </a:pPr>
                      <a:r>
                        <a:rPr sz="1100" b="0" i="0">
                          <a:solidFill>
                            <a:srgbClr val="1B2733"/>
                          </a:solidFill>
                          <a:latin typeface="Calibri"/>
                        </a:rPr>
                        <a:t>● chọn</a:t>
                      </a:r>
                    </a:p>
                  </a:txBody>
                  <a:tcPr marL="64008" marR="64008" marT="18288" marB="18288" anchor="ctr">
                    <a:solidFill>
                      <a:srgbClr val="FBEBD2"/>
                    </a:solidFill>
                  </a:tcPr>
                </a:tc>
              </a:tr>
              <a:tr h="329184">
                <a:tc>
                  <a:txBody>
                    <a:bodyPr wrap="square"/>
                    <a:lstStyle/>
                    <a:p>
                      <a:pPr algn="l">
                        <a:spcBef>
                          <a:spcPts val="0"/>
                        </a:spcBef>
                        <a:spcAft>
                          <a:spcPts val="0"/>
                        </a:spcAft>
                      </a:pPr>
                      <a:r>
                        <a:rPr sz="1100" b="1" i="0">
                          <a:solidFill>
                            <a:srgbClr val="1B2733"/>
                          </a:solidFill>
                          <a:latin typeface="Calibri"/>
                        </a:rPr>
                        <a:t>x6</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0.91</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1.000</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0.004</a:t>
                      </a:r>
                    </a:p>
                  </a:txBody>
                  <a:tcPr marL="64008" marR="64008" marT="18288" marB="18288" anchor="ctr">
                    <a:solidFill>
                      <a:srgbClr val="F3F6F9"/>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3F6F9"/>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3F6F9"/>
                    </a:solidFill>
                  </a:tcPr>
                </a:tc>
              </a:tr>
              <a:tr h="329184">
                <a:tc>
                  <a:txBody>
                    <a:bodyPr wrap="square"/>
                    <a:lstStyle/>
                    <a:p>
                      <a:pPr algn="l">
                        <a:spcBef>
                          <a:spcPts val="0"/>
                        </a:spcBef>
                        <a:spcAft>
                          <a:spcPts val="0"/>
                        </a:spcAft>
                      </a:pPr>
                      <a:r>
                        <a:rPr sz="1100" b="1" i="0">
                          <a:solidFill>
                            <a:srgbClr val="1B2733"/>
                          </a:solidFill>
                          <a:latin typeface="Calibri"/>
                        </a:rPr>
                        <a:t>x7</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0.93</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1.000</a:t>
                      </a:r>
                    </a:p>
                  </a:txBody>
                  <a:tcPr marL="64008" marR="64008" marT="18288" marB="18288" anchor="ctr">
                    <a:solidFill>
                      <a:srgbClr val="FFFFFF"/>
                    </a:solidFill>
                  </a:tcPr>
                </a:tc>
                <a:tc>
                  <a:txBody>
                    <a:bodyPr wrap="square"/>
                    <a:lstStyle/>
                    <a:p>
                      <a:pPr algn="r">
                        <a:spcBef>
                          <a:spcPts val="0"/>
                        </a:spcBef>
                        <a:spcAft>
                          <a:spcPts val="0"/>
                        </a:spcAft>
                      </a:pPr>
                      <a:r>
                        <a:rPr sz="1100" b="0" i="0">
                          <a:solidFill>
                            <a:srgbClr val="1B2733"/>
                          </a:solidFill>
                          <a:latin typeface="Consolas"/>
                        </a:rPr>
                        <a:t>0.002</a:t>
                      </a:r>
                    </a:p>
                  </a:txBody>
                  <a:tcPr marL="64008" marR="64008" marT="18288" marB="18288" anchor="ctr">
                    <a:solidFill>
                      <a:srgbClr val="FFFFFF"/>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FFFFF"/>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FFFFF"/>
                    </a:solidFill>
                  </a:tcPr>
                </a:tc>
              </a:tr>
              <a:tr h="329184">
                <a:tc>
                  <a:txBody>
                    <a:bodyPr wrap="square"/>
                    <a:lstStyle/>
                    <a:p>
                      <a:pPr algn="l">
                        <a:spcBef>
                          <a:spcPts val="0"/>
                        </a:spcBef>
                        <a:spcAft>
                          <a:spcPts val="0"/>
                        </a:spcAft>
                      </a:pPr>
                      <a:r>
                        <a:rPr sz="1100" b="1" i="0">
                          <a:solidFill>
                            <a:srgbClr val="1B2733"/>
                          </a:solidFill>
                          <a:latin typeface="Calibri"/>
                        </a:rPr>
                        <a:t>x8</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0.97</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1.000</a:t>
                      </a:r>
                    </a:p>
                  </a:txBody>
                  <a:tcPr marL="64008" marR="64008" marT="18288" marB="18288" anchor="ctr">
                    <a:solidFill>
                      <a:srgbClr val="F3F6F9"/>
                    </a:solidFill>
                  </a:tcPr>
                </a:tc>
                <a:tc>
                  <a:txBody>
                    <a:bodyPr wrap="square"/>
                    <a:lstStyle/>
                    <a:p>
                      <a:pPr algn="r">
                        <a:spcBef>
                          <a:spcPts val="0"/>
                        </a:spcBef>
                        <a:spcAft>
                          <a:spcPts val="0"/>
                        </a:spcAft>
                      </a:pPr>
                      <a:r>
                        <a:rPr sz="1100" b="0" i="0">
                          <a:solidFill>
                            <a:srgbClr val="1B2733"/>
                          </a:solidFill>
                          <a:latin typeface="Consolas"/>
                        </a:rPr>
                        <a:t>0.000</a:t>
                      </a:r>
                    </a:p>
                  </a:txBody>
                  <a:tcPr marL="64008" marR="64008" marT="18288" marB="18288" anchor="ctr">
                    <a:solidFill>
                      <a:srgbClr val="F3F6F9"/>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3F6F9"/>
                    </a:solidFill>
                  </a:tcPr>
                </a:tc>
                <a:tc>
                  <a:txBody>
                    <a:bodyPr wrap="square"/>
                    <a:lstStyle/>
                    <a:p>
                      <a:pPr algn="l">
                        <a:spcBef>
                          <a:spcPts val="0"/>
                        </a:spcBef>
                        <a:spcAft>
                          <a:spcPts val="0"/>
                        </a:spcAft>
                      </a:pPr>
                      <a:r>
                        <a:rPr sz="1100" b="0" i="0">
                          <a:solidFill>
                            <a:srgbClr val="1B2733"/>
                          </a:solidFill>
                          <a:latin typeface="Calibri"/>
                        </a:rPr>
                        <a:t>—</a:t>
                      </a:r>
                    </a:p>
                  </a:txBody>
                  <a:tcPr marL="64008" marR="64008" marT="18288" marB="18288" anchor="ctr">
                    <a:solidFill>
                      <a:srgbClr val="F3F6F9"/>
                    </a:solidFill>
                  </a:tcPr>
                </a:tc>
              </a:tr>
            </a:tbl>
          </a:graphicData>
        </a:graphic>
      </p:graphicFrame>
      <p:sp>
        <p:nvSpPr>
          <p:cNvPr id="19" name="TextBox 18"/>
          <p:cNvSpPr txBox="1"/>
          <p:nvPr/>
        </p:nvSpPr>
        <p:spPr>
          <a:xfrm>
            <a:off x="6355080" y="4617720"/>
            <a:ext cx="5303520" cy="274320"/>
          </a:xfrm>
          <a:prstGeom prst="rect">
            <a:avLst/>
          </a:prstGeom>
          <a:noFill/>
        </p:spPr>
        <p:txBody>
          <a:bodyPr wrap="square" lIns="0" rIns="0" tIns="0" bIns="0" anchor="t">
            <a:spAutoFit/>
          </a:bodyPr>
          <a:lstStyle/>
          <a:p>
            <a:pPr algn="l">
              <a:spcBef>
                <a:spcPts val="0"/>
              </a:spcBef>
              <a:spcAft>
                <a:spcPts val="0"/>
              </a:spcAft>
            </a:pPr>
            <a:r>
              <a:rPr sz="1050" b="0" i="1">
                <a:solidFill>
                  <a:srgbClr val="5A6A7A"/>
                </a:solidFill>
                <a:latin typeface="Calibri"/>
              </a:rPr>
              <a:t>Tham số Platt giả định đã học: a = 4.0, b = −1.6</a:t>
            </a:r>
          </a:p>
        </p:txBody>
      </p:sp>
      <p:sp>
        <p:nvSpPr>
          <p:cNvPr id="20" name="Rounded Rectangle 19"/>
          <p:cNvSpPr/>
          <p:nvPr/>
        </p:nvSpPr>
        <p:spPr>
          <a:xfrm>
            <a:off x="6355080" y="4937760"/>
            <a:ext cx="5303520" cy="141732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9672" y="5069433"/>
            <a:ext cx="4974336" cy="1153972"/>
          </a:xfrm>
          <a:prstGeom prst="rect">
            <a:avLst/>
          </a:prstGeom>
          <a:noFill/>
        </p:spPr>
        <p:txBody>
          <a:bodyPr wrap="square" lIns="0" rIns="0" tIns="0" bIns="0" anchor="t">
            <a:spAutoFit/>
          </a:bodyPr>
          <a:lstStyle/>
          <a:p>
            <a:pPr algn="l">
              <a:spcBef>
                <a:spcPts val="0"/>
              </a:spcBef>
              <a:spcAft>
                <a:spcPts val="300"/>
              </a:spcAft>
            </a:pPr>
            <a:r>
              <a:rPr sz="1300" b="1" i="0">
                <a:solidFill>
                  <a:srgbClr val="A5680B"/>
                </a:solidFill>
                <a:latin typeface="Calibri"/>
              </a:rPr>
              <a:t>Vì sao kết quả bị lật?</a:t>
            </a:r>
          </a:p>
          <a:p>
            <a:pPr algn="l">
              <a:spcBef>
                <a:spcPts val="0"/>
              </a:spcBef>
              <a:spcAft>
                <a:spcPts val="0"/>
              </a:spcAft>
            </a:pPr>
            <a:r>
              <a:rPr sz="1150" b="0" i="0">
                <a:solidFill>
                  <a:srgbClr val="1B2733"/>
                </a:solidFill>
                <a:latin typeface="Calibri"/>
              </a:rPr>
              <a:t>x1 (C = 0.31) có p̂ ≈ 0.008: gần như chắc chắn sai nên hỏi không thu thêm gì. x4, x5 (p̂ ≈ 0.42–0.59) mới là nơi mô hình thực sự phân vân. Eq. 6 chọn {x1, x2, x3}; Proposal chọn {x3, x4, x5}.</a:t>
            </a:r>
          </a:p>
        </p:txBody>
      </p:sp>
      <p:sp>
        <p:nvSpPr>
          <p:cNvPr id="22" name="TextBox 21"/>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5 · ẢNH HƯỞNG TỚI CẬP NHẬT LOSS</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Hàm loss của BiTTA: giữ nguyên 100%, chỉ đổi dữ liệu đưa vào</a:t>
            </a:r>
          </a:p>
        </p:txBody>
      </p:sp>
      <p:sp>
        <p:nvSpPr>
          <p:cNvPr id="4" name="Rounded Rectangle 3"/>
          <p:cNvSpPr/>
          <p:nvPr/>
        </p:nvSpPr>
        <p:spPr>
          <a:xfrm>
            <a:off x="548640" y="1554480"/>
            <a:ext cx="5486400" cy="260604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86153"/>
            <a:ext cx="5157216" cy="2342692"/>
          </a:xfrm>
          <a:prstGeom prst="rect">
            <a:avLst/>
          </a:prstGeom>
          <a:noFill/>
        </p:spPr>
        <p:txBody>
          <a:bodyPr wrap="square" lIns="0" rIns="0" tIns="0" bIns="0" anchor="t">
            <a:spAutoFit/>
          </a:bodyPr>
          <a:lstStyle/>
          <a:p>
            <a:pPr algn="l">
              <a:spcBef>
                <a:spcPts val="0"/>
              </a:spcBef>
              <a:spcAft>
                <a:spcPts val="400"/>
              </a:spcAft>
            </a:pPr>
            <a:r>
              <a:rPr sz="1500" b="1" i="0">
                <a:solidFill>
                  <a:srgbClr val="0E8F82"/>
                </a:solidFill>
                <a:latin typeface="Calibri"/>
              </a:rPr>
              <a:t>BFA — học từ feedback (bitta.py: 206–219)</a:t>
            </a:r>
          </a:p>
          <a:p>
            <a:pPr algn="l">
              <a:spcBef>
                <a:spcPts val="0"/>
              </a:spcBef>
              <a:spcAft>
                <a:spcPts val="400"/>
              </a:spcAft>
            </a:pPr>
            <a:r>
              <a:rPr sz="1350" b="1" i="0">
                <a:solidFill>
                  <a:srgbClr val="1B2733"/>
                </a:solidFill>
                <a:latin typeface="Consolas"/>
              </a:rPr>
              <a:t>L_BFA = CE(M_C) − CE(M_I),   CE(x) = −ln π_θ(y*|x)</a:t>
            </a:r>
          </a:p>
          <a:p>
            <a:pPr algn="l" marL="228600" indent="-228600">
              <a:spcBef>
                <a:spcPts val="0"/>
              </a:spcBef>
              <a:spcAft>
                <a:spcPts val="200"/>
              </a:spcAft>
              <a:buClr>
                <a:srgbClr val="0E8F82"/>
              </a:buClr>
              <a:buFont typeface="Arial"/>
              <a:buChar char="•"/>
            </a:pPr>
            <a:r>
              <a:rPr sz="1300" b="0" i="0">
                <a:solidFill>
                  <a:srgbClr val="1B2733"/>
                </a:solidFill>
                <a:latin typeface="Calibri"/>
              </a:rPr>
              <a:t>Ảnh ĐÚNG: minimize CE → tăng xác suất lớp đã chọn (reward +1).</a:t>
            </a:r>
          </a:p>
          <a:p>
            <a:pPr algn="l" marL="228600" indent="-228600">
              <a:spcBef>
                <a:spcPts val="0"/>
              </a:spcBef>
              <a:spcAft>
                <a:spcPts val="200"/>
              </a:spcAft>
              <a:buClr>
                <a:srgbClr val="0E8F82"/>
              </a:buClr>
              <a:buFont typeface="Arial"/>
              <a:buChar char="•"/>
            </a:pPr>
            <a:r>
              <a:rPr sz="1300" b="0" i="0">
                <a:solidFill>
                  <a:srgbClr val="1B2733"/>
                </a:solidFill>
                <a:latin typeface="Calibri"/>
              </a:rPr>
              <a:t>Ảnh SAI: dấu trừ → maximize CE → giảm xác suất của lớp mô hình lỡ đoán (reward −1). Nhãn dùng ở đây là chính y* đã đoán sai, không phải nhãn thật (không ai biết).</a:t>
            </a:r>
          </a:p>
          <a:p>
            <a:pPr algn="l" marL="228600" indent="-228600">
              <a:spcBef>
                <a:spcPts val="0"/>
              </a:spcBef>
              <a:spcAft>
                <a:spcPts val="0"/>
              </a:spcAft>
              <a:buClr>
                <a:srgbClr val="0E8F82"/>
              </a:buClr>
              <a:buFont typeface="Arial"/>
              <a:buChar char="•"/>
            </a:pPr>
            <a:r>
              <a:rPr sz="1300" b="0" i="0">
                <a:solidFill>
                  <a:srgbClr val="1B2733"/>
                </a:solidFill>
                <a:latin typeface="Calibri"/>
              </a:rPr>
              <a:t>Cả hai tính trên đầu ra MC-Dropout π_θ (N = 4), không dùng softmax thường.</a:t>
            </a:r>
          </a:p>
        </p:txBody>
      </p:sp>
      <p:sp>
        <p:nvSpPr>
          <p:cNvPr id="6" name="Rounded Rectangle 5"/>
          <p:cNvSpPr/>
          <p:nvPr/>
        </p:nvSpPr>
        <p:spPr>
          <a:xfrm>
            <a:off x="6172200" y="1554480"/>
            <a:ext cx="5486400" cy="260604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6792" y="1686153"/>
            <a:ext cx="5157216" cy="2342692"/>
          </a:xfrm>
          <a:prstGeom prst="rect">
            <a:avLst/>
          </a:prstGeom>
          <a:noFill/>
        </p:spPr>
        <p:txBody>
          <a:bodyPr wrap="square" lIns="0" rIns="0" tIns="0" bIns="0" anchor="t">
            <a:spAutoFit/>
          </a:bodyPr>
          <a:lstStyle/>
          <a:p>
            <a:pPr algn="l">
              <a:spcBef>
                <a:spcPts val="0"/>
              </a:spcBef>
              <a:spcAft>
                <a:spcPts val="400"/>
              </a:spcAft>
            </a:pPr>
            <a:r>
              <a:rPr sz="1500" b="1" i="0">
                <a:solidFill>
                  <a:srgbClr val="0E8F82"/>
                </a:solidFill>
                <a:latin typeface="Calibri"/>
              </a:rPr>
              <a:t>ABA — tự học trên ảnh không hỏi (bitta.py: 229–231)</a:t>
            </a:r>
          </a:p>
          <a:p>
            <a:pPr algn="l">
              <a:spcBef>
                <a:spcPts val="0"/>
              </a:spcBef>
              <a:spcAft>
                <a:spcPts val="100"/>
              </a:spcAft>
            </a:pPr>
            <a:r>
              <a:rPr sz="1350" b="1" i="0">
                <a:solidFill>
                  <a:srgbClr val="1B2733"/>
                </a:solidFill>
                <a:latin typeface="Consolas"/>
              </a:rPr>
              <a:t>mask = [ argmax f_θ(x) == argmax π_θ(x) ]</a:t>
            </a:r>
          </a:p>
          <a:p>
            <a:pPr algn="l">
              <a:spcBef>
                <a:spcPts val="0"/>
              </a:spcBef>
              <a:spcAft>
                <a:spcPts val="400"/>
              </a:spcAft>
            </a:pPr>
            <a:r>
              <a:rPr sz="1350" b="1" i="0">
                <a:solidFill>
                  <a:srgbClr val="1B2733"/>
                </a:solidFill>
                <a:latin typeface="Consolas"/>
              </a:rPr>
              <a:t>L_ABA = CE( π_θ[mask],  ŷ_det[mask] )</a:t>
            </a:r>
          </a:p>
          <a:p>
            <a:pPr algn="l" marL="228600" indent="-228600">
              <a:spcBef>
                <a:spcPts val="0"/>
              </a:spcBef>
              <a:spcAft>
                <a:spcPts val="200"/>
              </a:spcAft>
              <a:buClr>
                <a:srgbClr val="0E8F82"/>
              </a:buClr>
              <a:buFont typeface="Arial"/>
              <a:buChar char="•"/>
            </a:pPr>
            <a:r>
              <a:rPr sz="1300" b="0" i="0">
                <a:solidFill>
                  <a:srgbClr val="1B2733"/>
                </a:solidFill>
                <a:latin typeface="Calibri"/>
              </a:rPr>
              <a:t>Chỉ ảnh đồng thuận (mask = True) vào loss; ảnh bất đồng bị loại khỏi tensor, không có gradient nào.</a:t>
            </a:r>
          </a:p>
          <a:p>
            <a:pPr algn="l" marL="228600" indent="-228600">
              <a:spcBef>
                <a:spcPts val="0"/>
              </a:spcBef>
              <a:spcAft>
                <a:spcPts val="0"/>
              </a:spcAft>
              <a:buClr>
                <a:srgbClr val="0E8F82"/>
              </a:buClr>
              <a:buFont typeface="Arial"/>
              <a:buChar char="•"/>
            </a:pPr>
            <a:r>
              <a:rPr sz="1300" b="0" i="0">
                <a:solidFill>
                  <a:srgbClr val="1B2733"/>
                </a:solidFill>
                <a:latin typeface="Calibri"/>
              </a:rPr>
              <a:t>ŷ_det có .detach(): là nhãn giả cố định, không bị tối ưu (tránh mô hình tự đổi nhãn để giảm loss).</a:t>
            </a:r>
          </a:p>
        </p:txBody>
      </p:sp>
      <p:sp>
        <p:nvSpPr>
          <p:cNvPr id="8" name="Rounded Rectangle 7"/>
          <p:cNvSpPr/>
          <p:nvPr/>
        </p:nvSpPr>
        <p:spPr>
          <a:xfrm>
            <a:off x="548640" y="4297680"/>
            <a:ext cx="11109960" cy="777240"/>
          </a:xfrm>
          <a:prstGeom prst="roundRect">
            <a:avLst>
              <a:gd name="adj" fmla="val 5000"/>
            </a:avLst>
          </a:prstGeom>
          <a:solidFill>
            <a:srgbClr val="DC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4429353"/>
            <a:ext cx="10780776" cy="513892"/>
          </a:xfrm>
          <a:prstGeom prst="rect">
            <a:avLst/>
          </a:prstGeom>
          <a:noFill/>
        </p:spPr>
        <p:txBody>
          <a:bodyPr wrap="square" lIns="0" rIns="0" tIns="0" bIns="0" anchor="ctr">
            <a:spAutoFit/>
          </a:bodyPr>
          <a:lstStyle/>
          <a:p>
            <a:pPr algn="l">
              <a:spcBef>
                <a:spcPts val="0"/>
              </a:spcBef>
              <a:spcAft>
                <a:spcPts val="0"/>
              </a:spcAft>
            </a:pPr>
            <a:r>
              <a:rPr sz="1300" b="1" i="0">
                <a:solidFill>
                  <a:srgbClr val="0E8F82"/>
                </a:solidFill>
                <a:latin typeface="Calibri"/>
              </a:rPr>
              <a:t>Gộp và cập nhật: </a:t>
            </a:r>
            <a:r>
              <a:rPr sz="1300" b="0" i="0">
                <a:solidFill>
                  <a:srgbClr val="1B2733"/>
                </a:solidFill>
                <a:latin typeface="Calibri"/>
              </a:rPr>
              <a:t>L = w_bfa·L_BFA + w_aba·L_ABA (mặc định 1.0, 1.0, tương ứng α = β), rồi loss.backward() và optimizer.step(): θ ← θ − η∇L. Một lệnh backward xử lý đồng thời mọi ảnh của cả hai nhánh.</a:t>
            </a:r>
          </a:p>
        </p:txBody>
      </p:sp>
      <p:sp>
        <p:nvSpPr>
          <p:cNvPr id="10" name="Rounded Rectangle 9"/>
          <p:cNvSpPr/>
          <p:nvPr/>
        </p:nvSpPr>
        <p:spPr>
          <a:xfrm>
            <a:off x="548640" y="5212080"/>
            <a:ext cx="5486400" cy="114300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4944" y="535838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2" name="TextBox 11"/>
          <p:cNvSpPr txBox="1"/>
          <p:nvPr/>
        </p:nvSpPr>
        <p:spPr>
          <a:xfrm>
            <a:off x="1133856" y="5321808"/>
            <a:ext cx="4754880" cy="960120"/>
          </a:xfrm>
          <a:prstGeom prst="rect">
            <a:avLst/>
          </a:prstGeom>
          <a:noFill/>
        </p:spPr>
        <p:txBody>
          <a:bodyPr wrap="square" lIns="0" rIns="0" tIns="0" bIns="0" anchor="t">
            <a:spAutoFit/>
          </a:bodyPr>
          <a:lstStyle/>
          <a:p>
            <a:pPr algn="l">
              <a:spcBef>
                <a:spcPts val="0"/>
              </a:spcBef>
              <a:spcAft>
                <a:spcPts val="300"/>
              </a:spcAft>
            </a:pPr>
            <a:r>
              <a:rPr sz="1200" b="1" i="0">
                <a:solidFill>
                  <a:srgbClr val="A5680B"/>
                </a:solidFill>
                <a:latin typeface="Calibri"/>
              </a:rPr>
              <a:t>Câu hỏi: </a:t>
            </a:r>
            <a:r>
              <a:rPr sz="1200" b="1" i="1">
                <a:solidFill>
                  <a:srgbClr val="1B2733"/>
                </a:solidFill>
                <a:latin typeface="Calibri"/>
              </a:rPr>
              <a:t>Loss BFA ra số ÂM (0.73 − 1.17 = −0.44) có sai không?</a:t>
            </a:r>
          </a:p>
          <a:p>
            <a:pPr algn="l">
              <a:spcBef>
                <a:spcPts val="0"/>
              </a:spcBef>
              <a:spcAft>
                <a:spcPts val="0"/>
              </a:spcAft>
            </a:pPr>
            <a:r>
              <a:rPr sz="1200" b="0" i="0">
                <a:solidFill>
                  <a:srgbClr val="1B2733"/>
                </a:solidFill>
                <a:latin typeface="Calibri"/>
              </a:rPr>
              <a:t>Không. L_BFA là HIỆU của hai CE nên có thể âm; điều quan trọng là chiều gradient: số hạng +CE(M_C) kéo p lên, số hạng −CE(M_I) đẩy p xuống.</a:t>
            </a:r>
          </a:p>
        </p:txBody>
      </p:sp>
      <p:sp>
        <p:nvSpPr>
          <p:cNvPr id="13" name="Rounded Rectangle 12"/>
          <p:cNvSpPr/>
          <p:nvPr/>
        </p:nvSpPr>
        <p:spPr>
          <a:xfrm>
            <a:off x="6172200" y="5212080"/>
            <a:ext cx="5486400" cy="114300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18504" y="535838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5" name="TextBox 14"/>
          <p:cNvSpPr txBox="1"/>
          <p:nvPr/>
        </p:nvSpPr>
        <p:spPr>
          <a:xfrm>
            <a:off x="6757416" y="5321808"/>
            <a:ext cx="4754880" cy="960120"/>
          </a:xfrm>
          <a:prstGeom prst="rect">
            <a:avLst/>
          </a:prstGeom>
          <a:noFill/>
        </p:spPr>
        <p:txBody>
          <a:bodyPr wrap="square" lIns="0" rIns="0" tIns="0" bIns="0" anchor="t">
            <a:spAutoFit/>
          </a:bodyPr>
          <a:lstStyle/>
          <a:p>
            <a:pPr algn="l">
              <a:spcBef>
                <a:spcPts val="0"/>
              </a:spcBef>
              <a:spcAft>
                <a:spcPts val="300"/>
              </a:spcAft>
            </a:pPr>
            <a:r>
              <a:rPr sz="1200" b="1" i="0">
                <a:solidFill>
                  <a:srgbClr val="A5680B"/>
                </a:solidFill>
                <a:latin typeface="Calibri"/>
              </a:rPr>
              <a:t>Câu hỏi: </a:t>
            </a:r>
            <a:r>
              <a:rPr sz="1200" b="1" i="1">
                <a:solidFill>
                  <a:srgbClr val="1B2733"/>
                </a:solidFill>
                <a:latin typeface="Calibri"/>
              </a:rPr>
              <a:t>CE(x) = −ln(0.42) = 0.87 có đúng không?</a:t>
            </a:r>
          </a:p>
          <a:p>
            <a:pPr algn="l">
              <a:spcBef>
                <a:spcPts val="0"/>
              </a:spcBef>
              <a:spcAft>
                <a:spcPts val="0"/>
              </a:spcAft>
            </a:pPr>
            <a:r>
              <a:rPr sz="1200" b="0" i="0">
                <a:solidFill>
                  <a:srgbClr val="1B2733"/>
                </a:solidFill>
                <a:latin typeface="Calibri"/>
              </a:rPr>
              <a:t>Đúng nếu dùng logarit TỰ NHIÊN (ln), chuẩn của PyTorch. Dùng log10 sẽ ra 0.38 — đây là nguồn nhầm lẫn thường gặp.</a:t>
            </a:r>
          </a:p>
        </p:txBody>
      </p:sp>
      <p:sp>
        <p:nvSpPr>
          <p:cNvPr id="16" name="TextBox 15"/>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14 / 19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5 · ẢNH HƯỞNG TỚI CẬP NHẬT LOSS</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Chọn mẫu “chưa đoán trước được” giúp gì cho bước cập nhật?</a:t>
            </a:r>
          </a:p>
        </p:txBody>
      </p:sp>
      <p:sp>
        <p:nvSpPr>
          <p:cNvPr id="4" name="Rounded Rectangle 3"/>
          <p:cNvSpPr/>
          <p:nvPr/>
        </p:nvSpPr>
        <p:spPr>
          <a:xfrm>
            <a:off x="548640" y="1554480"/>
            <a:ext cx="5486400" cy="1874519"/>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86153"/>
            <a:ext cx="5157216" cy="1611172"/>
          </a:xfrm>
          <a:prstGeom prst="rect">
            <a:avLst/>
          </a:prstGeom>
          <a:noFill/>
        </p:spPr>
        <p:txBody>
          <a:bodyPr wrap="square" lIns="0" rIns="0" tIns="0" bIns="0" anchor="t">
            <a:spAutoFit/>
          </a:bodyPr>
          <a:lstStyle/>
          <a:p>
            <a:pPr algn="l">
              <a:spcBef>
                <a:spcPts val="0"/>
              </a:spcBef>
              <a:spcAft>
                <a:spcPts val="600"/>
              </a:spcAft>
            </a:pPr>
            <a:r>
              <a:rPr sz="1600" b="1" i="0">
                <a:solidFill>
                  <a:srgbClr val="0E8F82"/>
                </a:solidFill>
                <a:latin typeface="Calibri"/>
              </a:rPr>
              <a:t>Ít dư thừa, nhiều thông tin mới</a:t>
            </a:r>
          </a:p>
          <a:p>
            <a:pPr algn="l">
              <a:spcBef>
                <a:spcPts val="0"/>
              </a:spcBef>
              <a:spcAft>
                <a:spcPts val="0"/>
              </a:spcAft>
            </a:pPr>
            <a:r>
              <a:rPr sz="1450" b="0" i="0">
                <a:solidFill>
                  <a:srgbClr val="1B2733"/>
                </a:solidFill>
                <a:latin typeface="Calibri"/>
              </a:rPr>
              <a:t>Mẫu có p̂ ≈ 0 hoặc 1 đã gần như biết đáp án; gradient từ nó chỉ củng cố điều mô hình đã ngầm biết. Mẫu p̂ ≈ 0.5 mang nhãn phản hồi mà lịch sử chưa dự đoán được → gradient chứa thông tin mới.</a:t>
            </a:r>
          </a:p>
        </p:txBody>
      </p:sp>
      <p:sp>
        <p:nvSpPr>
          <p:cNvPr id="6" name="Rounded Rectangle 5"/>
          <p:cNvSpPr/>
          <p:nvPr/>
        </p:nvSpPr>
        <p:spPr>
          <a:xfrm>
            <a:off x="6172200" y="1554480"/>
            <a:ext cx="5486400" cy="1874519"/>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6792" y="1686153"/>
            <a:ext cx="5157216" cy="1611172"/>
          </a:xfrm>
          <a:prstGeom prst="rect">
            <a:avLst/>
          </a:prstGeom>
          <a:noFill/>
        </p:spPr>
        <p:txBody>
          <a:bodyPr wrap="square" lIns="0" rIns="0" tIns="0" bIns="0" anchor="t">
            <a:spAutoFit/>
          </a:bodyPr>
          <a:lstStyle/>
          <a:p>
            <a:pPr algn="l">
              <a:spcBef>
                <a:spcPts val="0"/>
              </a:spcBef>
              <a:spcAft>
                <a:spcPts val="600"/>
              </a:spcAft>
            </a:pPr>
            <a:r>
              <a:rPr sz="1600" b="1" i="0">
                <a:solidFill>
                  <a:srgbClr val="0E8F82"/>
                </a:solidFill>
                <a:latin typeface="Calibri"/>
              </a:rPr>
              <a:t>Học sát ranh giới quyết định</a:t>
            </a:r>
          </a:p>
          <a:p>
            <a:pPr algn="l">
              <a:spcBef>
                <a:spcPts val="0"/>
              </a:spcBef>
              <a:spcAft>
                <a:spcPts val="0"/>
              </a:spcAft>
            </a:pPr>
            <a:r>
              <a:rPr sz="1450" b="0" i="0">
                <a:solidFill>
                  <a:srgbClr val="1B2733"/>
                </a:solidFill>
                <a:latin typeface="Calibri"/>
              </a:rPr>
              <a:t>Kinh điển của active learning: nhãn ở điểm sát ranh giới có đòn bẩy lớn nhất để dịch chuyển ranh giới; điểm nằm sâu một phía thì bước cập nhật chủ yếu chỉ gia cố vùng vốn đã ổn.</a:t>
            </a:r>
          </a:p>
        </p:txBody>
      </p:sp>
      <p:sp>
        <p:nvSpPr>
          <p:cNvPr id="8" name="Rounded Rectangle 7"/>
          <p:cNvSpPr/>
          <p:nvPr/>
        </p:nvSpPr>
        <p:spPr>
          <a:xfrm>
            <a:off x="548640" y="3566160"/>
            <a:ext cx="5486400" cy="1874519"/>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3697833"/>
            <a:ext cx="5157216" cy="1611172"/>
          </a:xfrm>
          <a:prstGeom prst="rect">
            <a:avLst/>
          </a:prstGeom>
          <a:noFill/>
        </p:spPr>
        <p:txBody>
          <a:bodyPr wrap="square" lIns="0" rIns="0" tIns="0" bIns="0" anchor="t">
            <a:spAutoFit/>
          </a:bodyPr>
          <a:lstStyle/>
          <a:p>
            <a:pPr algn="l">
              <a:spcBef>
                <a:spcPts val="0"/>
              </a:spcBef>
              <a:spcAft>
                <a:spcPts val="600"/>
              </a:spcAft>
            </a:pPr>
            <a:r>
              <a:rPr sz="1600" b="1" i="0">
                <a:solidFill>
                  <a:srgbClr val="0E8F82"/>
                </a:solidFill>
                <a:latin typeface="Calibri"/>
              </a:rPr>
              <a:t>Bổ trợ đúng chỗ ABA không với tới</a:t>
            </a:r>
          </a:p>
          <a:p>
            <a:pPr algn="l">
              <a:spcBef>
                <a:spcPts val="0"/>
              </a:spcBef>
              <a:spcAft>
                <a:spcPts val="0"/>
              </a:spcAft>
            </a:pPr>
            <a:r>
              <a:rPr sz="1450" b="0" i="0">
                <a:solidFill>
                  <a:srgbClr val="1B2733"/>
                </a:solidFill>
                <a:latin typeface="Calibri"/>
              </a:rPr>
              <a:t>ABA chỉ học ảnh hai dự đoán đồng thuận. Ảnh sát ranh giới thường ít đồng thuận nhất, nên nằm ngoài ABA; BFA dồn 3 câu hỏi vào đúng vùng đó (lập luận logic, chưa đo trực tiếp).</a:t>
            </a:r>
          </a:p>
        </p:txBody>
      </p:sp>
      <p:sp>
        <p:nvSpPr>
          <p:cNvPr id="10" name="Rounded Rectangle 9"/>
          <p:cNvSpPr/>
          <p:nvPr/>
        </p:nvSpPr>
        <p:spPr>
          <a:xfrm>
            <a:off x="6172200" y="3566160"/>
            <a:ext cx="5486400" cy="1874519"/>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3697833"/>
            <a:ext cx="5157216" cy="1611172"/>
          </a:xfrm>
          <a:prstGeom prst="rect">
            <a:avLst/>
          </a:prstGeom>
          <a:noFill/>
        </p:spPr>
        <p:txBody>
          <a:bodyPr wrap="square" lIns="0" rIns="0" tIns="0" bIns="0" anchor="t">
            <a:spAutoFit/>
          </a:bodyPr>
          <a:lstStyle/>
          <a:p>
            <a:pPr algn="l">
              <a:spcBef>
                <a:spcPts val="0"/>
              </a:spcBef>
              <a:spcAft>
                <a:spcPts val="600"/>
              </a:spcAft>
            </a:pPr>
            <a:r>
              <a:rPr sz="1600" b="1" i="0">
                <a:solidFill>
                  <a:srgbClr val="0E8F82"/>
                </a:solidFill>
                <a:latin typeface="Calibri"/>
              </a:rPr>
              <a:t>Cùng ngân sách, hiệu quả cao hơn</a:t>
            </a:r>
          </a:p>
          <a:p>
            <a:pPr algn="l">
              <a:spcBef>
                <a:spcPts val="0"/>
              </a:spcBef>
              <a:spcAft>
                <a:spcPts val="0"/>
              </a:spcAft>
            </a:pPr>
            <a:r>
              <a:rPr sz="1450" b="0" i="0">
                <a:solidFill>
                  <a:srgbClr val="1B2733"/>
                </a:solidFill>
                <a:latin typeface="Calibri"/>
              </a:rPr>
              <a:t>Vẫn 3 câu hỏi, vẫn E epoch, vẫn N = 4 ở loss: khác biệt duy nhất là kỳ vọng thông tin của mỗi câu hỏi cao hơn (h_b lớn nhất theo lý thuyết thông tin).</a:t>
            </a:r>
          </a:p>
        </p:txBody>
      </p:sp>
      <p:sp>
        <p:nvSpPr>
          <p:cNvPr id="12" name="Rounded Rectangle 11"/>
          <p:cNvSpPr/>
          <p:nvPr/>
        </p:nvSpPr>
        <p:spPr>
          <a:xfrm>
            <a:off x="548640" y="5577840"/>
            <a:ext cx="11109960" cy="777240"/>
          </a:xfrm>
          <a:prstGeom prst="roundRect">
            <a:avLst>
              <a:gd name="adj" fmla="val 5000"/>
            </a:avLst>
          </a:prstGeom>
          <a:solidFill>
            <a:srgbClr val="FBE6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709513"/>
            <a:ext cx="10780776" cy="513892"/>
          </a:xfrm>
          <a:prstGeom prst="rect">
            <a:avLst/>
          </a:prstGeom>
          <a:noFill/>
        </p:spPr>
        <p:txBody>
          <a:bodyPr wrap="square" lIns="0" rIns="0" tIns="0" bIns="0" anchor="ctr">
            <a:spAutoFit/>
          </a:bodyPr>
          <a:lstStyle/>
          <a:p>
            <a:pPr algn="l">
              <a:spcBef>
                <a:spcPts val="0"/>
              </a:spcBef>
              <a:spcAft>
                <a:spcPts val="0"/>
              </a:spcAft>
            </a:pPr>
            <a:r>
              <a:rPr sz="1300" b="1" i="0">
                <a:solidFill>
                  <a:srgbClr val="B5473F"/>
                </a:solidFill>
                <a:latin typeface="Calibri"/>
              </a:rPr>
              <a:t>Rủi ro cần nói thẳng: </a:t>
            </a:r>
            <a:r>
              <a:rPr sz="1300" b="0" i="0">
                <a:solidFill>
                  <a:srgbClr val="1B2733"/>
                </a:solidFill>
                <a:latin typeface="Calibri"/>
              </a:rPr>
              <a:t>mẫu sát ranh giới cũng là mẫu KHÓ, có thể mang tín hiệu nhiễu hơn khi lan truyền gradient. Lý thuyết đảm bảo thông tin KỲ VỌNG cao hơn, không đảm bảo từng bước cập nhật đều tốt hơn; điều này chưa được xác nhận bằng thực nghiệm.</a:t>
            </a:r>
          </a:p>
        </p:txBody>
      </p:sp>
      <p:sp>
        <p:nvSpPr>
          <p:cNvPr id="14" name="TextBox 13"/>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15 / 19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6 · PHẢN BIỆN VÀ GIỚI HẠN</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Con số “31%” ở các corruption và nhãn khác nhau có cùng ý nghĩa không?</a:t>
            </a:r>
          </a:p>
        </p:txBody>
      </p:sp>
      <p:sp>
        <p:nvSpPr>
          <p:cNvPr id="4" name="Rounded Rectangle 3"/>
          <p:cNvSpPr/>
          <p:nvPr/>
        </p:nvSpPr>
        <p:spPr>
          <a:xfrm>
            <a:off x="548640" y="1554480"/>
            <a:ext cx="5486400" cy="269748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86153"/>
            <a:ext cx="5157216" cy="2434132"/>
          </a:xfrm>
          <a:prstGeom prst="rect">
            <a:avLst/>
          </a:prstGeom>
          <a:noFill/>
        </p:spPr>
        <p:txBody>
          <a:bodyPr wrap="square" lIns="0" rIns="0" tIns="0" bIns="0" anchor="t">
            <a:spAutoFit/>
          </a:bodyPr>
          <a:lstStyle/>
          <a:p>
            <a:pPr algn="l">
              <a:spcBef>
                <a:spcPts val="0"/>
              </a:spcBef>
              <a:spcAft>
                <a:spcPts val="400"/>
              </a:spcAft>
            </a:pPr>
            <a:r>
              <a:rPr sz="1500" b="1" i="0">
                <a:solidFill>
                  <a:srgbClr val="B5473F"/>
                </a:solidFill>
                <a:latin typeface="Calibri"/>
              </a:rPr>
              <a:t>Thực tế trong code</a:t>
            </a:r>
          </a:p>
          <a:p>
            <a:pPr algn="l" marL="228600" indent="-228600">
              <a:spcBef>
                <a:spcPts val="0"/>
              </a:spcBef>
              <a:spcAft>
                <a:spcPts val="300"/>
              </a:spcAft>
              <a:buClr>
                <a:srgbClr val="B5473F"/>
              </a:buClr>
              <a:buFont typeface="Arial"/>
              <a:buChar char="•"/>
            </a:pPr>
            <a:r>
              <a:rPr sz="1300" b="0" i="0">
                <a:solidFill>
                  <a:srgbClr val="1B2733"/>
                </a:solidFill>
                <a:latin typeface="Calibri"/>
              </a:rPr>
              <a:t>Chỉ có MỘT bộ đệm toàn cục: deque(maxlen = 300) (dnn.py: 183–184), một cặp (a, b) chung cho mọi corruption và mọi lớp.</a:t>
            </a:r>
          </a:p>
          <a:p>
            <a:pPr algn="l" marL="228600" indent="-228600">
              <a:spcBef>
                <a:spcPts val="0"/>
              </a:spcBef>
              <a:spcAft>
                <a:spcPts val="300"/>
              </a:spcAft>
              <a:buClr>
                <a:srgbClr val="B5473F"/>
              </a:buClr>
              <a:buFont typeface="Arial"/>
              <a:buChar char="•"/>
            </a:pPr>
            <a:r>
              <a:rPr sz="1300" b="0" i="0">
                <a:solidFill>
                  <a:srgbClr val="1B2733"/>
                </a:solidFill>
                <a:latin typeface="Calibri"/>
              </a:rPr>
              <a:t>Ở setting Continuous, bộ đệm chảy xuyên 15 corruption, không xoá ở ranh giới (reset_every_corruption mặc định tắt; _init_platt chỉ chạy khi reset).</a:t>
            </a:r>
          </a:p>
          <a:p>
            <a:pPr algn="l" marL="228600" indent="-228600">
              <a:spcBef>
                <a:spcPts val="0"/>
              </a:spcBef>
              <a:spcAft>
                <a:spcPts val="0"/>
              </a:spcAft>
              <a:buClr>
                <a:srgbClr val="B5473F"/>
              </a:buClr>
              <a:buFont typeface="Arial"/>
              <a:buChar char="•"/>
            </a:pPr>
            <a:r>
              <a:rPr sz="1300" b="0" i="0">
                <a:solidFill>
                  <a:srgbClr val="1B2733"/>
                </a:solidFill>
                <a:latin typeface="Calibri"/>
              </a:rPr>
              <a:t>Không có gì đảm bảo C = 31% mang cùng xác suất đúng dưới gaussian_noise và fog, hay cho “mèo/chó” và “máy bay/ếch”; mô hình cũng đổi liên tục vì đang thích ứng (non-stationary).</a:t>
            </a:r>
          </a:p>
        </p:txBody>
      </p:sp>
      <p:sp>
        <p:nvSpPr>
          <p:cNvPr id="6" name="Rounded Rectangle 5"/>
          <p:cNvSpPr/>
          <p:nvPr/>
        </p:nvSpPr>
        <p:spPr>
          <a:xfrm>
            <a:off x="6172200" y="1554480"/>
            <a:ext cx="5486400" cy="2697480"/>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36792" y="1686153"/>
            <a:ext cx="5157216" cy="2434132"/>
          </a:xfrm>
          <a:prstGeom prst="rect">
            <a:avLst/>
          </a:prstGeom>
          <a:noFill/>
        </p:spPr>
        <p:txBody>
          <a:bodyPr wrap="square" lIns="0" rIns="0" tIns="0" bIns="0" anchor="t">
            <a:spAutoFit/>
          </a:bodyPr>
          <a:lstStyle/>
          <a:p>
            <a:pPr algn="l">
              <a:spcBef>
                <a:spcPts val="0"/>
              </a:spcBef>
              <a:spcAft>
                <a:spcPts val="400"/>
              </a:spcAft>
            </a:pPr>
            <a:r>
              <a:rPr sz="1500" b="1" i="0">
                <a:solidFill>
                  <a:srgbClr val="0E8F82"/>
                </a:solidFill>
                <a:latin typeface="Calibri"/>
              </a:rPr>
              <a:t>Vì sao vẫn thiết kế một buffer chung?</a:t>
            </a:r>
          </a:p>
          <a:p>
            <a:pPr algn="l" marL="228600" indent="-228600">
              <a:spcBef>
                <a:spcPts val="0"/>
              </a:spcBef>
              <a:spcAft>
                <a:spcPts val="300"/>
              </a:spcAft>
              <a:buClr>
                <a:srgbClr val="0E8F82"/>
              </a:buClr>
              <a:buFont typeface="Arial"/>
              <a:buChar char="•"/>
            </a:pPr>
            <a:r>
              <a:rPr sz="1300" b="0" i="0">
                <a:solidFill>
                  <a:srgbClr val="1B2733"/>
                </a:solidFill>
                <a:latin typeface="Calibri"/>
              </a:rPr>
              <a:t>Chỉ 3 cặp/batch. Tách 15 corruption × 10 lớp = 150 ô thì mỗi ô nhận ~2 cặp: không đủ fit hồi quy logistic 2 tham số.</a:t>
            </a:r>
          </a:p>
          <a:p>
            <a:pPr algn="l" marL="228600" indent="-228600">
              <a:spcBef>
                <a:spcPts val="0"/>
              </a:spcBef>
              <a:spcAft>
                <a:spcPts val="300"/>
              </a:spcAft>
              <a:buClr>
                <a:srgbClr val="0E8F82"/>
              </a:buClr>
              <a:buFont typeface="Arial"/>
              <a:buChar char="•"/>
            </a:pPr>
            <a:r>
              <a:rPr sz="1300" b="0" i="0">
                <a:solidFill>
                  <a:srgbClr val="1B2733"/>
                </a:solidFill>
                <a:latin typeface="Calibri"/>
              </a:rPr>
              <a:t>Giảm nhẹ hậu quả: buffer chỉ giữ 300 cặp gần nhất và refit mỗi batch (quên dần dữ liệu cũ); cold-start về Eq. 6; từ chối fit hỏng (a ≤ 10⁻³, NaN).</a:t>
            </a:r>
          </a:p>
          <a:p>
            <a:pPr algn="l" marL="228600" indent="-228600">
              <a:spcBef>
                <a:spcPts val="0"/>
              </a:spcBef>
              <a:spcAft>
                <a:spcPts val="0"/>
              </a:spcAft>
              <a:buClr>
                <a:srgbClr val="0E8F82"/>
              </a:buClr>
              <a:buFont typeface="Arial"/>
              <a:buChar char="•"/>
            </a:pPr>
            <a:r>
              <a:rPr sz="1300" b="1" i="0">
                <a:solidFill>
                  <a:srgbClr val="1B2733"/>
                </a:solidFill>
                <a:latin typeface="Calibri"/>
              </a:rPr>
              <a:t>Đây là đánh đổi có chủ đích nhưng CHƯA được chứng minh là đúng.</a:t>
            </a:r>
          </a:p>
        </p:txBody>
      </p:sp>
      <p:sp>
        <p:nvSpPr>
          <p:cNvPr id="8" name="Rounded Rectangle 7"/>
          <p:cNvSpPr/>
          <p:nvPr/>
        </p:nvSpPr>
        <p:spPr>
          <a:xfrm>
            <a:off x="548640" y="4389120"/>
            <a:ext cx="5486400" cy="196596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4520793"/>
            <a:ext cx="5157216" cy="1702612"/>
          </a:xfrm>
          <a:prstGeom prst="rect">
            <a:avLst/>
          </a:prstGeom>
          <a:noFill/>
        </p:spPr>
        <p:txBody>
          <a:bodyPr wrap="square" lIns="0" rIns="0" tIns="0" bIns="0" anchor="t">
            <a:spAutoFit/>
          </a:bodyPr>
          <a:lstStyle/>
          <a:p>
            <a:pPr algn="l">
              <a:spcBef>
                <a:spcPts val="0"/>
              </a:spcBef>
              <a:spcAft>
                <a:spcPts val="400"/>
              </a:spcAft>
            </a:pPr>
            <a:r>
              <a:rPr sz="1500" b="1" i="0">
                <a:solidFill>
                  <a:srgbClr val="A5680B"/>
                </a:solidFill>
                <a:latin typeface="Calibri"/>
              </a:rPr>
              <a:t>Kết luận về độ chặt chẽ của lý thuyết</a:t>
            </a:r>
          </a:p>
          <a:p>
            <a:pPr algn="l" marL="228600" indent="-228600">
              <a:spcBef>
                <a:spcPts val="0"/>
              </a:spcBef>
              <a:spcAft>
                <a:spcPts val="300"/>
              </a:spcAft>
              <a:buClr>
                <a:srgbClr val="A5680B"/>
              </a:buClr>
              <a:buFont typeface="Arial"/>
              <a:buChar char="•"/>
            </a:pPr>
            <a:r>
              <a:rPr sz="1300" b="1" i="0">
                <a:solidFill>
                  <a:srgbClr val="1B2733"/>
                </a:solidFill>
                <a:latin typeface="Calibri"/>
              </a:rPr>
              <a:t>Phần entropy: </a:t>
            </a:r>
            <a:r>
              <a:rPr sz="1300" b="0" i="0">
                <a:solidFill>
                  <a:srgbClr val="1B2733"/>
                </a:solidFill>
                <a:latin typeface="Calibri"/>
              </a:rPr>
              <a:t>chặt chẽ tuyệt đối, miễn là p̂ đúng.</a:t>
            </a:r>
          </a:p>
          <a:p>
            <a:pPr algn="l" marL="228600" indent="-228600">
              <a:spcBef>
                <a:spcPts val="0"/>
              </a:spcBef>
              <a:spcAft>
                <a:spcPts val="0"/>
              </a:spcAft>
              <a:buClr>
                <a:srgbClr val="A5680B"/>
              </a:buClr>
              <a:buFont typeface="Arial"/>
              <a:buChar char="•"/>
            </a:pPr>
            <a:r>
              <a:rPr sz="1300" b="1" i="0">
                <a:solidFill>
                  <a:srgbClr val="1B2733"/>
                </a:solidFill>
                <a:latin typeface="Calibri"/>
              </a:rPr>
              <a:t>Phần hiệu chuẩn toàn cục: </a:t>
            </a:r>
            <a:r>
              <a:rPr sz="1300" b="0" i="0">
                <a:solidFill>
                  <a:srgbClr val="1B2733"/>
                </a:solidFill>
                <a:latin typeface="Calibri"/>
              </a:rPr>
              <a:t>xấp xỉ thực dụng bắt buộc vì thiếu dữ liệu; chưa có chứng minh hay thực nghiệm cho mọi corruption/nhãn.</a:t>
            </a:r>
          </a:p>
        </p:txBody>
      </p:sp>
      <p:sp>
        <p:nvSpPr>
          <p:cNvPr id="10" name="Rounded Rectangle 9"/>
          <p:cNvSpPr/>
          <p:nvPr/>
        </p:nvSpPr>
        <p:spPr>
          <a:xfrm>
            <a:off x="6172200" y="4389120"/>
            <a:ext cx="5486400" cy="1965960"/>
          </a:xfrm>
          <a:prstGeom prst="roundRect">
            <a:avLst>
              <a:gd name="adj" fmla="val 5000"/>
            </a:avLst>
          </a:prstGeom>
          <a:solidFill>
            <a:srgbClr val="E1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36792" y="4520793"/>
            <a:ext cx="5157216" cy="1702612"/>
          </a:xfrm>
          <a:prstGeom prst="rect">
            <a:avLst/>
          </a:prstGeom>
          <a:noFill/>
        </p:spPr>
        <p:txBody>
          <a:bodyPr wrap="square" lIns="0" rIns="0" tIns="0" bIns="0" anchor="t">
            <a:spAutoFit/>
          </a:bodyPr>
          <a:lstStyle/>
          <a:p>
            <a:pPr algn="l">
              <a:spcBef>
                <a:spcPts val="0"/>
              </a:spcBef>
              <a:spcAft>
                <a:spcPts val="400"/>
              </a:spcAft>
            </a:pPr>
            <a:r>
              <a:rPr sz="1500" b="1" i="0">
                <a:solidFill>
                  <a:srgbClr val="17875A"/>
                </a:solidFill>
                <a:latin typeface="Calibri"/>
              </a:rPr>
              <a:t>Kiểm chứng rẻ, làm được ngay</a:t>
            </a:r>
          </a:p>
          <a:p>
            <a:pPr algn="l" marL="228600" indent="-228600">
              <a:spcBef>
                <a:spcPts val="0"/>
              </a:spcBef>
              <a:spcAft>
                <a:spcPts val="300"/>
              </a:spcAft>
              <a:buClr>
                <a:srgbClr val="17875A"/>
              </a:buClr>
              <a:buFont typeface="Arial"/>
              <a:buChar char="•"/>
            </a:pPr>
            <a:r>
              <a:rPr sz="1300" b="0" i="0">
                <a:solidFill>
                  <a:srgbClr val="1B2733"/>
                </a:solidFill>
                <a:latin typeface="Calibri"/>
              </a:rPr>
              <a:t>Code đã log platt_a, platt_b, platt_n_pairs theo từng batch (json_active, dnn.py: 278).</a:t>
            </a:r>
          </a:p>
          <a:p>
            <a:pPr algn="l" marL="228600" indent="-228600">
              <a:spcBef>
                <a:spcPts val="0"/>
              </a:spcBef>
              <a:spcAft>
                <a:spcPts val="0"/>
              </a:spcAft>
              <a:buClr>
                <a:srgbClr val="17875A"/>
              </a:buClr>
              <a:buFont typeface="Arial"/>
              <a:buChar char="•"/>
            </a:pPr>
            <a:r>
              <a:rPr sz="1300" b="0" i="0">
                <a:solidFill>
                  <a:srgbClr val="1B2733"/>
                </a:solidFill>
                <a:latin typeface="Calibri"/>
              </a:rPr>
              <a:t>Vẽ hai tham số theo thời gian và đánh dấu ranh giới corruption: nếu dao động mạnh mỗi lần đổi corruption thì giả định “một đường cong chung” đang bị vi phạm; nếu ổn định thì là tín hiệu (chưa phải chứng minh) rằng xấp xỉ đủ dùng.</a:t>
            </a:r>
          </a:p>
        </p:txBody>
      </p:sp>
      <p:sp>
        <p:nvSpPr>
          <p:cNvPr id="12" name="TextBox 11"/>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16 / 19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6 · PHẢN BIỆN VÀ GIỚI HẠN</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Ba câu hỏi thường gặp khi bảo vệ Proposal</a:t>
            </a:r>
          </a:p>
        </p:txBody>
      </p:sp>
      <p:sp>
        <p:nvSpPr>
          <p:cNvPr id="4" name="Rounded Rectangle 3"/>
          <p:cNvSpPr/>
          <p:nvPr/>
        </p:nvSpPr>
        <p:spPr>
          <a:xfrm>
            <a:off x="548640" y="1554480"/>
            <a:ext cx="11109960" cy="155448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94944" y="170078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6" name="TextBox 5"/>
          <p:cNvSpPr txBox="1"/>
          <p:nvPr/>
        </p:nvSpPr>
        <p:spPr>
          <a:xfrm>
            <a:off x="1133856" y="1664207"/>
            <a:ext cx="10378440" cy="1371600"/>
          </a:xfrm>
          <a:prstGeom prst="rect">
            <a:avLst/>
          </a:prstGeom>
          <a:noFill/>
        </p:spPr>
        <p:txBody>
          <a:bodyPr wrap="square" lIns="0" rIns="0" tIns="0" bIns="0" anchor="t">
            <a:spAutoFit/>
          </a:bodyPr>
          <a:lstStyle/>
          <a:p>
            <a:pPr algn="l">
              <a:spcBef>
                <a:spcPts val="0"/>
              </a:spcBef>
              <a:spcAft>
                <a:spcPts val="300"/>
              </a:spcAft>
            </a:pPr>
            <a:r>
              <a:rPr sz="1400" b="1" i="0">
                <a:solidFill>
                  <a:srgbClr val="A5680B"/>
                </a:solidFill>
                <a:latin typeface="Calibri"/>
              </a:rPr>
              <a:t>Câu hỏi: </a:t>
            </a:r>
            <a:r>
              <a:rPr sz="1400" b="1" i="1">
                <a:solidFill>
                  <a:srgbClr val="1B2733"/>
                </a:solidFill>
                <a:latin typeface="Calibri"/>
              </a:rPr>
              <a:t>Vì sao C4 chọn N = 16 lượt dropout mà không phải số khác?</a:t>
            </a:r>
          </a:p>
          <a:p>
            <a:pPr algn="l">
              <a:spcBef>
                <a:spcPts val="0"/>
              </a:spcBef>
              <a:spcAft>
                <a:spcPts val="0"/>
              </a:spcAft>
            </a:pPr>
            <a:r>
              <a:rPr sz="1400" b="0" i="0">
                <a:solidFill>
                  <a:srgbClr val="1B2733"/>
                </a:solidFill>
                <a:latin typeface="Calibri"/>
              </a:rPr>
              <a:t>Trong project KHÔNG có ablation hay giải thích cho con số 16 (config chỉ ghi nó dùng để làm gì). Lập luận hợp lý: phương sai của giá trị trung bình tỉ lệ 1/N, nên tăng N từ 4 lên 16 giảm độ lệch chuẩn một nửa; chi phí chỉ phát sinh ở đúng 1 bước (chọn mẫu, 1 lần/batch) thay vì mỗi epoch. Nên coi 16 là lựa chọn kinh nghiệm và bổ sung sweep N ∈ {4, 8, 16, 32} như một ablation.</a:t>
            </a:r>
          </a:p>
        </p:txBody>
      </p:sp>
      <p:sp>
        <p:nvSpPr>
          <p:cNvPr id="7" name="Rounded Rectangle 6"/>
          <p:cNvSpPr/>
          <p:nvPr/>
        </p:nvSpPr>
        <p:spPr>
          <a:xfrm>
            <a:off x="548640" y="3246120"/>
            <a:ext cx="11109960" cy="155448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94944" y="339242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9" name="TextBox 8"/>
          <p:cNvSpPr txBox="1"/>
          <p:nvPr/>
        </p:nvSpPr>
        <p:spPr>
          <a:xfrm>
            <a:off x="1133856" y="3355848"/>
            <a:ext cx="10378440" cy="1371600"/>
          </a:xfrm>
          <a:prstGeom prst="rect">
            <a:avLst/>
          </a:prstGeom>
          <a:noFill/>
        </p:spPr>
        <p:txBody>
          <a:bodyPr wrap="square" lIns="0" rIns="0" tIns="0" bIns="0" anchor="t">
            <a:spAutoFit/>
          </a:bodyPr>
          <a:lstStyle/>
          <a:p>
            <a:pPr algn="l">
              <a:spcBef>
                <a:spcPts val="0"/>
              </a:spcBef>
              <a:spcAft>
                <a:spcPts val="300"/>
              </a:spcAft>
            </a:pPr>
            <a:r>
              <a:rPr sz="1400" b="1" i="0">
                <a:solidFill>
                  <a:srgbClr val="A5680B"/>
                </a:solidFill>
                <a:latin typeface="Calibri"/>
              </a:rPr>
              <a:t>Câu hỏi: </a:t>
            </a:r>
            <a:r>
              <a:rPr sz="1400" b="1" i="1">
                <a:solidFill>
                  <a:srgbClr val="1B2733"/>
                </a:solidFill>
                <a:latin typeface="Calibri"/>
              </a:rPr>
              <a:t>Dùng nhãn thật của dataset để mô phỏng phản hồi đúng/sai có hợp lệ không?</a:t>
            </a:r>
          </a:p>
          <a:p>
            <a:pPr algn="l">
              <a:spcBef>
                <a:spcPts val="0"/>
              </a:spcBef>
              <a:spcAft>
                <a:spcPts val="0"/>
              </a:spcAft>
            </a:pPr>
            <a:r>
              <a:rPr sz="1400" b="0" i="0">
                <a:solidFill>
                  <a:srgbClr val="1B2733"/>
                </a:solidFill>
                <a:latin typeface="Calibri"/>
              </a:rPr>
              <a:t>Hợp lệ: code chỉ suy ra ĐÚNG 1 BIT (dự đoán trùng nhãn thật hay không), đúng lượng thông tin một người thật sẽ cho, không đưa nhãn thật vào loss. Đây là quy ước chuẩn của active learning/active TTA vì không thể thuê người gán nhãn cho mọi lần chạy. Tham số --feedback_error_rate (dnn.py ~1338) còn cho phép cố ý làm nhiễu câu trả lời oracle để kiểm tra độ bền với annotator không hoàn hảo.</a:t>
            </a:r>
          </a:p>
        </p:txBody>
      </p:sp>
      <p:sp>
        <p:nvSpPr>
          <p:cNvPr id="10" name="Rounded Rectangle 9"/>
          <p:cNvSpPr/>
          <p:nvPr/>
        </p:nvSpPr>
        <p:spPr>
          <a:xfrm>
            <a:off x="548640" y="4937760"/>
            <a:ext cx="11109960" cy="141732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94944" y="5084064"/>
            <a:ext cx="310896" cy="310896"/>
          </a:xfrm>
          <a:prstGeom prst="ellipse">
            <a:avLst/>
          </a:prstGeom>
          <a:solidFill>
            <a:srgbClr val="A568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500" b="1" i="0">
                <a:solidFill>
                  <a:srgbClr val="FFFFFF"/>
                </a:solidFill>
                <a:latin typeface="Calibri"/>
              </a:rPr>
              <a:t>?</a:t>
            </a:r>
          </a:p>
        </p:txBody>
      </p:sp>
      <p:sp>
        <p:nvSpPr>
          <p:cNvPr id="12" name="TextBox 11"/>
          <p:cNvSpPr txBox="1"/>
          <p:nvPr/>
        </p:nvSpPr>
        <p:spPr>
          <a:xfrm>
            <a:off x="1133856" y="5047488"/>
            <a:ext cx="10378440" cy="1234440"/>
          </a:xfrm>
          <a:prstGeom prst="rect">
            <a:avLst/>
          </a:prstGeom>
          <a:noFill/>
        </p:spPr>
        <p:txBody>
          <a:bodyPr wrap="square" lIns="0" rIns="0" tIns="0" bIns="0" anchor="t">
            <a:spAutoFit/>
          </a:bodyPr>
          <a:lstStyle/>
          <a:p>
            <a:pPr algn="l">
              <a:spcBef>
                <a:spcPts val="0"/>
              </a:spcBef>
              <a:spcAft>
                <a:spcPts val="300"/>
              </a:spcAft>
            </a:pPr>
            <a:r>
              <a:rPr sz="1400" b="1" i="0">
                <a:solidFill>
                  <a:srgbClr val="A5680B"/>
                </a:solidFill>
                <a:latin typeface="Calibri"/>
              </a:rPr>
              <a:t>Câu hỏi: </a:t>
            </a:r>
            <a:r>
              <a:rPr sz="1400" b="1" i="1">
                <a:solidFill>
                  <a:srgbClr val="1B2733"/>
                </a:solidFill>
                <a:latin typeface="Calibri"/>
              </a:rPr>
              <a:t>Có thể thay oracle bằng DeYO để bỏ hẳn chi phí gán nhãn không?</a:t>
            </a:r>
          </a:p>
          <a:p>
            <a:pPr algn="l">
              <a:spcBef>
                <a:spcPts val="0"/>
              </a:spcBef>
              <a:spcAft>
                <a:spcPts val="0"/>
              </a:spcAft>
            </a:pPr>
            <a:r>
              <a:rPr sz="1400" b="0" i="0">
                <a:solidFill>
                  <a:srgbClr val="1B2733"/>
                </a:solidFill>
                <a:latin typeface="Calibri"/>
              </a:rPr>
              <a:t>Không nên. DeYO (entropy + PLPD) chỉ trả lời “mẫu này có đáng tin để giảm entropy không”, không bao giờ nói được “dự đoán này SAI”, nên không sinh được M_I (nhánh −1). Đồng thời nó vẫn là tín hiệu tự giám sát mà chính paper BiTTA cho là kém tin cậy khi shift nặng. Hướng khả thi hơn: dùng PLPD để cải thiện việc chọn mẫu hoặc điều kiện của ABA, vẫn giữ oracle thật.</a:t>
            </a:r>
          </a:p>
        </p:txBody>
      </p:sp>
      <p:sp>
        <p:nvSpPr>
          <p:cNvPr id="13" name="TextBox 12"/>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17 / 19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47472"/>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0E8F82"/>
                </a:solidFill>
                <a:latin typeface="Calibri"/>
              </a:rPr>
              <a:t>7 · TRIỂN KHAI</a:t>
            </a:r>
          </a:p>
        </p:txBody>
      </p:sp>
      <p:sp>
        <p:nvSpPr>
          <p:cNvPr id="3" name="TextBox 2"/>
          <p:cNvSpPr txBox="1"/>
          <p:nvPr/>
        </p:nvSpPr>
        <p:spPr>
          <a:xfrm>
            <a:off x="548640" y="640080"/>
            <a:ext cx="11064240" cy="822960"/>
          </a:xfrm>
          <a:prstGeom prst="rect">
            <a:avLst/>
          </a:prstGeom>
          <a:noFill/>
        </p:spPr>
        <p:txBody>
          <a:bodyPr wrap="square" lIns="0" rIns="0" tIns="0" bIns="0" anchor="t">
            <a:spAutoFit/>
          </a:bodyPr>
          <a:lstStyle/>
          <a:p>
            <a:pPr algn="l">
              <a:spcBef>
                <a:spcPts val="0"/>
              </a:spcBef>
              <a:spcAft>
                <a:spcPts val="0"/>
              </a:spcAft>
            </a:pPr>
            <a:r>
              <a:rPr sz="2500" b="1" i="0">
                <a:solidFill>
                  <a:srgbClr val="1B2733"/>
                </a:solidFill>
                <a:latin typeface="Cambria"/>
              </a:rPr>
              <a:t>Proposal nằm ở đâu trong TTA-Proposal-Benchmark</a:t>
            </a:r>
          </a:p>
        </p:txBody>
      </p:sp>
      <p:graphicFrame>
        <p:nvGraphicFramePr>
          <p:cNvPr id="4" name="Table 3"/>
          <p:cNvGraphicFramePr>
            <a:graphicFrameLocks noGrp="1"/>
          </p:cNvGraphicFramePr>
          <p:nvPr/>
        </p:nvGraphicFramePr>
        <p:xfrm>
          <a:off x="548640" y="1554480"/>
          <a:ext cx="6309360" cy="4224528"/>
        </p:xfrm>
        <a:graphic>
          <a:graphicData uri="http://schemas.openxmlformats.org/drawingml/2006/table">
            <a:tbl>
              <a:tblPr firstRow="0" bandRow="0">
                <a:tableStyleId>{5C22544A-7EE6-4342-B048-85BDC9FD1C3A}</a:tableStyleId>
              </a:tblPr>
              <a:tblGrid>
                <a:gridCol w="2926080"/>
                <a:gridCol w="3383280"/>
              </a:tblGrid>
              <a:tr h="384048">
                <a:tc>
                  <a:txBody>
                    <a:bodyPr wrap="square"/>
                    <a:lstStyle/>
                    <a:p>
                      <a:pPr algn="l">
                        <a:spcBef>
                          <a:spcPts val="0"/>
                        </a:spcBef>
                        <a:spcAft>
                          <a:spcPts val="0"/>
                        </a:spcAft>
                      </a:pPr>
                      <a:r>
                        <a:rPr sz="1050" b="1" i="0">
                          <a:solidFill>
                            <a:srgbClr val="FFFFFF"/>
                          </a:solidFill>
                          <a:latin typeface="Calibri"/>
                        </a:rPr>
                        <a:t>Thành phần</a:t>
                      </a:r>
                    </a:p>
                  </a:txBody>
                  <a:tcPr marL="64008" marR="64008" marT="18288" marB="18288" anchor="ctr">
                    <a:solidFill>
                      <a:srgbClr val="0F2A43"/>
                    </a:solidFill>
                  </a:tcPr>
                </a:tc>
                <a:tc>
                  <a:txBody>
                    <a:bodyPr wrap="square"/>
                    <a:lstStyle/>
                    <a:p>
                      <a:pPr algn="l">
                        <a:spcBef>
                          <a:spcPts val="0"/>
                        </a:spcBef>
                        <a:spcAft>
                          <a:spcPts val="0"/>
                        </a:spcAft>
                      </a:pPr>
                      <a:r>
                        <a:rPr sz="1050" b="1" i="0">
                          <a:solidFill>
                            <a:srgbClr val="FFFFFF"/>
                          </a:solidFill>
                          <a:latin typeface="Calibri"/>
                        </a:rPr>
                        <a:t>File : dòng</a:t>
                      </a:r>
                    </a:p>
                  </a:txBody>
                  <a:tcPr marL="64008" marR="64008" marT="18288" marB="18288" anchor="ctr">
                    <a:solidFill>
                      <a:srgbClr val="0F2A43"/>
                    </a:solidFill>
                  </a:tcPr>
                </a:tc>
              </a:tr>
              <a:tr h="384048">
                <a:tc>
                  <a:txBody>
                    <a:bodyPr wrap="square"/>
                    <a:lstStyle/>
                    <a:p>
                      <a:pPr algn="l">
                        <a:spcBef>
                          <a:spcPts val="0"/>
                        </a:spcBef>
                        <a:spcAft>
                          <a:spcPts val="0"/>
                        </a:spcAft>
                      </a:pPr>
                      <a:r>
                        <a:rPr sz="1050" b="1" i="0">
                          <a:solidFill>
                            <a:srgbClr val="1B2733"/>
                          </a:solidFill>
                          <a:latin typeface="Calibri"/>
                        </a:rPr>
                        <a:t>BiTTA gốc: vòng lặp, loss BFA/ABA</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src/learner/bitta.py : 18, 86, 185–233</a:t>
                      </a:r>
                    </a:p>
                  </a:txBody>
                  <a:tcPr marL="64008" marR="64008" marT="18288" marB="18288" anchor="ctr">
                    <a:solidFill>
                      <a:srgbClr val="FFFFFF"/>
                    </a:solidFill>
                  </a:tcPr>
                </a:tc>
              </a:tr>
              <a:tr h="384048">
                <a:tc>
                  <a:txBody>
                    <a:bodyPr wrap="square"/>
                    <a:lstStyle/>
                    <a:p>
                      <a:pPr algn="l">
                        <a:spcBef>
                          <a:spcPts val="0"/>
                        </a:spcBef>
                        <a:spcAft>
                          <a:spcPts val="0"/>
                        </a:spcAft>
                      </a:pPr>
                      <a:r>
                        <a:rPr sz="1050" b="1" i="0">
                          <a:solidFill>
                            <a:srgbClr val="1B2733"/>
                          </a:solidFill>
                          <a:latin typeface="Calibri"/>
                        </a:rPr>
                        <a:t>Chọn mẫu (chung cho gốc và Proposal)</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src/learner/dnn.py : 1189</a:t>
                      </a:r>
                    </a:p>
                  </a:txBody>
                  <a:tcPr marL="64008" marR="64008" marT="18288" marB="18288" anchor="ctr">
                    <a:solidFill>
                      <a:srgbClr val="F3F6F9"/>
                    </a:solidFill>
                  </a:tcPr>
                </a:tc>
              </a:tr>
              <a:tr h="384048">
                <a:tc>
                  <a:txBody>
                    <a:bodyPr wrap="square"/>
                    <a:lstStyle/>
                    <a:p>
                      <a:pPr algn="l">
                        <a:spcBef>
                          <a:spcPts val="0"/>
                        </a:spcBef>
                        <a:spcAft>
                          <a:spcPts val="0"/>
                        </a:spcAft>
                      </a:pPr>
                      <a:r>
                        <a:rPr sz="1050" b="1" i="0">
                          <a:solidFill>
                            <a:srgbClr val="1B2733"/>
                          </a:solidFill>
                          <a:latin typeface="Calibri"/>
                        </a:rPr>
                        <a:t>Nhánh BiTTA gốc (mc_conf, Eq. 6)</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src/learner/dnn.py : 1228–1233</a:t>
                      </a:r>
                    </a:p>
                  </a:txBody>
                  <a:tcPr marL="64008" marR="64008" marT="18288" marB="18288" anchor="ctr">
                    <a:solidFill>
                      <a:srgbClr val="FFFFFF"/>
                    </a:solidFill>
                  </a:tcPr>
                </a:tc>
              </a:tr>
              <a:tr h="384048">
                <a:tc>
                  <a:txBody>
                    <a:bodyPr wrap="square"/>
                    <a:lstStyle/>
                    <a:p>
                      <a:pPr algn="l">
                        <a:spcBef>
                          <a:spcPts val="0"/>
                        </a:spcBef>
                        <a:spcAft>
                          <a:spcPts val="0"/>
                        </a:spcAft>
                      </a:pPr>
                      <a:r>
                        <a:rPr sz="1050" b="1" i="0">
                          <a:solidFill>
                            <a:srgbClr val="1B2733"/>
                          </a:solidFill>
                          <a:latin typeface="Calibri"/>
                        </a:rPr>
                        <a:t>Nhánh Proposal (info_max)</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src/learner/dnn.py : 1253–1281</a:t>
                      </a:r>
                    </a:p>
                  </a:txBody>
                  <a:tcPr marL="64008" marR="64008" marT="18288" marB="18288" anchor="ctr">
                    <a:solidFill>
                      <a:srgbClr val="F3F6F9"/>
                    </a:solidFill>
                  </a:tcPr>
                </a:tc>
              </a:tr>
              <a:tr h="384048">
                <a:tc>
                  <a:txBody>
                    <a:bodyPr wrap="square"/>
                    <a:lstStyle/>
                    <a:p>
                      <a:pPr algn="l">
                        <a:spcBef>
                          <a:spcPts val="0"/>
                        </a:spcBef>
                        <a:spcAft>
                          <a:spcPts val="0"/>
                        </a:spcAft>
                      </a:pPr>
                      <a:r>
                        <a:rPr sz="1050" b="1" i="0">
                          <a:solidFill>
                            <a:srgbClr val="1B2733"/>
                          </a:solidFill>
                          <a:latin typeface="Calibri"/>
                        </a:rPr>
                        <a:t>C4: n_it = n_dropouts_select</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src/learner/dnn.py : 1257</a:t>
                      </a:r>
                    </a:p>
                  </a:txBody>
                  <a:tcPr marL="64008" marR="64008" marT="18288" marB="18288" anchor="ctr">
                    <a:solidFill>
                      <a:srgbClr val="FFFFFF"/>
                    </a:solidFill>
                  </a:tcPr>
                </a:tc>
              </a:tr>
              <a:tr h="384048">
                <a:tc>
                  <a:txBody>
                    <a:bodyPr wrap="square"/>
                    <a:lstStyle/>
                    <a:p>
                      <a:pPr algn="l">
                        <a:spcBef>
                          <a:spcPts val="0"/>
                        </a:spcBef>
                        <a:spcAft>
                          <a:spcPts val="0"/>
                        </a:spcAft>
                      </a:pPr>
                      <a:r>
                        <a:rPr sz="1050" b="1" i="0">
                          <a:solidFill>
                            <a:srgbClr val="1B2733"/>
                          </a:solidFill>
                          <a:latin typeface="Calibri"/>
                        </a:rPr>
                        <a:t>Fit Platt bằng LBFGS (_fit_platt)</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src/learner/dnn.py : 1034</a:t>
                      </a:r>
                    </a:p>
                  </a:txBody>
                  <a:tcPr marL="64008" marR="64008" marT="18288" marB="18288" anchor="ctr">
                    <a:solidFill>
                      <a:srgbClr val="F3F6F9"/>
                    </a:solidFill>
                  </a:tcPr>
                </a:tc>
              </a:tr>
              <a:tr h="384048">
                <a:tc>
                  <a:txBody>
                    <a:bodyPr wrap="square"/>
                    <a:lstStyle/>
                    <a:p>
                      <a:pPr algn="l">
                        <a:spcBef>
                          <a:spcPts val="0"/>
                        </a:spcBef>
                        <a:spcAft>
                          <a:spcPts val="0"/>
                        </a:spcAft>
                      </a:pPr>
                      <a:r>
                        <a:rPr sz="1050" b="1" i="0">
                          <a:solidFill>
                            <a:srgbClr val="1B2733"/>
                          </a:solidFill>
                          <a:latin typeface="Calibri"/>
                        </a:rPr>
                        <a:t>Entropy nhị phân (_binary_entropy_score)</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src/learner/dnn.py : 1094</a:t>
                      </a:r>
                    </a:p>
                  </a:txBody>
                  <a:tcPr marL="64008" marR="64008" marT="18288" marB="18288" anchor="ctr">
                    <a:solidFill>
                      <a:srgbClr val="FFFFFF"/>
                    </a:solidFill>
                  </a:tcPr>
                </a:tc>
              </a:tr>
              <a:tr h="384048">
                <a:tc>
                  <a:txBody>
                    <a:bodyPr wrap="square"/>
                    <a:lstStyle/>
                    <a:p>
                      <a:pPr algn="l">
                        <a:spcBef>
                          <a:spcPts val="0"/>
                        </a:spcBef>
                        <a:spcAft>
                          <a:spcPts val="0"/>
                        </a:spcAft>
                      </a:pPr>
                      <a:r>
                        <a:rPr sz="1050" b="1" i="0">
                          <a:solidFill>
                            <a:srgbClr val="1B2733"/>
                          </a:solidFill>
                          <a:latin typeface="Calibri"/>
                        </a:rPr>
                        <a:t>Chẩn đoán / ε-explore</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src/learner/dnn.py : 1105, 1129</a:t>
                      </a:r>
                    </a:p>
                  </a:txBody>
                  <a:tcPr marL="64008" marR="64008" marT="18288" marB="18288" anchor="ctr">
                    <a:solidFill>
                      <a:srgbClr val="F3F6F9"/>
                    </a:solidFill>
                  </a:tcPr>
                </a:tc>
              </a:tr>
              <a:tr h="384048">
                <a:tc>
                  <a:txBody>
                    <a:bodyPr wrap="square"/>
                    <a:lstStyle/>
                    <a:p>
                      <a:pPr algn="l">
                        <a:spcBef>
                          <a:spcPts val="0"/>
                        </a:spcBef>
                        <a:spcAft>
                          <a:spcPts val="0"/>
                        </a:spcAft>
                      </a:pPr>
                      <a:r>
                        <a:rPr sz="1050" b="1" i="0">
                          <a:solidFill>
                            <a:srgbClr val="1B2733"/>
                          </a:solidFill>
                          <a:latin typeface="Calibri"/>
                        </a:rPr>
                        <a:t>Khai báo tham số dòng lệnh</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src/main.py : 543–566</a:t>
                      </a:r>
                    </a:p>
                  </a:txBody>
                  <a:tcPr marL="64008" marR="64008" marT="18288" marB="18288" anchor="ctr">
                    <a:solidFill>
                      <a:srgbClr val="FFFFFF"/>
                    </a:solidFill>
                  </a:tcPr>
                </a:tc>
              </a:tr>
              <a:tr h="384048">
                <a:tc>
                  <a:txBody>
                    <a:bodyPr wrap="square"/>
                    <a:lstStyle/>
                    <a:p>
                      <a:pPr algn="l">
                        <a:spcBef>
                          <a:spcPts val="0"/>
                        </a:spcBef>
                        <a:spcAft>
                          <a:spcPts val="0"/>
                        </a:spcAft>
                      </a:pPr>
                      <a:r>
                        <a:rPr sz="1050" b="1" i="0">
                          <a:solidFill>
                            <a:srgbClr val="1B2733"/>
                          </a:solidFill>
                          <a:latin typeface="Calibri"/>
                        </a:rPr>
                        <a:t>Cấu hình chạy</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configs/methods/bitta_*.yaml</a:t>
                      </a:r>
                    </a:p>
                  </a:txBody>
                  <a:tcPr marL="64008" marR="64008" marT="18288" marB="18288" anchor="ctr">
                    <a:solidFill>
                      <a:srgbClr val="F3F6F9"/>
                    </a:solidFill>
                  </a:tcPr>
                </a:tc>
              </a:tr>
            </a:tbl>
          </a:graphicData>
        </a:graphic>
      </p:graphicFrame>
      <p:graphicFrame>
        <p:nvGraphicFramePr>
          <p:cNvPr id="5" name="Table 4"/>
          <p:cNvGraphicFramePr>
            <a:graphicFrameLocks noGrp="1"/>
          </p:cNvGraphicFramePr>
          <p:nvPr/>
        </p:nvGraphicFramePr>
        <p:xfrm>
          <a:off x="7086600" y="1554480"/>
          <a:ext cx="4572000" cy="3621024"/>
        </p:xfrm>
        <a:graphic>
          <a:graphicData uri="http://schemas.openxmlformats.org/drawingml/2006/table">
            <a:tbl>
              <a:tblPr firstRow="0" bandRow="0">
                <a:tableStyleId>{5C22544A-7EE6-4342-B048-85BDC9FD1C3A}</a:tableStyleId>
              </a:tblPr>
              <a:tblGrid>
                <a:gridCol w="1783080"/>
                <a:gridCol w="1371600"/>
                <a:gridCol w="1417320"/>
              </a:tblGrid>
              <a:tr h="329184">
                <a:tc>
                  <a:txBody>
                    <a:bodyPr wrap="square"/>
                    <a:lstStyle/>
                    <a:p>
                      <a:pPr algn="l">
                        <a:spcBef>
                          <a:spcPts val="0"/>
                        </a:spcBef>
                        <a:spcAft>
                          <a:spcPts val="0"/>
                        </a:spcAft>
                      </a:pPr>
                      <a:r>
                        <a:rPr sz="1050" b="1" i="0">
                          <a:solidFill>
                            <a:srgbClr val="FFFFFF"/>
                          </a:solidFill>
                          <a:latin typeface="Calibri"/>
                        </a:rPr>
                        <a:t>Tham số</a:t>
                      </a:r>
                    </a:p>
                  </a:txBody>
                  <a:tcPr marL="64008" marR="64008" marT="18288" marB="18288" anchor="ctr">
                    <a:solidFill>
                      <a:srgbClr val="0F2A43"/>
                    </a:solidFill>
                  </a:tcPr>
                </a:tc>
                <a:tc>
                  <a:txBody>
                    <a:bodyPr wrap="square"/>
                    <a:lstStyle/>
                    <a:p>
                      <a:pPr algn="l">
                        <a:spcBef>
                          <a:spcPts val="0"/>
                        </a:spcBef>
                        <a:spcAft>
                          <a:spcPts val="0"/>
                        </a:spcAft>
                      </a:pPr>
                      <a:r>
                        <a:rPr sz="1050" b="1" i="0">
                          <a:solidFill>
                            <a:srgbClr val="FFFFFF"/>
                          </a:solidFill>
                          <a:latin typeface="Calibri"/>
                        </a:rPr>
                        <a:t>BiTTA gốc</a:t>
                      </a:r>
                    </a:p>
                  </a:txBody>
                  <a:tcPr marL="64008" marR="64008" marT="18288" marB="18288" anchor="ctr">
                    <a:solidFill>
                      <a:srgbClr val="0F2A43"/>
                    </a:solidFill>
                  </a:tcPr>
                </a:tc>
                <a:tc>
                  <a:txBody>
                    <a:bodyPr wrap="square"/>
                    <a:lstStyle/>
                    <a:p>
                      <a:pPr algn="l">
                        <a:spcBef>
                          <a:spcPts val="0"/>
                        </a:spcBef>
                        <a:spcAft>
                          <a:spcPts val="0"/>
                        </a:spcAft>
                      </a:pPr>
                      <a:r>
                        <a:rPr sz="1050" b="1" i="0">
                          <a:solidFill>
                            <a:srgbClr val="FFFFFF"/>
                          </a:solidFill>
                          <a:latin typeface="Calibri"/>
                        </a:rPr>
                        <a:t>Proposal</a:t>
                      </a:r>
                    </a:p>
                  </a:txBody>
                  <a:tcPr marL="64008" marR="64008" marT="18288" marB="18288" anchor="ctr">
                    <a:solidFill>
                      <a:srgbClr val="0F2A43"/>
                    </a:solidFill>
                  </a:tcPr>
                </a:tc>
              </a:tr>
              <a:tr h="329184">
                <a:tc>
                  <a:txBody>
                    <a:bodyPr wrap="square"/>
                    <a:lstStyle/>
                    <a:p>
                      <a:pPr algn="l">
                        <a:spcBef>
                          <a:spcPts val="0"/>
                        </a:spcBef>
                        <a:spcAft>
                          <a:spcPts val="0"/>
                        </a:spcAft>
                      </a:pPr>
                      <a:r>
                        <a:rPr sz="1050" b="1" i="0">
                          <a:solidFill>
                            <a:srgbClr val="1B2733"/>
                          </a:solidFill>
                          <a:latin typeface="Calibri"/>
                        </a:rPr>
                        <a:t>sample_selection</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mc_conf</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info_max</a:t>
                      </a:r>
                    </a:p>
                  </a:txBody>
                  <a:tcPr marL="64008" marR="64008" marT="18288" marB="18288" anchor="ctr">
                    <a:solidFill>
                      <a:srgbClr val="FFFFFF"/>
                    </a:solidFill>
                  </a:tcPr>
                </a:tc>
              </a:tr>
              <a:tr h="329184">
                <a:tc>
                  <a:txBody>
                    <a:bodyPr wrap="square"/>
                    <a:lstStyle/>
                    <a:p>
                      <a:pPr algn="l">
                        <a:spcBef>
                          <a:spcPts val="0"/>
                        </a:spcBef>
                        <a:spcAft>
                          <a:spcPts val="0"/>
                        </a:spcAft>
                      </a:pPr>
                      <a:r>
                        <a:rPr sz="1050" b="1" i="0">
                          <a:solidFill>
                            <a:srgbClr val="1B2733"/>
                          </a:solidFill>
                          <a:latin typeface="Calibri"/>
                        </a:rPr>
                        <a:t>n_dropouts (loss)</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4</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4</a:t>
                      </a:r>
                    </a:p>
                  </a:txBody>
                  <a:tcPr marL="64008" marR="64008" marT="18288" marB="18288" anchor="ctr">
                    <a:solidFill>
                      <a:srgbClr val="F3F6F9"/>
                    </a:solidFill>
                  </a:tcPr>
                </a:tc>
              </a:tr>
              <a:tr h="329184">
                <a:tc>
                  <a:txBody>
                    <a:bodyPr wrap="square"/>
                    <a:lstStyle/>
                    <a:p>
                      <a:pPr algn="l">
                        <a:spcBef>
                          <a:spcPts val="0"/>
                        </a:spcBef>
                        <a:spcAft>
                          <a:spcPts val="0"/>
                        </a:spcAft>
                      </a:pPr>
                      <a:r>
                        <a:rPr sz="1050" b="1" i="0">
                          <a:solidFill>
                            <a:srgbClr val="1B2733"/>
                          </a:solidFill>
                          <a:latin typeface="Calibri"/>
                        </a:rPr>
                        <a:t>n_dropouts_select</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−1 (=4)</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16</a:t>
                      </a:r>
                    </a:p>
                  </a:txBody>
                  <a:tcPr marL="64008" marR="64008" marT="18288" marB="18288" anchor="ctr">
                    <a:solidFill>
                      <a:srgbClr val="FFFFFF"/>
                    </a:solidFill>
                  </a:tcPr>
                </a:tc>
              </a:tr>
              <a:tr h="329184">
                <a:tc>
                  <a:txBody>
                    <a:bodyPr wrap="square"/>
                    <a:lstStyle/>
                    <a:p>
                      <a:pPr algn="l">
                        <a:spcBef>
                          <a:spcPts val="0"/>
                        </a:spcBef>
                        <a:spcAft>
                          <a:spcPts val="0"/>
                        </a:spcAft>
                      </a:pPr>
                      <a:r>
                        <a:rPr sz="1050" b="1" i="0">
                          <a:solidFill>
                            <a:srgbClr val="1B2733"/>
                          </a:solidFill>
                          <a:latin typeface="Calibri"/>
                        </a:rPr>
                        <a:t>n_active_sample (k)</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3</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3</a:t>
                      </a:r>
                    </a:p>
                  </a:txBody>
                  <a:tcPr marL="64008" marR="64008" marT="18288" marB="18288" anchor="ctr">
                    <a:solidFill>
                      <a:srgbClr val="F3F6F9"/>
                    </a:solidFill>
                  </a:tcPr>
                </a:tc>
              </a:tr>
              <a:tr h="329184">
                <a:tc>
                  <a:txBody>
                    <a:bodyPr wrap="square"/>
                    <a:lstStyle/>
                    <a:p>
                      <a:pPr algn="l">
                        <a:spcBef>
                          <a:spcPts val="0"/>
                        </a:spcBef>
                        <a:spcAft>
                          <a:spcPts val="0"/>
                        </a:spcAft>
                      </a:pPr>
                      <a:r>
                        <a:rPr sz="1050" b="1" i="0">
                          <a:solidFill>
                            <a:srgbClr val="1B2733"/>
                          </a:solidFill>
                          <a:latin typeface="Calibri"/>
                        </a:rPr>
                        <a:t>explore_eps</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0.0</a:t>
                      </a:r>
                    </a:p>
                  </a:txBody>
                  <a:tcPr marL="64008" marR="64008" marT="18288" marB="18288" anchor="ctr">
                    <a:solidFill>
                      <a:srgbClr val="FFFFFF"/>
                    </a:solidFill>
                  </a:tcPr>
                </a:tc>
              </a:tr>
              <a:tr h="329184">
                <a:tc>
                  <a:txBody>
                    <a:bodyPr wrap="square"/>
                    <a:lstStyle/>
                    <a:p>
                      <a:pPr algn="l">
                        <a:spcBef>
                          <a:spcPts val="0"/>
                        </a:spcBef>
                        <a:spcAft>
                          <a:spcPts val="0"/>
                        </a:spcAft>
                      </a:pPr>
                      <a:r>
                        <a:rPr sz="1050" b="1" i="0">
                          <a:solidFill>
                            <a:srgbClr val="1B2733"/>
                          </a:solidFill>
                          <a:latin typeface="Calibri"/>
                        </a:rPr>
                        <a:t>platt_min_samples</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20 (code: 60)</a:t>
                      </a:r>
                    </a:p>
                  </a:txBody>
                  <a:tcPr marL="64008" marR="64008" marT="18288" marB="18288" anchor="ctr">
                    <a:solidFill>
                      <a:srgbClr val="F3F6F9"/>
                    </a:solidFill>
                  </a:tcPr>
                </a:tc>
              </a:tr>
              <a:tr h="329184">
                <a:tc>
                  <a:txBody>
                    <a:bodyPr wrap="square"/>
                    <a:lstStyle/>
                    <a:p>
                      <a:pPr algn="l">
                        <a:spcBef>
                          <a:spcPts val="0"/>
                        </a:spcBef>
                        <a:spcAft>
                          <a:spcPts val="0"/>
                        </a:spcAft>
                      </a:pPr>
                      <a:r>
                        <a:rPr sz="1050" b="1" i="0">
                          <a:solidFill>
                            <a:srgbClr val="1B2733"/>
                          </a:solidFill>
                          <a:latin typeface="Calibri"/>
                        </a:rPr>
                        <a:t>platt_buffer_size</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300</a:t>
                      </a:r>
                    </a:p>
                  </a:txBody>
                  <a:tcPr marL="64008" marR="64008" marT="18288" marB="18288" anchor="ctr">
                    <a:solidFill>
                      <a:srgbClr val="FFFFFF"/>
                    </a:solidFill>
                  </a:tcPr>
                </a:tc>
              </a:tr>
              <a:tr h="329184">
                <a:tc>
                  <a:txBody>
                    <a:bodyPr wrap="square"/>
                    <a:lstStyle/>
                    <a:p>
                      <a:pPr algn="l">
                        <a:spcBef>
                          <a:spcPts val="0"/>
                        </a:spcBef>
                        <a:spcAft>
                          <a:spcPts val="0"/>
                        </a:spcAft>
                      </a:pPr>
                      <a:r>
                        <a:rPr sz="1050" b="1" i="0">
                          <a:solidFill>
                            <a:srgbClr val="1B2733"/>
                          </a:solidFill>
                          <a:latin typeface="Calibri"/>
                        </a:rPr>
                        <a:t>platt_refit_every</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1</a:t>
                      </a:r>
                    </a:p>
                  </a:txBody>
                  <a:tcPr marL="64008" marR="64008" marT="18288" marB="18288" anchor="ctr">
                    <a:solidFill>
                      <a:srgbClr val="F3F6F9"/>
                    </a:solidFill>
                  </a:tcPr>
                </a:tc>
              </a:tr>
              <a:tr h="329184">
                <a:tc>
                  <a:txBody>
                    <a:bodyPr wrap="square"/>
                    <a:lstStyle/>
                    <a:p>
                      <a:pPr algn="l">
                        <a:spcBef>
                          <a:spcPts val="0"/>
                        </a:spcBef>
                        <a:spcAft>
                          <a:spcPts val="0"/>
                        </a:spcAft>
                      </a:pPr>
                      <a:r>
                        <a:rPr sz="1050" b="1" i="0">
                          <a:solidFill>
                            <a:srgbClr val="1B2733"/>
                          </a:solidFill>
                          <a:latin typeface="Calibri"/>
                        </a:rPr>
                        <a:t>a, b khởi tạo</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a:t>
                      </a:r>
                    </a:p>
                  </a:txBody>
                  <a:tcPr marL="64008" marR="64008" marT="18288" marB="18288" anchor="ctr">
                    <a:solidFill>
                      <a:srgbClr val="FFFFFF"/>
                    </a:solidFill>
                  </a:tcPr>
                </a:tc>
                <a:tc>
                  <a:txBody>
                    <a:bodyPr wrap="square"/>
                    <a:lstStyle/>
                    <a:p>
                      <a:pPr algn="l">
                        <a:spcBef>
                          <a:spcPts val="0"/>
                        </a:spcBef>
                        <a:spcAft>
                          <a:spcPts val="0"/>
                        </a:spcAft>
                      </a:pPr>
                      <a:r>
                        <a:rPr sz="1050" b="0" i="0">
                          <a:solidFill>
                            <a:srgbClr val="1B2733"/>
                          </a:solidFill>
                          <a:latin typeface="Consolas"/>
                        </a:rPr>
                        <a:t>1.0, 0.0</a:t>
                      </a:r>
                    </a:p>
                  </a:txBody>
                  <a:tcPr marL="64008" marR="64008" marT="18288" marB="18288" anchor="ctr">
                    <a:solidFill>
                      <a:srgbClr val="FFFFFF"/>
                    </a:solidFill>
                  </a:tcPr>
                </a:tc>
              </a:tr>
              <a:tr h="329184">
                <a:tc>
                  <a:txBody>
                    <a:bodyPr wrap="square"/>
                    <a:lstStyle/>
                    <a:p>
                      <a:pPr algn="l">
                        <a:spcBef>
                          <a:spcPts val="0"/>
                        </a:spcBef>
                        <a:spcAft>
                          <a:spcPts val="0"/>
                        </a:spcAft>
                      </a:pPr>
                      <a:r>
                        <a:rPr sz="1050" b="1" i="0">
                          <a:solidFill>
                            <a:srgbClr val="1B2733"/>
                          </a:solidFill>
                          <a:latin typeface="Calibri"/>
                        </a:rPr>
                        <a:t>PLATT_A_MIN / kẹp a</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a:t>
                      </a:r>
                    </a:p>
                  </a:txBody>
                  <a:tcPr marL="64008" marR="64008" marT="18288" marB="18288" anchor="ctr">
                    <a:solidFill>
                      <a:srgbClr val="F3F6F9"/>
                    </a:solidFill>
                  </a:tcPr>
                </a:tc>
                <a:tc>
                  <a:txBody>
                    <a:bodyPr wrap="square"/>
                    <a:lstStyle/>
                    <a:p>
                      <a:pPr algn="l">
                        <a:spcBef>
                          <a:spcPts val="0"/>
                        </a:spcBef>
                        <a:spcAft>
                          <a:spcPts val="0"/>
                        </a:spcAft>
                      </a:pPr>
                      <a:r>
                        <a:rPr sz="1050" b="0" i="0">
                          <a:solidFill>
                            <a:srgbClr val="1B2733"/>
                          </a:solidFill>
                          <a:latin typeface="Consolas"/>
                        </a:rPr>
                        <a:t>10⁻³ / 50</a:t>
                      </a:r>
                    </a:p>
                  </a:txBody>
                  <a:tcPr marL="64008" marR="64008" marT="18288" marB="18288" anchor="ctr">
                    <a:solidFill>
                      <a:srgbClr val="F3F6F9"/>
                    </a:solidFill>
                  </a:tcPr>
                </a:tc>
              </a:tr>
            </a:tbl>
          </a:graphicData>
        </a:graphic>
      </p:graphicFrame>
      <p:sp>
        <p:nvSpPr>
          <p:cNvPr id="6" name="Rounded Rectangle 5"/>
          <p:cNvSpPr/>
          <p:nvPr/>
        </p:nvSpPr>
        <p:spPr>
          <a:xfrm>
            <a:off x="7086600" y="5349240"/>
            <a:ext cx="4572000" cy="1005840"/>
          </a:xfrm>
          <a:prstGeom prst="roundRect">
            <a:avLst>
              <a:gd name="adj" fmla="val 5000"/>
            </a:avLst>
          </a:prstGeom>
          <a:solidFill>
            <a:srgbClr val="FBEB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251192" y="5480913"/>
            <a:ext cx="4242816" cy="742492"/>
          </a:xfrm>
          <a:prstGeom prst="rect">
            <a:avLst/>
          </a:prstGeom>
          <a:noFill/>
        </p:spPr>
        <p:txBody>
          <a:bodyPr wrap="square" lIns="0" rIns="0" tIns="0" bIns="0" anchor="ctr">
            <a:spAutoFit/>
          </a:bodyPr>
          <a:lstStyle/>
          <a:p>
            <a:pPr algn="l">
              <a:spcBef>
                <a:spcPts val="0"/>
              </a:spcBef>
              <a:spcAft>
                <a:spcPts val="0"/>
              </a:spcAft>
            </a:pPr>
            <a:r>
              <a:rPr sz="1100" b="1" i="0">
                <a:solidFill>
                  <a:srgbClr val="A5680B"/>
                </a:solidFill>
                <a:latin typeface="Calibri"/>
              </a:rPr>
              <a:t>Lưu ý: </a:t>
            </a:r>
            <a:r>
              <a:rPr sz="1100" b="0" i="0">
                <a:solidFill>
                  <a:srgbClr val="1B2733"/>
                </a:solidFill>
                <a:latin typeface="Calibri"/>
              </a:rPr>
              <a:t>nhãn “C4” chỉ xuất hiện trong comment của bitta_proposal.yaml; trong code .py, n_dropouts_select nằm trong khối C1 (dòng 1254 ghi “C1”).</a:t>
            </a:r>
          </a:p>
        </p:txBody>
      </p:sp>
      <p:sp>
        <p:nvSpPr>
          <p:cNvPr id="8" name="TextBox 7"/>
          <p:cNvSpPr txBox="1"/>
          <p:nvPr/>
        </p:nvSpPr>
        <p:spPr>
          <a:xfrm>
            <a:off x="548640" y="6080760"/>
            <a:ext cx="6309360" cy="274320"/>
          </a:xfrm>
          <a:prstGeom prst="rect">
            <a:avLst/>
          </a:prstGeom>
          <a:noFill/>
        </p:spPr>
        <p:txBody>
          <a:bodyPr wrap="square" lIns="0" rIns="0" tIns="0" bIns="0" anchor="t">
            <a:spAutoFit/>
          </a:bodyPr>
          <a:lstStyle/>
          <a:p>
            <a:pPr algn="l">
              <a:spcBef>
                <a:spcPts val="0"/>
              </a:spcBef>
              <a:spcAft>
                <a:spcPts val="0"/>
              </a:spcAft>
            </a:pPr>
            <a:r>
              <a:rPr sz="1050" b="0" i="0">
                <a:solidFill>
                  <a:srgbClr val="5A6A7A"/>
                </a:solidFill>
                <a:latin typeface="Consolas"/>
              </a:rPr>
              <a:t>Lệnh chạy: bash scripts/run_bitta_family.sh bitta_proposal cifar10_c 0 &lt;log_prefix&gt;</a:t>
            </a:r>
          </a:p>
        </p:txBody>
      </p:sp>
      <p:sp>
        <p:nvSpPr>
          <p:cNvPr id="9" name="TextBox 8"/>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5A6A7A"/>
                </a:solidFill>
                <a:latin typeface="Calibri"/>
              </a:rPr>
              <a:t>18 / 19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A43"/>
        </a:solidFill>
        <a:effectLst/>
      </p:bgPr>
    </p:bg>
    <p:spTree>
      <p:nvGrpSpPr>
        <p:cNvPr id="1" name=""/>
        <p:cNvGrpSpPr/>
        <p:nvPr/>
      </p:nvGrpSpPr>
      <p:grpSpPr/>
      <p:sp>
        <p:nvSpPr>
          <p:cNvPr id="2" name="TextBox 1"/>
          <p:cNvSpPr txBox="1"/>
          <p:nvPr/>
        </p:nvSpPr>
        <p:spPr>
          <a:xfrm>
            <a:off x="548640" y="365760"/>
            <a:ext cx="10515600" cy="274320"/>
          </a:xfrm>
          <a:prstGeom prst="rect">
            <a:avLst/>
          </a:prstGeom>
          <a:noFill/>
        </p:spPr>
        <p:txBody>
          <a:bodyPr wrap="square" lIns="0" rIns="0" tIns="0" bIns="0" anchor="t">
            <a:spAutoFit/>
          </a:bodyPr>
          <a:lstStyle/>
          <a:p>
            <a:pPr algn="l">
              <a:spcBef>
                <a:spcPts val="0"/>
              </a:spcBef>
              <a:spcAft>
                <a:spcPts val="0"/>
              </a:spcAft>
            </a:pPr>
            <a:r>
              <a:rPr sz="1200" b="1" i="0">
                <a:solidFill>
                  <a:srgbClr val="7FD6CB"/>
                </a:solidFill>
                <a:latin typeface="Calibri"/>
              </a:rPr>
              <a:t>TỔNG KẾT</a:t>
            </a:r>
          </a:p>
        </p:txBody>
      </p:sp>
      <p:sp>
        <p:nvSpPr>
          <p:cNvPr id="3" name="TextBox 2"/>
          <p:cNvSpPr txBox="1"/>
          <p:nvPr/>
        </p:nvSpPr>
        <p:spPr>
          <a:xfrm>
            <a:off x="548640" y="658368"/>
            <a:ext cx="11064240" cy="822960"/>
          </a:xfrm>
          <a:prstGeom prst="rect">
            <a:avLst/>
          </a:prstGeom>
          <a:noFill/>
        </p:spPr>
        <p:txBody>
          <a:bodyPr wrap="square" lIns="0" rIns="0" tIns="0" bIns="0" anchor="t">
            <a:spAutoFit/>
          </a:bodyPr>
          <a:lstStyle/>
          <a:p>
            <a:pPr algn="l">
              <a:spcBef>
                <a:spcPts val="0"/>
              </a:spcBef>
              <a:spcAft>
                <a:spcPts val="0"/>
              </a:spcAft>
            </a:pPr>
            <a:r>
              <a:rPr sz="2700" b="1" i="0">
                <a:solidFill>
                  <a:srgbClr val="FFFFFF"/>
                </a:solidFill>
                <a:latin typeface="Cambria"/>
              </a:rPr>
              <a:t>Không đổi cách mô hình học — chỉ đổi câu hỏi nào đáng hỏi</a:t>
            </a:r>
          </a:p>
        </p:txBody>
      </p:sp>
      <p:sp>
        <p:nvSpPr>
          <p:cNvPr id="4" name="Rounded Rectangle 3"/>
          <p:cNvSpPr/>
          <p:nvPr/>
        </p:nvSpPr>
        <p:spPr>
          <a:xfrm>
            <a:off x="548640" y="1691640"/>
            <a:ext cx="11109960" cy="841248"/>
          </a:xfrm>
          <a:prstGeom prst="roundRect">
            <a:avLst>
              <a:gd name="adj" fmla="val 5000"/>
            </a:avLst>
          </a:prstGeom>
          <a:solidFill>
            <a:srgbClr val="1B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691640"/>
            <a:ext cx="2011680" cy="841248"/>
          </a:xfrm>
          <a:prstGeom prst="rect">
            <a:avLst/>
          </a:prstGeom>
          <a:noFill/>
        </p:spPr>
        <p:txBody>
          <a:bodyPr wrap="square" lIns="0" rIns="0" tIns="0" bIns="0" anchor="ctr">
            <a:spAutoFit/>
          </a:bodyPr>
          <a:lstStyle/>
          <a:p>
            <a:pPr algn="l">
              <a:spcBef>
                <a:spcPts val="0"/>
              </a:spcBef>
              <a:spcAft>
                <a:spcPts val="0"/>
              </a:spcAft>
            </a:pPr>
            <a:r>
              <a:rPr sz="1500" b="1" i="0">
                <a:solidFill>
                  <a:srgbClr val="7FD6CB"/>
                </a:solidFill>
                <a:latin typeface="Calibri"/>
              </a:rPr>
              <a:t>Vấn đề</a:t>
            </a:r>
          </a:p>
        </p:txBody>
      </p:sp>
      <p:sp>
        <p:nvSpPr>
          <p:cNvPr id="6" name="TextBox 5"/>
          <p:cNvSpPr txBox="1"/>
          <p:nvPr/>
        </p:nvSpPr>
        <p:spPr>
          <a:xfrm>
            <a:off x="2834640" y="1691640"/>
            <a:ext cx="8686800" cy="841248"/>
          </a:xfrm>
          <a:prstGeom prst="rect">
            <a:avLst/>
          </a:prstGeom>
          <a:noFill/>
        </p:spPr>
        <p:txBody>
          <a:bodyPr wrap="square" lIns="0" rIns="0" tIns="0" bIns="0" anchor="ctr">
            <a:spAutoFit/>
          </a:bodyPr>
          <a:lstStyle/>
          <a:p>
            <a:pPr algn="l">
              <a:spcBef>
                <a:spcPts val="0"/>
              </a:spcBef>
              <a:spcAft>
                <a:spcPts val="0"/>
              </a:spcAft>
            </a:pPr>
            <a:r>
              <a:rPr sz="1250" b="0" i="0">
                <a:solidFill>
                  <a:srgbClr val="FFFFFF"/>
                </a:solidFill>
                <a:latin typeface="Calibri"/>
              </a:rPr>
              <a:t>Eq. 6 chọn theo confidence thô nên không phân biệt ảnh “đoán trước được” với ảnh “thực sự chưa biết”, lãng phí ngân sách 3/64.</a:t>
            </a:r>
          </a:p>
        </p:txBody>
      </p:sp>
      <p:sp>
        <p:nvSpPr>
          <p:cNvPr id="7" name="Rounded Rectangle 6"/>
          <p:cNvSpPr/>
          <p:nvPr/>
        </p:nvSpPr>
        <p:spPr>
          <a:xfrm>
            <a:off x="548640" y="2624328"/>
            <a:ext cx="11109960" cy="841248"/>
          </a:xfrm>
          <a:prstGeom prst="roundRect">
            <a:avLst>
              <a:gd name="adj" fmla="val 5000"/>
            </a:avLst>
          </a:prstGeom>
          <a:solidFill>
            <a:srgbClr val="1B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24328"/>
            <a:ext cx="2011680" cy="841248"/>
          </a:xfrm>
          <a:prstGeom prst="rect">
            <a:avLst/>
          </a:prstGeom>
          <a:noFill/>
        </p:spPr>
        <p:txBody>
          <a:bodyPr wrap="square" lIns="0" rIns="0" tIns="0" bIns="0" anchor="ctr">
            <a:spAutoFit/>
          </a:bodyPr>
          <a:lstStyle/>
          <a:p>
            <a:pPr algn="l">
              <a:spcBef>
                <a:spcPts val="0"/>
              </a:spcBef>
              <a:spcAft>
                <a:spcPts val="0"/>
              </a:spcAft>
            </a:pPr>
            <a:r>
              <a:rPr sz="1500" b="1" i="0">
                <a:solidFill>
                  <a:srgbClr val="7FD6CB"/>
                </a:solidFill>
                <a:latin typeface="Calibri"/>
              </a:rPr>
              <a:t>Cách giải quyết</a:t>
            </a:r>
          </a:p>
        </p:txBody>
      </p:sp>
      <p:sp>
        <p:nvSpPr>
          <p:cNvPr id="9" name="TextBox 8"/>
          <p:cNvSpPr txBox="1"/>
          <p:nvPr/>
        </p:nvSpPr>
        <p:spPr>
          <a:xfrm>
            <a:off x="2834640" y="2624328"/>
            <a:ext cx="8686800" cy="841248"/>
          </a:xfrm>
          <a:prstGeom prst="rect">
            <a:avLst/>
          </a:prstGeom>
          <a:noFill/>
        </p:spPr>
        <p:txBody>
          <a:bodyPr wrap="square" lIns="0" rIns="0" tIns="0" bIns="0" anchor="ctr">
            <a:spAutoFit/>
          </a:bodyPr>
          <a:lstStyle/>
          <a:p>
            <a:pPr algn="l">
              <a:spcBef>
                <a:spcPts val="0"/>
              </a:spcBef>
              <a:spcAft>
                <a:spcPts val="0"/>
              </a:spcAft>
            </a:pPr>
            <a:r>
              <a:rPr sz="1250" b="0" i="0">
                <a:solidFill>
                  <a:srgbClr val="FFFFFF"/>
                </a:solidFill>
                <a:latin typeface="Calibri"/>
              </a:rPr>
              <a:t>C1: hiệu chuẩn Platt (a, b học bằng LBFGS từ feedback) → p̂ → chọn theo entropy nhị phân h_b(p̂) lớn nhất. C4: N = 16 lượt dropout riêng cho bước chọn.</a:t>
            </a:r>
          </a:p>
        </p:txBody>
      </p:sp>
      <p:sp>
        <p:nvSpPr>
          <p:cNvPr id="10" name="Rounded Rectangle 9"/>
          <p:cNvSpPr/>
          <p:nvPr/>
        </p:nvSpPr>
        <p:spPr>
          <a:xfrm>
            <a:off x="548640" y="3557016"/>
            <a:ext cx="11109960" cy="841248"/>
          </a:xfrm>
          <a:prstGeom prst="roundRect">
            <a:avLst>
              <a:gd name="adj" fmla="val 5000"/>
            </a:avLst>
          </a:prstGeom>
          <a:solidFill>
            <a:srgbClr val="1B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557016"/>
            <a:ext cx="2011680" cy="841248"/>
          </a:xfrm>
          <a:prstGeom prst="rect">
            <a:avLst/>
          </a:prstGeom>
          <a:noFill/>
        </p:spPr>
        <p:txBody>
          <a:bodyPr wrap="square" lIns="0" rIns="0" tIns="0" bIns="0" anchor="ctr">
            <a:spAutoFit/>
          </a:bodyPr>
          <a:lstStyle/>
          <a:p>
            <a:pPr algn="l">
              <a:spcBef>
                <a:spcPts val="0"/>
              </a:spcBef>
              <a:spcAft>
                <a:spcPts val="0"/>
              </a:spcAft>
            </a:pPr>
            <a:r>
              <a:rPr sz="1500" b="1" i="0">
                <a:solidFill>
                  <a:srgbClr val="7FD6CB"/>
                </a:solidFill>
                <a:latin typeface="Calibri"/>
              </a:rPr>
              <a:t>Vì sao</a:t>
            </a:r>
          </a:p>
        </p:txBody>
      </p:sp>
      <p:sp>
        <p:nvSpPr>
          <p:cNvPr id="12" name="TextBox 11"/>
          <p:cNvSpPr txBox="1"/>
          <p:nvPr/>
        </p:nvSpPr>
        <p:spPr>
          <a:xfrm>
            <a:off x="2834640" y="3557016"/>
            <a:ext cx="8686800" cy="841248"/>
          </a:xfrm>
          <a:prstGeom prst="rect">
            <a:avLst/>
          </a:prstGeom>
          <a:noFill/>
        </p:spPr>
        <p:txBody>
          <a:bodyPr wrap="square" lIns="0" rIns="0" tIns="0" bIns="0" anchor="ctr">
            <a:spAutoFit/>
          </a:bodyPr>
          <a:lstStyle/>
          <a:p>
            <a:pPr algn="l">
              <a:spcBef>
                <a:spcPts val="0"/>
              </a:spcBef>
              <a:spcAft>
                <a:spcPts val="0"/>
              </a:spcAft>
            </a:pPr>
            <a:r>
              <a:rPr sz="1250" b="0" i="0">
                <a:solidFill>
                  <a:srgbClr val="FFFFFF"/>
                </a:solidFill>
                <a:latin typeface="Calibri"/>
              </a:rPr>
              <a:t>h_b là lượng thông tin kỳ vọng chính xác của một câu hỏi nhị phân; Platt chỉ 2 tham số nên học được từ vài chục cặp; phần học BFA/ABA giữ nguyên để so sánh công bằng.</a:t>
            </a:r>
          </a:p>
        </p:txBody>
      </p:sp>
      <p:sp>
        <p:nvSpPr>
          <p:cNvPr id="13" name="Rounded Rectangle 12"/>
          <p:cNvSpPr/>
          <p:nvPr/>
        </p:nvSpPr>
        <p:spPr>
          <a:xfrm>
            <a:off x="548640" y="4489704"/>
            <a:ext cx="11109960" cy="841248"/>
          </a:xfrm>
          <a:prstGeom prst="roundRect">
            <a:avLst>
              <a:gd name="adj" fmla="val 5000"/>
            </a:avLst>
          </a:prstGeom>
          <a:solidFill>
            <a:srgbClr val="1B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489704"/>
            <a:ext cx="2011680" cy="841248"/>
          </a:xfrm>
          <a:prstGeom prst="rect">
            <a:avLst/>
          </a:prstGeom>
          <a:noFill/>
        </p:spPr>
        <p:txBody>
          <a:bodyPr wrap="square" lIns="0" rIns="0" tIns="0" bIns="0" anchor="ctr">
            <a:spAutoFit/>
          </a:bodyPr>
          <a:lstStyle/>
          <a:p>
            <a:pPr algn="l">
              <a:spcBef>
                <a:spcPts val="0"/>
              </a:spcBef>
              <a:spcAft>
                <a:spcPts val="0"/>
              </a:spcAft>
            </a:pPr>
            <a:r>
              <a:rPr sz="1500" b="1" i="0">
                <a:solidFill>
                  <a:srgbClr val="7FD6CB"/>
                </a:solidFill>
                <a:latin typeface="Calibri"/>
              </a:rPr>
              <a:t>Giới hạn</a:t>
            </a:r>
          </a:p>
        </p:txBody>
      </p:sp>
      <p:sp>
        <p:nvSpPr>
          <p:cNvPr id="15" name="TextBox 14"/>
          <p:cNvSpPr txBox="1"/>
          <p:nvPr/>
        </p:nvSpPr>
        <p:spPr>
          <a:xfrm>
            <a:off x="2834640" y="4489704"/>
            <a:ext cx="8686800" cy="841248"/>
          </a:xfrm>
          <a:prstGeom prst="rect">
            <a:avLst/>
          </a:prstGeom>
          <a:noFill/>
        </p:spPr>
        <p:txBody>
          <a:bodyPr wrap="square" lIns="0" rIns="0" tIns="0" bIns="0" anchor="ctr">
            <a:spAutoFit/>
          </a:bodyPr>
          <a:lstStyle/>
          <a:p>
            <a:pPr algn="l">
              <a:spcBef>
                <a:spcPts val="0"/>
              </a:spcBef>
              <a:spcAft>
                <a:spcPts val="0"/>
              </a:spcAft>
            </a:pPr>
            <a:r>
              <a:rPr sz="1250" b="0" i="0">
                <a:solidFill>
                  <a:srgbClr val="FFFFFF"/>
                </a:solidFill>
                <a:latin typeface="Calibri"/>
              </a:rPr>
              <a:t>Buffer hiệu chuẩn toàn cục chưa kiểm chứng qua các corruption/nhãn; N = 16 chưa có ablation; hiệu quả trên accuracy chưa đo trên GPU.</a:t>
            </a:r>
          </a:p>
        </p:txBody>
      </p:sp>
      <p:sp>
        <p:nvSpPr>
          <p:cNvPr id="16" name="Rounded Rectangle 15"/>
          <p:cNvSpPr/>
          <p:nvPr/>
        </p:nvSpPr>
        <p:spPr>
          <a:xfrm>
            <a:off x="548640" y="5422392"/>
            <a:ext cx="11109960" cy="841248"/>
          </a:xfrm>
          <a:prstGeom prst="roundRect">
            <a:avLst>
              <a:gd name="adj" fmla="val 5000"/>
            </a:avLst>
          </a:prstGeom>
          <a:solidFill>
            <a:srgbClr val="1B3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5422392"/>
            <a:ext cx="2011680" cy="841248"/>
          </a:xfrm>
          <a:prstGeom prst="rect">
            <a:avLst/>
          </a:prstGeom>
          <a:noFill/>
        </p:spPr>
        <p:txBody>
          <a:bodyPr wrap="square" lIns="0" rIns="0" tIns="0" bIns="0" anchor="ctr">
            <a:spAutoFit/>
          </a:bodyPr>
          <a:lstStyle/>
          <a:p>
            <a:pPr algn="l">
              <a:spcBef>
                <a:spcPts val="0"/>
              </a:spcBef>
              <a:spcAft>
                <a:spcPts val="0"/>
              </a:spcAft>
            </a:pPr>
            <a:r>
              <a:rPr sz="1500" b="1" i="0">
                <a:solidFill>
                  <a:srgbClr val="7FD6CB"/>
                </a:solidFill>
                <a:latin typeface="Calibri"/>
              </a:rPr>
              <a:t>Bước tiếp</a:t>
            </a:r>
          </a:p>
        </p:txBody>
      </p:sp>
      <p:sp>
        <p:nvSpPr>
          <p:cNvPr id="18" name="TextBox 17"/>
          <p:cNvSpPr txBox="1"/>
          <p:nvPr/>
        </p:nvSpPr>
        <p:spPr>
          <a:xfrm>
            <a:off x="2834640" y="5422392"/>
            <a:ext cx="8686800" cy="841248"/>
          </a:xfrm>
          <a:prstGeom prst="rect">
            <a:avLst/>
          </a:prstGeom>
          <a:noFill/>
        </p:spPr>
        <p:txBody>
          <a:bodyPr wrap="square" lIns="0" rIns="0" tIns="0" bIns="0" anchor="ctr">
            <a:spAutoFit/>
          </a:bodyPr>
          <a:lstStyle/>
          <a:p>
            <a:pPr algn="l">
              <a:spcBef>
                <a:spcPts val="0"/>
              </a:spcBef>
              <a:spcAft>
                <a:spcPts val="0"/>
              </a:spcAft>
            </a:pPr>
            <a:r>
              <a:rPr sz="1250" b="0" i="0">
                <a:solidFill>
                  <a:srgbClr val="FFFFFF"/>
                </a:solidFill>
                <a:latin typeface="Calibri"/>
              </a:rPr>
              <a:t>Chạy CIFAR-10/100-C, Tiny-ImageNet-C, PACS; vẽ platt_a, platt_b theo corruption; sweep N và k; ghi nhận kết quả thật vào bảng so sánh.</a:t>
            </a:r>
          </a:p>
        </p:txBody>
      </p:sp>
      <p:sp>
        <p:nvSpPr>
          <p:cNvPr id="19" name="TextBox 18"/>
          <p:cNvSpPr txBox="1"/>
          <p:nvPr/>
        </p:nvSpPr>
        <p:spPr>
          <a:xfrm>
            <a:off x="10698480" y="6473952"/>
            <a:ext cx="960120" cy="228600"/>
          </a:xfrm>
          <a:prstGeom prst="rect">
            <a:avLst/>
          </a:prstGeom>
          <a:noFill/>
        </p:spPr>
        <p:txBody>
          <a:bodyPr wrap="square" lIns="0" rIns="0" tIns="0" bIns="0" anchor="t">
            <a:spAutoFit/>
          </a:bodyPr>
          <a:lstStyle/>
          <a:p>
            <a:pPr algn="r">
              <a:spcBef>
                <a:spcPts val="0"/>
              </a:spcBef>
              <a:spcAft>
                <a:spcPts val="0"/>
              </a:spcAft>
            </a:pPr>
            <a:r>
              <a:rPr sz="1000" b="0" i="0">
                <a:solidFill>
                  <a:srgbClr val="8FA6BA"/>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